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61" r:id="rId4"/>
    <p:sldId id="260" r:id="rId5"/>
    <p:sldId id="275" r:id="rId6"/>
    <p:sldId id="314" r:id="rId7"/>
    <p:sldId id="293" r:id="rId8"/>
    <p:sldId id="259" r:id="rId9"/>
    <p:sldId id="257" r:id="rId10"/>
    <p:sldId id="263" r:id="rId11"/>
    <p:sldId id="264" r:id="rId12"/>
    <p:sldId id="276" r:id="rId13"/>
    <p:sldId id="277" r:id="rId14"/>
    <p:sldId id="278" r:id="rId15"/>
    <p:sldId id="302" r:id="rId16"/>
    <p:sldId id="279" r:id="rId17"/>
    <p:sldId id="280" r:id="rId18"/>
    <p:sldId id="284" r:id="rId19"/>
    <p:sldId id="281" r:id="rId20"/>
    <p:sldId id="282" r:id="rId21"/>
    <p:sldId id="283" r:id="rId22"/>
    <p:sldId id="285" r:id="rId23"/>
    <p:sldId id="286" r:id="rId24"/>
    <p:sldId id="287" r:id="rId25"/>
    <p:sldId id="288" r:id="rId26"/>
    <p:sldId id="305" r:id="rId27"/>
    <p:sldId id="307" r:id="rId28"/>
    <p:sldId id="303" r:id="rId29"/>
    <p:sldId id="304" r:id="rId30"/>
    <p:sldId id="310" r:id="rId31"/>
    <p:sldId id="311" r:id="rId32"/>
    <p:sldId id="312" r:id="rId33"/>
    <p:sldId id="313" r:id="rId34"/>
    <p:sldId id="294" r:id="rId35"/>
    <p:sldId id="291" r:id="rId36"/>
    <p:sldId id="292" r:id="rId37"/>
    <p:sldId id="295" r:id="rId38"/>
    <p:sldId id="296" r:id="rId39"/>
    <p:sldId id="297" r:id="rId40"/>
    <p:sldId id="298" r:id="rId41"/>
    <p:sldId id="300" r:id="rId42"/>
    <p:sldId id="30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4032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emeh Valeh" initials="FV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2310" y="-1062"/>
      </p:cViewPr>
      <p:guideLst>
        <p:guide orient="horz" pos="4032"/>
        <p:guide pos="27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DF0DC-91D8-4222-AE52-369B037CA9FC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5CC9F-5599-491A-AC12-424F685504EB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9C9-5022-41F7-A434-FA295AD02A8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38B5-AEAC-4013-822C-7770F367BA7B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D141-5C89-4740-BD4B-C47A5E1D8B68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0A7A-AF07-48B5-B78A-41C9DF5F6ABF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CC52B-5BE7-4E72-BF85-3916A32E8A4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9689-22E3-4BAC-97E3-592B1BA01EB9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69F49-BB33-4C50-974E-EF289B42F1C9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BB362-0448-4871-BAC2-46F7F2FD2F38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102F0-C2A0-4491-AA9A-92A9F70FA99E}" type="datetime1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FD0B-D8F7-49EB-88C4-FA10EC6D1384}" type="datetime1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34C59-9CF6-4E56-800C-E400B0B14EA8}" type="datetime1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719D1-6296-4AB8-BC85-CC683806783B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ECDC1-4EE9-44B1-AAF5-4CC98EA9C872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4E08B-4250-4D57-BDA9-F0F1C989F810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7054-AF25-408B-97E2-9D99BB9D427E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84CEF-EFF6-47C1-BCEC-B6C9F1BECBEF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.me/micro_spring2023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26.pn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12" Type="http://schemas.openxmlformats.org/officeDocument/2006/relationships/image" Target="../media/image41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5" Type="http://schemas.openxmlformats.org/officeDocument/2006/relationships/image" Target="../media/image34.jpg"/><Relationship Id="rId10" Type="http://schemas.openxmlformats.org/officeDocument/2006/relationships/image" Target="../media/image39.jpg"/><Relationship Id="rId4" Type="http://schemas.openxmlformats.org/officeDocument/2006/relationships/image" Target="../media/image33.jpg"/><Relationship Id="rId9" Type="http://schemas.openxmlformats.org/officeDocument/2006/relationships/image" Target="../media/image38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</a:t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dirty="0" smtClean="0"/>
              <a:t>Course </a:t>
            </a:r>
            <a:r>
              <a:rPr lang="en-US" dirty="0" smtClean="0"/>
              <a:t>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cs typeface="B Titr" panose="00000700000000000000" pitchFamily="2" charset="-78"/>
              </a:rPr>
              <a:t>Final Exam: </a:t>
            </a:r>
            <a:r>
              <a:rPr lang="en-US" sz="2200" dirty="0" smtClean="0">
                <a:cs typeface="B Titr" panose="00000700000000000000" pitchFamily="2" charset="-78"/>
              </a:rPr>
              <a:t>40%</a:t>
            </a:r>
            <a:endParaRPr lang="en-US" sz="2200" dirty="0">
              <a:cs typeface="B Titr" panose="00000700000000000000" pitchFamily="2" charset="-78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cs typeface="B Titr" panose="00000700000000000000" pitchFamily="2" charset="-78"/>
              </a:rPr>
              <a:t>Midterm </a:t>
            </a:r>
            <a:r>
              <a:rPr lang="en-US" sz="2200" dirty="0" smtClean="0">
                <a:cs typeface="B Titr" panose="00000700000000000000" pitchFamily="2" charset="-78"/>
              </a:rPr>
              <a:t>Exam </a:t>
            </a:r>
            <a:r>
              <a:rPr lang="en-US" sz="2200" dirty="0">
                <a:cs typeface="B Titr" panose="00000700000000000000" pitchFamily="2" charset="-78"/>
              </a:rPr>
              <a:t>: </a:t>
            </a:r>
            <a:r>
              <a:rPr lang="en-US" sz="2200" dirty="0" smtClean="0">
                <a:cs typeface="B Titr" panose="00000700000000000000" pitchFamily="2" charset="-78"/>
              </a:rPr>
              <a:t>30%		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cs typeface="B Titr" panose="00000700000000000000" pitchFamily="2" charset="-78"/>
              </a:rPr>
              <a:t>Homework: 10%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cs typeface="B Titr" panose="00000700000000000000" pitchFamily="2" charset="-78"/>
              </a:rPr>
              <a:t>Project: 10%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cs typeface="B Titr" panose="00000700000000000000" pitchFamily="2" charset="-78"/>
              </a:rPr>
              <a:t>Quizzes: 10%</a:t>
            </a:r>
          </a:p>
          <a:p>
            <a:pPr lvl="0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SzPts val="2800"/>
            </a:pPr>
            <a:r>
              <a:rPr lang="en-US" sz="22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AND</a:t>
            </a:r>
            <a:endParaRPr lang="en-US" sz="2200" dirty="0"/>
          </a:p>
          <a:p>
            <a:pPr marL="342900" lvl="0" indent="-3429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Lab</a:t>
            </a:r>
          </a:p>
          <a:p>
            <a:pPr lvl="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04" y="871280"/>
            <a:ext cx="7501907" cy="530568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dirty="0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Microprocessors and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Microcontrollers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endParaRPr lang="en-US" sz="2000" dirty="0" smtClean="0"/>
          </a:p>
          <a:p>
            <a:pPr marL="12573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they 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</a:t>
            </a:r>
            <a:endParaRPr lang="en-US" sz="2200" dirty="0"/>
          </a:p>
          <a:p>
            <a:pPr indent="914400"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endParaRPr lang="en-US" sz="2200" dirty="0"/>
          </a:p>
          <a:p>
            <a:pPr marL="12573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work </a:t>
            </a:r>
            <a:r>
              <a:rPr lang="en-US" sz="22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them</a:t>
            </a:r>
            <a:endParaRPr lang="en-US" sz="2200" dirty="0"/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endParaRPr lang="en-US" sz="2000" dirty="0" smtClean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400" dirty="0" smtClean="0"/>
              <a:t>Telegram </a:t>
            </a:r>
            <a:r>
              <a:rPr lang="en-US" sz="2400" dirty="0"/>
              <a:t>channel</a:t>
            </a:r>
            <a:r>
              <a:rPr lang="en-US" sz="2400" dirty="0" smtClean="0"/>
              <a:t>: </a:t>
            </a:r>
            <a:r>
              <a:rPr lang="en-US" sz="2400" dirty="0" smtClean="0">
                <a:hlinkClick r:id="rId2"/>
              </a:rPr>
              <a:t>t.me/micro_fall2024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635" y="720986"/>
            <a:ext cx="7714411" cy="54559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835"/>
            <a:ext cx="10457873" cy="4351338"/>
          </a:xfrm>
        </p:spPr>
        <p:txBody>
          <a:bodyPr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Main</a:t>
            </a:r>
            <a:endParaRPr lang="en-US" sz="24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Arm Assembly Language Programming and Architecture</a:t>
            </a: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 Volume 1, 1</a:t>
            </a:r>
            <a:r>
              <a:rPr lang="en-US" sz="2200" b="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edition, Muhammad Ali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Mazidi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Sarmad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Naimi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and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Sepehr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Naimi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MicroDigitalEd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2013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Atmel | SMART ARM-based MCU DATASHEET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SAM3X / SAM3A Series, Atmel-11057C-ATARM-SAM3X-SAM3A-Datasheet_23-Mar-15</a:t>
            </a:r>
            <a:endParaRPr lang="en-US" sz="22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ARMv7-M Architecture Reference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Manual</a:t>
            </a:r>
            <a:endParaRPr lang="en-US" sz="22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Complementary material</a:t>
            </a:r>
            <a:endParaRPr lang="en-US" sz="24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ARM Assembly Language: Fundamentals and Techniques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2</a:t>
            </a:r>
            <a:r>
              <a:rPr lang="en-US" sz="2200" b="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nd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Ed., William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Hohl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Christopher Hinds, CRC Press, 2014.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Modern Assembly Language Programming with the ARM Processor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Larry D. </a:t>
            </a:r>
            <a:r>
              <a:rPr lang="en-US" sz="2200" b="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Pyeatt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Elsevier, 2016.</a:t>
            </a:r>
            <a:endParaRPr lang="en-US" sz="2200" dirty="0"/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Embedded </a:t>
            </a:r>
            <a:r>
              <a:rPr lang="en-US" sz="220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Systems:Introduction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to ARM®CORTEX-M Microcontrollers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Vol. 1, 5</a:t>
            </a:r>
            <a:r>
              <a:rPr lang="en-US" sz="2200" b="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Ed., Jonathan W. Valvano, 2014. </a:t>
            </a:r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3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Copyright Notice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863799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200" b="1" dirty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Parts (text &amp; figures) of this lecture are adopted from:</a:t>
            </a:r>
            <a:endParaRPr lang="en-US" sz="2200" b="1" dirty="0">
              <a:cs typeface="Calibri" panose="020F050202020403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 smtClean="0">
              <a:solidFill>
                <a:srgbClr val="000000"/>
              </a:solidFill>
              <a:ea typeface="Calibri"/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Arm Assembly Language Programming and Architecture, Volume 1, 1</a:t>
            </a:r>
            <a:r>
              <a:rPr lang="en-US" sz="2200" b="1" baseline="30000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st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edition, Muhammad Ali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Mazidi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Sarmad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Naimi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and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Sepehr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Naimi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en-US" sz="2200" b="1" dirty="0" err="1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MicroDigitalEd</a:t>
            </a: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 panose="020F0502020204030204" pitchFamily="34" charset="0"/>
                <a:sym typeface="Calibri"/>
              </a:rPr>
              <a:t>, 2013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Design of Microprocessor-Based Systems (AKA </a:t>
            </a:r>
            <a:r>
              <a:rPr lang="en-US" sz="2200" b="1" dirty="0" err="1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Embeded</a:t>
            </a:r>
            <a:r>
              <a:rPr lang="en-US" sz="22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 Systems Design and Implementation), Prabal Dutta, University of Michigan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Cortex</a:t>
            </a:r>
            <a:r>
              <a:rPr lang="fa-IR" sz="2200" b="1" dirty="0">
                <a:cs typeface="Calibri" panose="020F0502020204030204" pitchFamily="34" charset="0"/>
              </a:rPr>
              <a:t>™</a:t>
            </a:r>
            <a:r>
              <a:rPr lang="en-US" sz="22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-M3 Revision r2p1 Technical Reference Manual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000000"/>
              </a:solidFill>
              <a:cs typeface="Calibri" panose="020F0502020204030204" pitchFamily="34" charset="0"/>
              <a:sym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/>
              </a:rPr>
              <a:t>ARMv7-M Architecture Reference Manual</a:t>
            </a:r>
            <a:endParaRPr lang="en-US" sz="2200" b="1" dirty="0"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8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9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Mechanical Computers (</a:t>
            </a:r>
            <a:r>
              <a:rPr lang="en-US" sz="2400" dirty="0">
                <a:sym typeface="Calibri"/>
              </a:rPr>
              <a:t>19th century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endParaRPr lang="en-US" sz="2000" dirty="0" smtClean="0"/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endParaRPr lang="en-US" sz="2000" dirty="0" smtClean="0"/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Electro-Mechanical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 </a:t>
            </a:r>
            <a:r>
              <a:rPr lang="en-US" sz="2400" dirty="0">
                <a:sym typeface="Calibri"/>
              </a:rPr>
              <a:t>(1936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endParaRPr lang="en-US" sz="24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endParaRPr lang="en-US" sz="24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5080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Electronic Computers (</a:t>
            </a:r>
            <a:r>
              <a:rPr lang="en-US" sz="2400" dirty="0">
                <a:sym typeface="Calibri"/>
              </a:rPr>
              <a:t>1941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76" y="275440"/>
            <a:ext cx="8493760" cy="60071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Mechanical Computers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Abacus </a:t>
            </a:r>
            <a:endParaRPr lang="en-US" dirty="0"/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Mechanical calculators</a:t>
            </a:r>
            <a:endParaRPr lang="en-US" dirty="0"/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Pascal’s calculator (1642)</a:t>
            </a:r>
            <a:endParaRPr lang="en-US" dirty="0"/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Curta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(1930s)</a:t>
            </a:r>
            <a:endParaRPr lang="en-US" dirty="0"/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Punched-card data processing</a:t>
            </a:r>
            <a:b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(1725, 1800s, 1900s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dirty="0"/>
          </a:p>
        </p:txBody>
      </p:sp>
      <p:pic>
        <p:nvPicPr>
          <p:cNvPr id="18" name="Google Shape;165;p7" descr="Picture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65710" y="1479202"/>
            <a:ext cx="2955776" cy="178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66;p7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2369" y="3583766"/>
            <a:ext cx="1914526" cy="239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67;p7" descr="Pictur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9954" y="1887512"/>
            <a:ext cx="2223846" cy="138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68;p7" descr="Pictur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32759" y="3818623"/>
            <a:ext cx="1418235" cy="19210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alibri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Mechanical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</a:t>
            </a:r>
          </a:p>
          <a:p>
            <a:pPr marL="4572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Calibri"/>
              <a:buAutoNum type="arabicPeriod"/>
            </a:pP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Difference engine: Charles Babbage (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1791-1871)</a:t>
            </a:r>
          </a:p>
          <a:p>
            <a:pPr marL="1371600" lvl="2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ym typeface="Calibri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First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general-purpose computing device</a:t>
            </a:r>
            <a:endParaRPr lang="en-US" sz="2200" dirty="0"/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2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Analytical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engine</a:t>
            </a:r>
            <a:endParaRPr lang="en-US" sz="2200" dirty="0"/>
          </a:p>
        </p:txBody>
      </p:sp>
      <p:pic>
        <p:nvPicPr>
          <p:cNvPr id="7" name="Google Shape;179;p8" descr="Picture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05185" y="2655333"/>
            <a:ext cx="2602714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0;p8" descr="Picture 4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1" b="99222" l="4688" r="99125">
                        <a14:foregroundMark x1="27750" y1="556" x2="27750" y2="556"/>
                        <a14:foregroundMark x1="32563" y1="21111" x2="32563" y2="21111"/>
                        <a14:foregroundMark x1="33938" y1="17000" x2="33938" y2="17000"/>
                        <a14:foregroundMark x1="14688" y1="48444" x2="14688" y2="48444"/>
                        <a14:foregroundMark x1="15438" y1="44333" x2="15438" y2="44333"/>
                        <a14:foregroundMark x1="14125" y1="53556" x2="14125" y2="53556"/>
                        <a14:foregroundMark x1="14125" y1="53556" x2="15063" y2="60444"/>
                        <a14:foregroundMark x1="17563" y1="56000" x2="18938" y2="40222"/>
                        <a14:foregroundMark x1="18938" y1="40222" x2="18938" y2="40222"/>
                        <a14:foregroundMark x1="23313" y1="38889" x2="23313" y2="38889"/>
                        <a14:foregroundMark x1="20438" y1="37556" x2="27375" y2="19111"/>
                        <a14:foregroundMark x1="4688" y1="92556" x2="24313" y2="30000"/>
                        <a14:foregroundMark x1="14313" y1="94667" x2="74500" y2="87111"/>
                        <a14:foregroundMark x1="95875" y1="99444" x2="90500" y2="67667"/>
                        <a14:foregroundMark x1="32563" y1="5333" x2="36438" y2="222"/>
                        <a14:foregroundMark x1="27000" y1="75889" x2="95688" y2="74444"/>
                        <a14:foregroundMark x1="99125" y1="57667" x2="79688" y2="14667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099606" y="3916218"/>
            <a:ext cx="3992787" cy="24720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alibri"/>
              <a:buAutoNum type="arabicPeriod" startAt="2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Electro-Mechanical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Switches,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relays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Early 1900s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 err="1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Zuse’s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Z2, Z3, Z4 </a:t>
            </a:r>
            <a:endParaRPr lang="en-US" sz="22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	(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world's first commercial digital computer,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mechanical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memory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2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SzPts val="2400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457200" lvl="0" indent="-3048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SzPts val="2400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0" b="89544" l="6667" r="99667">
                        <a14:foregroundMark x1="6667" y1="61126" x2="8167" y2="57641"/>
                        <a14:foregroundMark x1="85667" y1="75067" x2="88667" y2="57373"/>
                        <a14:foregroundMark x1="94000" y1="36997" x2="99667" y2="412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702" y="1349594"/>
            <a:ext cx="5991950" cy="372499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AutoNum type="arabicPeriod" startAt="3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Electronic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AutoNum type="arabicPeriod" startAt="3"/>
            </a:pP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</a:t>
            </a:r>
            <a:r>
              <a:rPr lang="en-US" sz="2200" baseline="300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generation</a:t>
            </a:r>
            <a:endParaRPr lang="en-US" sz="2200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vacuum tubes (1945-1955)</a:t>
            </a:r>
            <a:endParaRPr lang="en-US" sz="2200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ENIAC, 1946</a:t>
            </a:r>
            <a:endParaRPr lang="en-US" sz="2200" dirty="0"/>
          </a:p>
        </p:txBody>
      </p:sp>
      <p:pic>
        <p:nvPicPr>
          <p:cNvPr id="13" name="Google Shape;200;p10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29622" y="2465987"/>
            <a:ext cx="5011264" cy="260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01;p10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9483" y="3968372"/>
            <a:ext cx="3247225" cy="22085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31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AutoNum type="arabicPeriod" startAt="3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Electronic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AutoNum type="arabicPeriod" startAt="3"/>
            </a:pP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2</a:t>
            </a:r>
            <a:r>
              <a:rPr lang="en-US" sz="220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nd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generation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BJT transistors (1955-1965)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CDC 6600 (1964-1969)</a:t>
            </a:r>
            <a:endParaRPr lang="en-US" sz="2200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world's fastest computer from 1964 to 1969</a:t>
            </a:r>
            <a:endParaRPr lang="en-US" sz="2200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$2,370,000</a:t>
            </a:r>
            <a:endParaRPr lang="en-US" sz="2200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30kW, 6tons</a:t>
            </a:r>
            <a:endParaRPr lang="en-US" sz="2200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10MHz, 2 MIPS</a:t>
            </a:r>
            <a:endParaRPr lang="en-US" sz="2200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Up to 982 kilobytes </a:t>
            </a:r>
            <a:endParaRPr lang="en-US" sz="2200" dirty="0"/>
          </a:p>
        </p:txBody>
      </p:sp>
      <p:pic>
        <p:nvPicPr>
          <p:cNvPr id="13" name="Google Shape;211;p11" descr="Pictur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2020" y="4061780"/>
            <a:ext cx="500063" cy="11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280" y="1415780"/>
            <a:ext cx="5394520" cy="20461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64" r="6315"/>
          <a:stretch/>
        </p:blipFill>
        <p:spPr>
          <a:xfrm>
            <a:off x="5959280" y="4136227"/>
            <a:ext cx="3423200" cy="21906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5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457200" lvl="0" indent="-406400">
              <a:lnSpc>
                <a:spcPct val="110000"/>
              </a:lnSpc>
              <a:buClr>
                <a:srgbClr val="000000"/>
              </a:buClr>
              <a:buSzPct val="100000"/>
              <a:buFont typeface="Calibri"/>
              <a:buAutoNum type="arabicPeriod" startAt="3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Electronic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Computers</a:t>
            </a:r>
          </a:p>
          <a:p>
            <a:pPr marL="457200" lvl="0" indent="-406400">
              <a:lnSpc>
                <a:spcPct val="110000"/>
              </a:lnSpc>
              <a:buClr>
                <a:srgbClr val="000000"/>
              </a:buClr>
              <a:buSzPts val="2800"/>
              <a:buFont typeface="Calibri"/>
              <a:buAutoNum type="arabicPeriod" startAt="3"/>
            </a:pPr>
            <a:endParaRPr lang="en-US" sz="2200" dirty="0"/>
          </a:p>
          <a:p>
            <a:pPr marL="800100" lvl="1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3</a:t>
            </a:r>
            <a:r>
              <a:rPr lang="en-US" sz="220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rd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generation</a:t>
            </a:r>
            <a:endParaRPr lang="en-US" sz="2200" dirty="0"/>
          </a:p>
          <a:p>
            <a:pPr marL="1257300" lvl="2" indent="-342900">
              <a:lnSpc>
                <a:spcPct val="110000"/>
              </a:lnSpc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integrated circuits (1965-1974)</a:t>
            </a:r>
            <a:endParaRPr lang="en-US" sz="2200" dirty="0"/>
          </a:p>
          <a:p>
            <a:pPr marL="1257300" lvl="2" indent="-342900">
              <a:lnSpc>
                <a:spcPct val="110000"/>
              </a:lnSpc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Intel 4004 (1971)</a:t>
            </a:r>
            <a:endParaRPr lang="en-US" sz="2200" dirty="0"/>
          </a:p>
          <a:p>
            <a:pPr marL="1714500" lvl="3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The first commercially available microprocessor</a:t>
            </a:r>
            <a:endParaRPr lang="en-US" sz="2200" dirty="0"/>
          </a:p>
          <a:p>
            <a:pPr marL="1714500" lvl="3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10 µm process </a:t>
            </a:r>
            <a:endParaRPr lang="en-US" sz="2200" dirty="0"/>
          </a:p>
          <a:p>
            <a:pPr marL="1714500" lvl="3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92,000 instructions per second</a:t>
            </a:r>
            <a:endParaRPr lang="en-US" sz="2200" dirty="0"/>
          </a:p>
          <a:p>
            <a:pPr marL="1714500" lvl="3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 MHz clock rate </a:t>
            </a:r>
            <a:endParaRPr lang="en-US" sz="2200" dirty="0" smtClean="0">
              <a:solidFill>
                <a:srgbClr val="FF0000"/>
              </a:solidFill>
              <a:sym typeface="Calibri"/>
            </a:endParaRPr>
          </a:p>
          <a:p>
            <a:pPr marL="139700" lvl="0"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en-US" sz="2400" dirty="0">
                <a:sym typeface="Calibri"/>
              </a:rPr>
              <a:t>Major improvement of today's computers →  better ICs.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93" b="92925" l="9239" r="89995">
                        <a14:foregroundMark x1="9290" y1="60175" x2="9393" y2="55215"/>
                        <a14:foregroundMark x1="17662" y1="75565" x2="17662" y2="60977"/>
                        <a14:foregroundMark x1="17458" y1="76222" x2="16896" y2="67907"/>
                        <a14:foregroundMark x1="24349" y1="73012" x2="24553" y2="62509"/>
                        <a14:foregroundMark x1="43492" y1="92925" x2="35579" y2="908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953" y="3277482"/>
            <a:ext cx="3842566" cy="26892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288" y="1820028"/>
            <a:ext cx="3756218" cy="207179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7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pic>
        <p:nvPicPr>
          <p:cNvPr id="16" name="Google Shape;234;p13" descr="Picture 3"/>
          <p:cNvPicPr preferRelativeResize="0"/>
          <p:nvPr/>
        </p:nvPicPr>
        <p:blipFill rotWithShape="1">
          <a:blip r:embed="rId2">
            <a:alphaModFix/>
          </a:blip>
          <a:srcRect l="11991" t="10238" r="13732" b="11396"/>
          <a:stretch/>
        </p:blipFill>
        <p:spPr>
          <a:xfrm>
            <a:off x="9038965" y="4117680"/>
            <a:ext cx="2057400" cy="2160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35;p13" descr="Picture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49" y="1529646"/>
            <a:ext cx="2095501" cy="19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lvl="0" indent="-406400">
              <a:lnSpc>
                <a:spcPct val="110000"/>
              </a:lnSpc>
              <a:buClr>
                <a:srgbClr val="000000"/>
              </a:buClr>
              <a:buSzPct val="100000"/>
              <a:buFont typeface="Calibri"/>
              <a:buAutoNum type="arabicPeriod" startAt="3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Electronic Computers</a:t>
            </a:r>
          </a:p>
          <a:p>
            <a:pPr marL="457200" lvl="0" indent="-406400">
              <a:lnSpc>
                <a:spcPct val="110000"/>
              </a:lnSpc>
              <a:buClr>
                <a:srgbClr val="000000"/>
              </a:buClr>
              <a:buSzPts val="2800"/>
              <a:buFont typeface="Calibri"/>
              <a:buAutoNum type="arabicPeriod" startAt="3"/>
            </a:pPr>
            <a:endParaRPr lang="en-US" sz="2200" dirty="0" smtClean="0"/>
          </a:p>
          <a:p>
            <a:pPr marL="800100" lvl="1" indent="-342900">
              <a:lnSpc>
                <a:spcPct val="11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4</a:t>
            </a:r>
            <a:r>
              <a:rPr lang="en-US" sz="2200" baseline="300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generation</a:t>
            </a:r>
          </a:p>
          <a:p>
            <a:pPr marL="1257300" lvl="2" indent="-342900"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1974-1989</a:t>
            </a:r>
          </a:p>
          <a:p>
            <a:pPr marL="1257300" lvl="2" indent="-342900"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800100" lvl="1" indent="-342900"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5</a:t>
            </a:r>
            <a:r>
              <a:rPr lang="en-US" sz="2200" baseline="30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generation: ULSI </a:t>
            </a:r>
            <a:endParaRPr lang="en-US" sz="2200" dirty="0"/>
          </a:p>
          <a:p>
            <a:pPr marL="1257300" lvl="2" indent="-342900"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1990-present</a:t>
            </a:r>
            <a:endParaRPr lang="en-US" sz="2200" dirty="0"/>
          </a:p>
          <a:p>
            <a:pPr marL="1257300" lvl="2" indent="-342900">
              <a:lnSpc>
                <a:spcPct val="110000"/>
              </a:lnSpc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4"/>
          <a:stretch/>
        </p:blipFill>
        <p:spPr>
          <a:xfrm>
            <a:off x="7768221" y="1478551"/>
            <a:ext cx="3873310" cy="203576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667" b="90000" l="10000" r="91167">
                        <a14:foregroundMark x1="14833" y1="15000" x2="40667" y2="11000"/>
                        <a14:foregroundMark x1="18667" y1="8833" x2="37833" y2="10167"/>
                        <a14:foregroundMark x1="60500" y1="20167" x2="30667" y2="20667"/>
                        <a14:foregroundMark x1="91000" y1="14667" x2="91167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499" y="3505988"/>
            <a:ext cx="3384222" cy="3384222"/>
          </a:xfrm>
          <a:prstGeom prst="rect">
            <a:avLst/>
          </a:prstGeom>
        </p:spPr>
      </p:pic>
      <p:pic>
        <p:nvPicPr>
          <p:cNvPr id="21" name="Google Shape;233;p13" descr="Picture 2"/>
          <p:cNvPicPr preferRelativeResize="0"/>
          <p:nvPr/>
        </p:nvPicPr>
        <p:blipFill rotWithShape="1">
          <a:blip r:embed="rId7">
            <a:alphaModFix/>
          </a:blip>
          <a:srcRect l="6274" t="4791" r="5131" b="5421"/>
          <a:stretch/>
        </p:blipFill>
        <p:spPr>
          <a:xfrm>
            <a:off x="3751990" y="4388585"/>
            <a:ext cx="1856509" cy="184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4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50800" lvl="0">
              <a:lnSpc>
                <a:spcPct val="150000"/>
              </a:lnSpc>
              <a:buClr>
                <a:srgbClr val="000000"/>
              </a:buClr>
              <a:buSzPts val="2800"/>
            </a:pPr>
            <a:r>
              <a:rPr lang="en-US" dirty="0">
                <a:sym typeface="Calibri"/>
              </a:rPr>
              <a:t>A brief recap of the computer history</a:t>
            </a:r>
          </a:p>
        </p:txBody>
      </p:sp>
      <p:graphicFrame>
        <p:nvGraphicFramePr>
          <p:cNvPr id="12" name="Google Shape;245;p14"/>
          <p:cNvGraphicFramePr/>
          <p:nvPr>
            <p:extLst>
              <p:ext uri="{D42A27DB-BD31-4B8C-83A1-F6EECF244321}">
                <p14:modId xmlns:p14="http://schemas.microsoft.com/office/powerpoint/2010/main" val="1023826714"/>
              </p:ext>
            </p:extLst>
          </p:nvPr>
        </p:nvGraphicFramePr>
        <p:xfrm>
          <a:off x="1351943" y="2001918"/>
          <a:ext cx="9488114" cy="4075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366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125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388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Year</a:t>
                      </a:r>
                      <a:endParaRPr sz="22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Technology Used in Computers</a:t>
                      </a:r>
                      <a:endParaRPr sz="2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5725" marR="45725" marT="45725" marB="45725" anchor="ctr"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Relative Performance per unit cost</a:t>
                      </a:r>
                      <a:endParaRPr sz="2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~1950</a:t>
                      </a:r>
                      <a:endParaRPr sz="2200"/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Vacuum tube</a:t>
                      </a:r>
                      <a:endParaRPr sz="2200" dirty="0"/>
                    </a:p>
                  </a:txBody>
                  <a:tcPr marL="45725" marR="457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1</a:t>
                      </a:r>
                      <a:endParaRPr sz="2200"/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1960s</a:t>
                      </a:r>
                      <a:endParaRPr sz="2200"/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Transistor</a:t>
                      </a:r>
                      <a:endParaRPr sz="2200"/>
                    </a:p>
                  </a:txBody>
                  <a:tcPr marL="45725" marR="457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35</a:t>
                      </a:r>
                      <a:endParaRPr sz="2200"/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1975</a:t>
                      </a:r>
                      <a:endParaRPr sz="2200"/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Integrated circuit</a:t>
                      </a:r>
                      <a:endParaRPr sz="2200" dirty="0"/>
                    </a:p>
                  </a:txBody>
                  <a:tcPr marL="45725" marR="457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900</a:t>
                      </a:r>
                      <a:endParaRPr sz="2200" dirty="0"/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1995</a:t>
                      </a:r>
                      <a:endParaRPr sz="2200"/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Very large scale integrated circuit</a:t>
                      </a:r>
                      <a:endParaRPr sz="2200" dirty="0"/>
                    </a:p>
                  </a:txBody>
                  <a:tcPr marL="45725" marR="45725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2,400,000</a:t>
                      </a:r>
                      <a:endParaRPr sz="2200" dirty="0"/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62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/>
                        <a:t>2005</a:t>
                      </a:r>
                      <a:endParaRPr sz="2200"/>
                    </a:p>
                  </a:txBody>
                  <a:tcPr marL="45725" marR="45725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Ultra large scale integrated circuit</a:t>
                      </a:r>
                      <a:endParaRPr sz="2200" dirty="0"/>
                    </a:p>
                  </a:txBody>
                  <a:tcPr marL="45725" marR="45725" marT="45725" marB="45725" anchor="ctr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200" b="1" u="none" strike="noStrike" cap="none" dirty="0"/>
                        <a:t>6,200,000,000</a:t>
                      </a:r>
                      <a:endParaRPr sz="2200" dirty="0"/>
                    </a:p>
                  </a:txBody>
                  <a:tcPr marL="45725" marR="45725" marT="45725" marB="45725" anchor="ctr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8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3934691" cy="3623830"/>
          </a:xfrm>
        </p:spPr>
        <p:txBody>
          <a:bodyPr/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What happened from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1970?</a:t>
            </a:r>
            <a:endParaRPr lang="en-US" sz="2400" dirty="0" smtClean="0">
              <a:sym typeface="Calibri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endParaRPr lang="en-US" sz="24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Transistor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count doubles every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24-month</a:t>
            </a:r>
            <a:endParaRPr lang="en-US" sz="2200" dirty="0"/>
          </a:p>
        </p:txBody>
      </p:sp>
      <p:pic>
        <p:nvPicPr>
          <p:cNvPr id="5" name="Google Shape;256;p15" descr="Picture 3"/>
          <p:cNvPicPr preferRelativeResize="0"/>
          <p:nvPr/>
        </p:nvPicPr>
        <p:blipFill rotWithShape="1">
          <a:blip r:embed="rId2">
            <a:alphaModFix/>
          </a:blip>
          <a:srcRect t="12765"/>
          <a:stretch/>
        </p:blipFill>
        <p:spPr>
          <a:xfrm>
            <a:off x="4772891" y="1399880"/>
            <a:ext cx="7139710" cy="47145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8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4691" y="1364722"/>
            <a:ext cx="9055331" cy="4479540"/>
          </a:xfrm>
        </p:spPr>
        <p:txBody>
          <a:bodyPr/>
          <a:lstStyle/>
          <a:p>
            <a:r>
              <a:rPr lang="en-US" dirty="0"/>
              <a:t>Instruction </a:t>
            </a:r>
            <a:r>
              <a:rPr lang="en-US" dirty="0" smtClean="0"/>
              <a:t>Set Architecture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(ISA)</a:t>
            </a:r>
          </a:p>
        </p:txBody>
      </p:sp>
    </p:spTree>
    <p:extLst>
      <p:ext uri="{BB962C8B-B14F-4D97-AF65-F5344CB8AC3E}">
        <p14:creationId xmlns:p14="http://schemas.microsoft.com/office/powerpoint/2010/main" val="204323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Instruction Set Architecture (ISA)</a:t>
            </a:r>
            <a:endParaRPr lang="en-US" b="0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556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 set of instructions used by a machine to run programs</a:t>
            </a:r>
            <a:endParaRPr lang="en-US" sz="2200" dirty="0"/>
          </a:p>
          <a:p>
            <a:pPr marL="3556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Interface between hardware &amp; software</a:t>
            </a:r>
            <a:endParaRPr lang="en-US" sz="2200" dirty="0"/>
          </a:p>
          <a:p>
            <a:pPr marL="3556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Computer language vocabulary</a:t>
            </a:r>
            <a:endParaRPr lang="en-US" sz="2200" dirty="0"/>
          </a:p>
          <a:p>
            <a:pPr marL="3556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Provides an abstraction of </a:t>
            </a: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hardware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implementation</a:t>
            </a:r>
            <a:endParaRPr lang="en-US" sz="2200" dirty="0"/>
          </a:p>
          <a:p>
            <a:pPr marL="8128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Hardware 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implementation </a:t>
            </a:r>
            <a:b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</a:b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	decides 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what and </a:t>
            </a: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how</a:t>
            </a:r>
          </a:p>
          <a:p>
            <a:pPr marL="469900"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200"/>
            </a:pP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	</a:t>
            </a: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instructions 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are implemented</a:t>
            </a:r>
            <a:endParaRPr lang="en-US" sz="2200" b="0" dirty="0"/>
          </a:p>
          <a:p>
            <a:pPr marL="3556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6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ISA specifies</a:t>
            </a:r>
            <a:endParaRPr lang="en-US" sz="2200" dirty="0"/>
          </a:p>
          <a:p>
            <a:pPr marL="8128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200"/>
              <a:buFont typeface="Wingdings" panose="05000000000000000000" pitchFamily="2" charset="2"/>
              <a:buChar char="§"/>
            </a:pP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Instructions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, Registers, </a:t>
            </a:r>
            <a:endParaRPr lang="en-US" sz="2200" b="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469900"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200"/>
            </a:pP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	Memory </a:t>
            </a:r>
            <a:r>
              <a:rPr lang="en-US" sz="2200" b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access, </a:t>
            </a:r>
            <a:r>
              <a:rPr lang="en-US" sz="2200" b="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Input/output</a:t>
            </a:r>
            <a:endParaRPr lang="en-US" sz="2200" b="0" dirty="0"/>
          </a:p>
        </p:txBody>
      </p:sp>
      <p:grpSp>
        <p:nvGrpSpPr>
          <p:cNvPr id="9" name="Google Shape;274;p17"/>
          <p:cNvGrpSpPr/>
          <p:nvPr/>
        </p:nvGrpSpPr>
        <p:grpSpPr>
          <a:xfrm>
            <a:off x="8326738" y="1816249"/>
            <a:ext cx="3191010" cy="457200"/>
            <a:chOff x="-1" y="0"/>
            <a:chExt cx="2941628" cy="457200"/>
          </a:xfrm>
        </p:grpSpPr>
        <p:sp>
          <p:nvSpPr>
            <p:cNvPr id="10" name="Google Shape;275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1" name="Google Shape;276;p17"/>
            <p:cNvSpPr txBox="1"/>
            <p:nvPr/>
          </p:nvSpPr>
          <p:spPr>
            <a:xfrm>
              <a:off x="766875" y="58509"/>
              <a:ext cx="1407876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Applications</a:t>
              </a:r>
              <a:endParaRPr dirty="0"/>
            </a:p>
          </p:txBody>
        </p:sp>
      </p:grpSp>
      <p:grpSp>
        <p:nvGrpSpPr>
          <p:cNvPr id="12" name="Google Shape;277;p17"/>
          <p:cNvGrpSpPr/>
          <p:nvPr/>
        </p:nvGrpSpPr>
        <p:grpSpPr>
          <a:xfrm>
            <a:off x="8326738" y="2273449"/>
            <a:ext cx="3191010" cy="457200"/>
            <a:chOff x="-1" y="0"/>
            <a:chExt cx="2941628" cy="457200"/>
          </a:xfrm>
        </p:grpSpPr>
        <p:sp>
          <p:nvSpPr>
            <p:cNvPr id="13" name="Google Shape;278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4" name="Google Shape;279;p17"/>
            <p:cNvSpPr txBox="1"/>
            <p:nvPr/>
          </p:nvSpPr>
          <p:spPr>
            <a:xfrm>
              <a:off x="891209" y="58509"/>
              <a:ext cx="1159208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Compilers</a:t>
              </a:r>
              <a:endParaRPr/>
            </a:p>
          </p:txBody>
        </p:sp>
      </p:grpSp>
      <p:grpSp>
        <p:nvGrpSpPr>
          <p:cNvPr id="15" name="Google Shape;280;p17"/>
          <p:cNvGrpSpPr/>
          <p:nvPr/>
        </p:nvGrpSpPr>
        <p:grpSpPr>
          <a:xfrm>
            <a:off x="8326738" y="2719761"/>
            <a:ext cx="3191010" cy="391889"/>
            <a:chOff x="-1" y="-1"/>
            <a:chExt cx="2941628" cy="391888"/>
          </a:xfrm>
        </p:grpSpPr>
        <p:sp>
          <p:nvSpPr>
            <p:cNvPr id="22" name="Google Shape;281;p17"/>
            <p:cNvSpPr/>
            <p:nvPr/>
          </p:nvSpPr>
          <p:spPr>
            <a:xfrm>
              <a:off x="-1" y="-1"/>
              <a:ext cx="2941628" cy="391888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3" name="Google Shape;282;p17"/>
            <p:cNvSpPr txBox="1"/>
            <p:nvPr/>
          </p:nvSpPr>
          <p:spPr>
            <a:xfrm>
              <a:off x="488071" y="25852"/>
              <a:ext cx="1965484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Operating System</a:t>
              </a:r>
              <a:endParaRPr/>
            </a:p>
          </p:txBody>
        </p:sp>
      </p:grpSp>
      <p:grpSp>
        <p:nvGrpSpPr>
          <p:cNvPr id="24" name="Google Shape;283;p17"/>
          <p:cNvGrpSpPr/>
          <p:nvPr/>
        </p:nvGrpSpPr>
        <p:grpSpPr>
          <a:xfrm>
            <a:off x="8326737" y="3111649"/>
            <a:ext cx="3191009" cy="457200"/>
            <a:chOff x="-1" y="0"/>
            <a:chExt cx="2941628" cy="457200"/>
          </a:xfrm>
        </p:grpSpPr>
        <p:sp>
          <p:nvSpPr>
            <p:cNvPr id="25" name="Google Shape;284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E6B9B8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" name="Google Shape;285;p17"/>
            <p:cNvSpPr txBox="1"/>
            <p:nvPr/>
          </p:nvSpPr>
          <p:spPr>
            <a:xfrm>
              <a:off x="489435" y="58509"/>
              <a:ext cx="19629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(ISA)</a:t>
              </a:r>
              <a:endParaRPr/>
            </a:p>
          </p:txBody>
        </p:sp>
      </p:grpSp>
      <p:grpSp>
        <p:nvGrpSpPr>
          <p:cNvPr id="27" name="Google Shape;286;p17"/>
          <p:cNvGrpSpPr/>
          <p:nvPr/>
        </p:nvGrpSpPr>
        <p:grpSpPr>
          <a:xfrm>
            <a:off x="8326738" y="3568849"/>
            <a:ext cx="3191010" cy="457200"/>
            <a:chOff x="-1" y="0"/>
            <a:chExt cx="2941628" cy="457200"/>
          </a:xfrm>
        </p:grpSpPr>
        <p:sp>
          <p:nvSpPr>
            <p:cNvPr id="28" name="Google Shape;287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9" name="Google Shape;288;p17"/>
            <p:cNvSpPr txBox="1"/>
            <p:nvPr/>
          </p:nvSpPr>
          <p:spPr>
            <a:xfrm>
              <a:off x="473622" y="58509"/>
              <a:ext cx="1994382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Microarchitecture</a:t>
              </a:r>
              <a:endParaRPr/>
            </a:p>
          </p:txBody>
        </p:sp>
      </p:grpSp>
      <p:grpSp>
        <p:nvGrpSpPr>
          <p:cNvPr id="30" name="Google Shape;289;p17"/>
          <p:cNvGrpSpPr/>
          <p:nvPr/>
        </p:nvGrpSpPr>
        <p:grpSpPr>
          <a:xfrm>
            <a:off x="8326738" y="4026049"/>
            <a:ext cx="3191010" cy="457200"/>
            <a:chOff x="-1" y="0"/>
            <a:chExt cx="2941628" cy="457200"/>
          </a:xfrm>
        </p:grpSpPr>
        <p:sp>
          <p:nvSpPr>
            <p:cNvPr id="31" name="Google Shape;290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2" name="Google Shape;291;p17"/>
            <p:cNvSpPr txBox="1"/>
            <p:nvPr/>
          </p:nvSpPr>
          <p:spPr>
            <a:xfrm>
              <a:off x="696492" y="58509"/>
              <a:ext cx="1548642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Digital Design</a:t>
              </a:r>
              <a:endParaRPr dirty="0"/>
            </a:p>
          </p:txBody>
        </p:sp>
      </p:grpSp>
      <p:grpSp>
        <p:nvGrpSpPr>
          <p:cNvPr id="33" name="Google Shape;292;p17"/>
          <p:cNvGrpSpPr/>
          <p:nvPr/>
        </p:nvGrpSpPr>
        <p:grpSpPr>
          <a:xfrm>
            <a:off x="8326738" y="4483249"/>
            <a:ext cx="3191010" cy="457200"/>
            <a:chOff x="-1" y="0"/>
            <a:chExt cx="2941628" cy="457200"/>
          </a:xfrm>
        </p:grpSpPr>
        <p:sp>
          <p:nvSpPr>
            <p:cNvPr id="34" name="Google Shape;293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5" name="Google Shape;294;p17"/>
            <p:cNvSpPr txBox="1"/>
            <p:nvPr/>
          </p:nvSpPr>
          <p:spPr>
            <a:xfrm>
              <a:off x="1080469" y="58509"/>
              <a:ext cx="780688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Circuit</a:t>
              </a:r>
              <a:endParaRPr/>
            </a:p>
          </p:txBody>
        </p:sp>
      </p:grpSp>
      <p:grpSp>
        <p:nvGrpSpPr>
          <p:cNvPr id="36" name="Google Shape;295;p17"/>
          <p:cNvGrpSpPr/>
          <p:nvPr/>
        </p:nvGrpSpPr>
        <p:grpSpPr>
          <a:xfrm>
            <a:off x="8326738" y="4940449"/>
            <a:ext cx="3191010" cy="457200"/>
            <a:chOff x="-1" y="0"/>
            <a:chExt cx="2941628" cy="457200"/>
          </a:xfrm>
        </p:grpSpPr>
        <p:sp>
          <p:nvSpPr>
            <p:cNvPr id="37" name="Google Shape;296;p17"/>
            <p:cNvSpPr/>
            <p:nvPr/>
          </p:nvSpPr>
          <p:spPr>
            <a:xfrm>
              <a:off x="-1" y="0"/>
              <a:ext cx="2941628" cy="457200"/>
            </a:xfrm>
            <a:prstGeom prst="rect">
              <a:avLst/>
            </a:prstGeom>
            <a:solidFill>
              <a:srgbClr val="DCE6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omic Sans MS"/>
                <a:buNone/>
              </a:pPr>
              <a:endParaRPr sz="3200" b="0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" name="Google Shape;297;p17"/>
            <p:cNvSpPr txBox="1"/>
            <p:nvPr/>
          </p:nvSpPr>
          <p:spPr>
            <a:xfrm>
              <a:off x="1067012" y="58509"/>
              <a:ext cx="807602" cy="3401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Device</a:t>
              </a:r>
              <a:endParaRPr/>
            </a:p>
          </p:txBody>
        </p:sp>
      </p:grpSp>
      <p:pic>
        <p:nvPicPr>
          <p:cNvPr id="39" name="Google Shape;298;p17" descr="Audio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11164" y="5245249"/>
            <a:ext cx="45719" cy="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299;p17"/>
          <p:cNvSpPr txBox="1"/>
          <p:nvPr/>
        </p:nvSpPr>
        <p:spPr>
          <a:xfrm>
            <a:off x="7884468" y="5491539"/>
            <a:ext cx="4075546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ym typeface="Times New Roman"/>
              </a:rPr>
              <a:t>Layers of abstraction in the computer </a:t>
            </a:r>
            <a:r>
              <a:rPr lang="en-US" sz="2200" b="1" dirty="0" smtClean="0">
                <a:sym typeface="Times New Roman"/>
              </a:rPr>
              <a:t>architecture</a:t>
            </a:r>
            <a:endParaRPr sz="2200" b="1" dirty="0">
              <a:sym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68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Instruction Set Architecture (ISA)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How many instructions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are needed?</a:t>
            </a:r>
            <a:endParaRPr lang="en-US" sz="2400" dirty="0" smtClean="0"/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What functionalities are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required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?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Load/store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Control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Arithmetic/logic</a:t>
            </a:r>
            <a:endParaRPr 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9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Instruction Set Architecture (ISA)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74143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Key ISA decisions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Instruction length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Number, length, and types of registers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Where operands reside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How to access memory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Instruction format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Operand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format</a:t>
            </a:r>
            <a:r>
              <a:rPr lang="en-US" sz="2400" dirty="0" smtClean="0">
                <a:sym typeface="Calibri"/>
              </a:rPr>
              <a:t>: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How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many and how big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21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1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Instruction Set Architecture (ISA)</a:t>
            </a:r>
            <a:endParaRPr lang="en-US" dirty="0"/>
          </a:p>
        </p:txBody>
      </p:sp>
      <p:sp>
        <p:nvSpPr>
          <p:cNvPr id="16" name="Google Shape;325;p20"/>
          <p:cNvSpPr txBox="1"/>
          <p:nvPr/>
        </p:nvSpPr>
        <p:spPr>
          <a:xfrm>
            <a:off x="838200" y="1435248"/>
            <a:ext cx="818418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Instruction length</a:t>
            </a:r>
            <a:endParaRPr sz="2400" dirty="0"/>
          </a:p>
        </p:txBody>
      </p:sp>
      <p:sp>
        <p:nvSpPr>
          <p:cNvPr id="17" name="Google Shape;326;p20"/>
          <p:cNvSpPr txBox="1"/>
          <p:nvPr/>
        </p:nvSpPr>
        <p:spPr>
          <a:xfrm>
            <a:off x="1813243" y="2121048"/>
            <a:ext cx="1244601" cy="38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</p:txBody>
      </p:sp>
      <p:sp>
        <p:nvSpPr>
          <p:cNvPr id="18" name="Google Shape;327;p20"/>
          <p:cNvSpPr/>
          <p:nvPr/>
        </p:nvSpPr>
        <p:spPr>
          <a:xfrm>
            <a:off x="3226119" y="4880123"/>
            <a:ext cx="3263901" cy="292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28;p20"/>
          <p:cNvSpPr/>
          <p:nvPr/>
        </p:nvSpPr>
        <p:spPr>
          <a:xfrm>
            <a:off x="3230881" y="2216298"/>
            <a:ext cx="1435100" cy="292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29;p20"/>
          <p:cNvSpPr/>
          <p:nvPr/>
        </p:nvSpPr>
        <p:spPr>
          <a:xfrm>
            <a:off x="3245169" y="2770334"/>
            <a:ext cx="3111501" cy="292101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30;p20"/>
          <p:cNvSpPr/>
          <p:nvPr/>
        </p:nvSpPr>
        <p:spPr>
          <a:xfrm>
            <a:off x="3245169" y="3313259"/>
            <a:ext cx="4940301" cy="292101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31;p20"/>
          <p:cNvSpPr txBox="1"/>
          <p:nvPr/>
        </p:nvSpPr>
        <p:spPr>
          <a:xfrm>
            <a:off x="3203575" y="3625998"/>
            <a:ext cx="5947431" cy="83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x86 – Instructions vary from 1 to 17 Bytes long</a:t>
            </a:r>
            <a:endParaRPr sz="3200" b="0" i="0" u="none" strike="noStrike" cap="none">
              <a:solidFill>
                <a:srgbClr val="0000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VAX – from 1 to 54 Bytes</a:t>
            </a:r>
            <a:endParaRPr/>
          </a:p>
        </p:txBody>
      </p:sp>
      <p:sp>
        <p:nvSpPr>
          <p:cNvPr id="23" name="Google Shape;332;p20"/>
          <p:cNvSpPr txBox="1"/>
          <p:nvPr/>
        </p:nvSpPr>
        <p:spPr>
          <a:xfrm>
            <a:off x="3197226" y="5357960"/>
            <a:ext cx="3919350" cy="83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MIPS, PowerPC, ARM: </a:t>
            </a:r>
            <a:endParaRPr sz="3200" b="0" i="0" u="none" strike="noStrike" cap="none">
              <a:solidFill>
                <a:srgbClr val="0000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instruction are 4 Bytes long</a:t>
            </a:r>
            <a:endParaRPr/>
          </a:p>
        </p:txBody>
      </p:sp>
      <p:sp>
        <p:nvSpPr>
          <p:cNvPr id="24" name="Google Shape;333;p20"/>
          <p:cNvSpPr txBox="1"/>
          <p:nvPr/>
        </p:nvSpPr>
        <p:spPr>
          <a:xfrm>
            <a:off x="1864043" y="4788048"/>
            <a:ext cx="1092201" cy="38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pic>
        <p:nvPicPr>
          <p:cNvPr id="25" name="Google Shape;334;p20" descr="Audio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17281" y="6388248"/>
            <a:ext cx="1" cy="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22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3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Instruction length</a:t>
            </a:r>
            <a:endParaRPr lang="en-US" b="0" dirty="0"/>
          </a:p>
        </p:txBody>
      </p:sp>
      <p:graphicFrame>
        <p:nvGraphicFramePr>
          <p:cNvPr id="41" name="Google Shape;344;g1499a1ab3d8_0_9"/>
          <p:cNvGraphicFramePr/>
          <p:nvPr>
            <p:extLst>
              <p:ext uri="{D42A27DB-BD31-4B8C-83A1-F6EECF244321}">
                <p14:modId xmlns:p14="http://schemas.microsoft.com/office/powerpoint/2010/main" val="2220674755"/>
              </p:ext>
            </p:extLst>
          </p:nvPr>
        </p:nvGraphicFramePr>
        <p:xfrm>
          <a:off x="927026" y="1847272"/>
          <a:ext cx="10337948" cy="41286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689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689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3216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Variable-length </a:t>
                      </a:r>
                      <a:r>
                        <a:rPr lang="en-US" sz="2500" b="1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instructions</a:t>
                      </a:r>
                      <a:endParaRPr sz="1100" b="1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Fixed-length </a:t>
                      </a:r>
                      <a:r>
                        <a:rPr lang="en-US" sz="2500" b="1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instructions</a:t>
                      </a:r>
                      <a:endParaRPr sz="25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321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 multi-step fetch and </a:t>
                      </a:r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decode</a:t>
                      </a:r>
                      <a:endParaRPr sz="20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easy fetch and </a:t>
                      </a:r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decode</a:t>
                      </a:r>
                      <a:endParaRPr sz="20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32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for a more flexible and compact instruction </a:t>
                      </a:r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sz="20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Simplify pipelining and </a:t>
                      </a:r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parallelism</a:t>
                      </a:r>
                      <a:endParaRPr sz="20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32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 processors like x86 &amp; VAX</a:t>
                      </a:r>
                      <a:endParaRPr sz="20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016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Instruction Set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Computing</a:t>
                      </a:r>
                      <a:endParaRPr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RISC processors like MIPS &amp; PowerPC</a:t>
                      </a:r>
                      <a:endParaRPr sz="20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016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Instruction Set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Computing</a:t>
                      </a:r>
                      <a:endParaRPr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23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4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RISC vs. CISC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Early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Trend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Adding more instructions to next generation CPUs to do more complicated operations</a:t>
            </a: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VAX arch had an instruction to multiply polynomials!</a:t>
            </a:r>
            <a:endParaRPr lang="en-US" sz="2200" dirty="0"/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CISC Philosophy 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Limited main memory + immature compilers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More dense instructions, highly encoded, variable length instructions</a:t>
            </a: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Data loading as well as calculation </a:t>
            </a:r>
            <a:endParaRPr 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24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9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RISC vs. CISC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414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RISC Philosophy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Keep ISA small and simple 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Makes it easier to build faster hardware</a:t>
            </a: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Let SW do complicated operations by composing simpler instructions</a:t>
            </a:r>
            <a:endParaRPr lang="en-US" sz="2200" dirty="0"/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Note on “Reduced" in RISC Phrase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Amount of work any single instruction accomplishes reduced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Single ALU operation, single memory access, …</a:t>
            </a:r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25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96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ISA: RISC vs. CISC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CISC Problems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Performance tuning challenging 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Complex/high-level instructions rarely used</a:t>
            </a:r>
            <a:endParaRPr lang="en-US" sz="20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Slower clock rates </a:t>
            </a: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Longer time-to-market 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Due to prolonged design time </a:t>
            </a:r>
            <a:endParaRPr lang="en-US" sz="2000" dirty="0"/>
          </a:p>
          <a:p>
            <a:pPr marL="927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CISC Features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Ease compiler implementation 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HW supports all kind of addressing modes 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26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7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RISC vs. CISC</a:t>
            </a:r>
            <a:endParaRPr lang="en-US" b="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7414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RISC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Features</a:t>
            </a:r>
            <a:endParaRPr lang="en-US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Low complexity</a:t>
            </a:r>
            <a:endParaRPr lang="en-US" sz="24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Less error-prone HW implementation</a:t>
            </a:r>
            <a:endParaRPr lang="en-US" sz="2200" dirty="0"/>
          </a:p>
          <a:p>
            <a:pPr marL="14097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Implementation advantages </a:t>
            </a:r>
            <a:endParaRPr lang="en-US" sz="24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Less transistors</a:t>
            </a:r>
            <a:endParaRPr lang="en-US" sz="22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Extra space: more registers, cache</a:t>
            </a:r>
            <a:endParaRPr lang="en-US" sz="2200" dirty="0"/>
          </a:p>
          <a:p>
            <a:pPr marL="14097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Marketing</a:t>
            </a:r>
            <a:endParaRPr lang="en-US" sz="2400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Reduced design time</a:t>
            </a:r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27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6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RISC vs. CISC</a:t>
            </a:r>
            <a:endParaRPr lang="en-US" b="0" dirty="0"/>
          </a:p>
        </p:txBody>
      </p:sp>
      <p:grpSp>
        <p:nvGrpSpPr>
          <p:cNvPr id="5" name="Group 4"/>
          <p:cNvGrpSpPr/>
          <p:nvPr/>
        </p:nvGrpSpPr>
        <p:grpSpPr>
          <a:xfrm>
            <a:off x="3102989" y="2013251"/>
            <a:ext cx="5986021" cy="3600986"/>
            <a:chOff x="3102989" y="2230966"/>
            <a:chExt cx="5986021" cy="3600986"/>
          </a:xfrm>
        </p:grpSpPr>
        <p:sp>
          <p:nvSpPr>
            <p:cNvPr id="7" name="Rectangle 6"/>
            <p:cNvSpPr/>
            <p:nvPr/>
          </p:nvSpPr>
          <p:spPr>
            <a:xfrm>
              <a:off x="3102989" y="2230966"/>
              <a:ext cx="5986021" cy="360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r>
                <a:rPr lang="en-US" sz="2800" b="1" dirty="0">
                  <a:solidFill>
                    <a:srgbClr val="000000"/>
                  </a:solidFill>
                  <a:ea typeface="Calibri"/>
                  <a:cs typeface="Calibri"/>
                  <a:sym typeface="Calibri"/>
                </a:rPr>
                <a:t>RISC vs. CISC</a:t>
              </a:r>
              <a:endParaRPr lang="en-US" sz="2800" dirty="0"/>
            </a:p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endPara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endParaRPr lang="en-US" sz="2400" b="1" dirty="0" smtClea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endPara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endPara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  <a:p>
              <a:pPr lvl="0" algn="ctr">
                <a:lnSpc>
                  <a:spcPct val="150000"/>
                </a:lnSpc>
                <a:buClr>
                  <a:srgbClr val="000000"/>
                </a:buClr>
                <a:buSzPts val="3600"/>
              </a:pPr>
              <a:r>
                <a:rPr lang="en-US" sz="2800" b="1" dirty="0">
                  <a:solidFill>
                    <a:srgbClr val="000000"/>
                  </a:solidFill>
                  <a:ea typeface="Calibri"/>
                  <a:cs typeface="Calibri"/>
                  <a:sym typeface="Calibri"/>
                </a:rPr>
                <a:t>Hangul vs. Hiragana </a:t>
              </a:r>
              <a:endParaRPr lang="en-US" sz="2800" dirty="0"/>
            </a:p>
          </p:txBody>
        </p:sp>
        <p:sp>
          <p:nvSpPr>
            <p:cNvPr id="8" name="Google Shape;389;p26"/>
            <p:cNvSpPr/>
            <p:nvPr/>
          </p:nvSpPr>
          <p:spPr>
            <a:xfrm>
              <a:off x="5562599" y="3062826"/>
              <a:ext cx="1066800" cy="1752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6574"/>
                  </a:moveTo>
                  <a:lnTo>
                    <a:pt x="10800" y="0"/>
                  </a:lnTo>
                  <a:lnTo>
                    <a:pt x="21600" y="6574"/>
                  </a:lnTo>
                  <a:lnTo>
                    <a:pt x="16200" y="6574"/>
                  </a:lnTo>
                  <a:lnTo>
                    <a:pt x="16200" y="15026"/>
                  </a:lnTo>
                  <a:lnTo>
                    <a:pt x="21600" y="15026"/>
                  </a:lnTo>
                  <a:lnTo>
                    <a:pt x="10800" y="21600"/>
                  </a:lnTo>
                  <a:lnTo>
                    <a:pt x="0" y="15026"/>
                  </a:lnTo>
                  <a:lnTo>
                    <a:pt x="5400" y="15026"/>
                  </a:lnTo>
                  <a:lnTo>
                    <a:pt x="5400" y="6574"/>
                  </a:lnTo>
                  <a:close/>
                </a:path>
              </a:pathLst>
            </a:custGeom>
            <a:noFill/>
            <a:ln w="25400" cap="flat" cmpd="sng">
              <a:solidFill>
                <a:srgbClr val="3A5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28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34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How many registers?</a:t>
            </a:r>
            <a:endParaRPr lang="en-US" b="0" dirty="0"/>
          </a:p>
        </p:txBody>
      </p:sp>
      <p:sp>
        <p:nvSpPr>
          <p:cNvPr id="8" name="Google Shape;398;p27"/>
          <p:cNvSpPr txBox="1"/>
          <p:nvPr/>
        </p:nvSpPr>
        <p:spPr>
          <a:xfrm>
            <a:off x="838200" y="1690688"/>
            <a:ext cx="8184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 of a small number of registers</a:t>
            </a:r>
            <a:endParaRPr sz="2400" dirty="0"/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fewer bits to specify which one</a:t>
            </a:r>
            <a:endParaRPr sz="2400" dirty="0"/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</a:t>
            </a:r>
            <a:r>
              <a:rPr lang="en-US" sz="2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cs typeface="B Titr" panose="00000700000000000000" pitchFamily="2" charset="-78"/>
              </a:rPr>
              <a:t>Faster access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cs typeface="B Titr" panose="00000700000000000000" pitchFamily="2" charset="-78"/>
              </a:rPr>
              <a:t>Shorter wires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cs typeface="B Titr" panose="00000700000000000000" pitchFamily="2" charset="-78"/>
              </a:rPr>
              <a:t>Faster index decoding (fewer logic levels)</a:t>
            </a: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 switch (your OS course!)</a:t>
            </a:r>
            <a:endParaRPr sz="2400" dirty="0"/>
          </a:p>
          <a:p>
            <a:pPr marL="12573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all registers need saving</a:t>
            </a:r>
            <a:endParaRPr sz="2400" dirty="0"/>
          </a:p>
        </p:txBody>
      </p:sp>
      <p:sp>
        <p:nvSpPr>
          <p:cNvPr id="9" name="Google Shape;400;p27"/>
          <p:cNvSpPr/>
          <p:nvPr/>
        </p:nvSpPr>
        <p:spPr>
          <a:xfrm>
            <a:off x="7515598" y="3962592"/>
            <a:ext cx="271200" cy="1164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401;p27"/>
          <p:cNvSpPr/>
          <p:nvPr/>
        </p:nvSpPr>
        <p:spPr>
          <a:xfrm>
            <a:off x="7794425" y="4471718"/>
            <a:ext cx="199477" cy="1460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402;p27"/>
          <p:cNvSpPr txBox="1"/>
          <p:nvPr/>
        </p:nvSpPr>
        <p:spPr>
          <a:xfrm>
            <a:off x="7722702" y="4175425"/>
            <a:ext cx="31155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ym typeface="Calibri"/>
              </a:rPr>
              <a:t>       Faster access    </a:t>
            </a:r>
            <a:endParaRPr sz="2400" b="1" dirty="0">
              <a:sym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29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4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ISA: How many registers?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Advantages of a larger number of registers</a:t>
            </a:r>
            <a:endParaRPr lang="en-US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Fewer loads and stores needed</a:t>
            </a:r>
            <a:endParaRPr lang="en-US" dirty="0"/>
          </a:p>
          <a:p>
            <a:pPr marL="1257300" lvl="2" indent="-3302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ea typeface="Calibri"/>
                <a:cs typeface="Calibri"/>
                <a:sym typeface="Calibri"/>
              </a:rPr>
              <a:t>Due to </a:t>
            </a: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Less data transfer between CPU &amp; memory</a:t>
            </a:r>
            <a:endParaRPr lang="en-US" sz="12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Easier to do several operations at once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30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9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Where do operands reside?</a:t>
            </a:r>
            <a:endParaRPr lang="en-US" b="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7414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Stack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Machine</a:t>
            </a:r>
          </a:p>
          <a:p>
            <a:pPr marL="914400" lvl="1" indent="-387350">
              <a:lnSpc>
                <a:spcPct val="150000"/>
              </a:lnSpc>
              <a:spcBef>
                <a:spcPts val="0"/>
              </a:spcBef>
              <a:buSzPts val="2500"/>
              <a:buFont typeface="Calibri"/>
              <a:buChar char="•"/>
            </a:pPr>
            <a:r>
              <a:rPr lang="en-US" sz="2500" dirty="0">
                <a:sym typeface="Calibri"/>
              </a:rPr>
              <a:t>Generally outdated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dirty="0" smtClean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Accumulator</a:t>
            </a:r>
            <a:r>
              <a:rPr lang="en-US" sz="28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Machine</a:t>
            </a:r>
            <a:endParaRPr lang="en-US" sz="2800" dirty="0" smtClean="0"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dirty="0" smtClean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Register-Memory</a:t>
            </a:r>
            <a:r>
              <a:rPr lang="en-US" sz="28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Machine</a:t>
            </a:r>
            <a:endParaRPr lang="en-US" sz="2800" dirty="0">
              <a:ea typeface="Calibri"/>
              <a:cs typeface="Calibri"/>
              <a:sym typeface="Calibri"/>
            </a:endParaRPr>
          </a:p>
          <a:p>
            <a:pPr marL="914400" lvl="1" indent="-381000">
              <a:lnSpc>
                <a:spcPct val="150000"/>
              </a:lnSpc>
              <a:spcBef>
                <a:spcPts val="0"/>
              </a:spcBef>
              <a:buSzPts val="2400"/>
              <a:buFont typeface="Calibri"/>
              <a:buChar char="•"/>
            </a:pPr>
            <a:r>
              <a:rPr lang="en-US" sz="2400" dirty="0">
                <a:sym typeface="Calibri"/>
              </a:rPr>
              <a:t>Nowadays, computers are mainly from this category(Intel x86, Intel x64)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Load-Store</a:t>
            </a: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Machine  </a:t>
            </a:r>
            <a:endParaRPr lang="en-US" sz="1800" b="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aka Register-Register Machine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31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ISA: </a:t>
            </a:r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Where do operands reside?</a:t>
            </a:r>
            <a:endParaRPr lang="en-US" b="0" dirty="0"/>
          </a:p>
        </p:txBody>
      </p:sp>
      <p:pic>
        <p:nvPicPr>
          <p:cNvPr id="23" name="Google Shape;445;p30" descr="Audio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82257" y="5151660"/>
            <a:ext cx="45719" cy="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428;p30"/>
          <p:cNvSpPr txBox="1"/>
          <p:nvPr/>
        </p:nvSpPr>
        <p:spPr>
          <a:xfrm>
            <a:off x="3365384" y="1690688"/>
            <a:ext cx="4276081" cy="442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Code sequence for  C = A + B</a:t>
            </a:r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355651"/>
              </p:ext>
            </p:extLst>
          </p:nvPr>
        </p:nvGraphicFramePr>
        <p:xfrm>
          <a:off x="8669062" y="2732138"/>
          <a:ext cx="2287047" cy="261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7047">
                  <a:extLst>
                    <a:ext uri="{9D8B030D-6E8A-4147-A177-3AD203B41FA5}">
                      <a16:colId xmlns="" xmlns:a16="http://schemas.microsoft.com/office/drawing/2014/main" val="4123898906"/>
                    </a:ext>
                  </a:extLst>
                </a:gridCol>
              </a:tblGrid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b="1" dirty="0" smtClean="0"/>
                        <a:t>  Load-Store</a:t>
                      </a:r>
                      <a:endParaRPr lang="fa-IR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613845074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1. Load R1, A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172393693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2. Load R2, B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843659288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3. Add R3, R1,</a:t>
                      </a:r>
                      <a:r>
                        <a:rPr lang="en-US" baseline="0" dirty="0" smtClean="0"/>
                        <a:t> R2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346937674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4. Store C, R3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5040855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393316"/>
              </p:ext>
            </p:extLst>
          </p:nvPr>
        </p:nvGraphicFramePr>
        <p:xfrm>
          <a:off x="3895276" y="2732138"/>
          <a:ext cx="2287047" cy="261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7047">
                  <a:extLst>
                    <a:ext uri="{9D8B030D-6E8A-4147-A177-3AD203B41FA5}">
                      <a16:colId xmlns="" xmlns:a16="http://schemas.microsoft.com/office/drawing/2014/main" val="3337507507"/>
                    </a:ext>
                  </a:extLst>
                </a:gridCol>
              </a:tblGrid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b="1" dirty="0" smtClean="0"/>
                        <a:t>Accumulator</a:t>
                      </a:r>
                      <a:endParaRPr lang="fa-IR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943611242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1. Load A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12539879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2. Add B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69583816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3. Store C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119232094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905947036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391941"/>
              </p:ext>
            </p:extLst>
          </p:nvPr>
        </p:nvGraphicFramePr>
        <p:xfrm>
          <a:off x="5961608" y="2732138"/>
          <a:ext cx="2287047" cy="261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7047">
                  <a:extLst>
                    <a:ext uri="{9D8B030D-6E8A-4147-A177-3AD203B41FA5}">
                      <a16:colId xmlns="" xmlns:a16="http://schemas.microsoft.com/office/drawing/2014/main" val="473658271"/>
                    </a:ext>
                  </a:extLst>
                </a:gridCol>
              </a:tblGrid>
              <a:tr h="522932">
                <a:tc>
                  <a:txBody>
                    <a:bodyPr/>
                    <a:lstStyle/>
                    <a:p>
                      <a:pPr algn="ctr" rtl="0"/>
                      <a:r>
                        <a:rPr lang="en-US" b="1" dirty="0" smtClean="0"/>
                        <a:t>Register-Memory</a:t>
                      </a:r>
                      <a:endParaRPr lang="fa-IR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63347062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ctr" rtl="0"/>
                      <a:r>
                        <a:rPr lang="en-US" dirty="0" smtClean="0"/>
                        <a:t>1.  Add</a:t>
                      </a:r>
                      <a:r>
                        <a:rPr lang="en-US" baseline="0" dirty="0" smtClean="0"/>
                        <a:t> C, A, B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011093642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ctr" rtl="0"/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788880537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ctr" rtl="0"/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359415165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ctr" rtl="0"/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624495305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808202"/>
              </p:ext>
            </p:extLst>
          </p:nvPr>
        </p:nvGraphicFramePr>
        <p:xfrm>
          <a:off x="1611198" y="2732138"/>
          <a:ext cx="1455637" cy="261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5637">
                  <a:extLst>
                    <a:ext uri="{9D8B030D-6E8A-4147-A177-3AD203B41FA5}">
                      <a16:colId xmlns="" xmlns:a16="http://schemas.microsoft.com/office/drawing/2014/main" val="473658271"/>
                    </a:ext>
                  </a:extLst>
                </a:gridCol>
              </a:tblGrid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b="1" dirty="0" smtClean="0"/>
                        <a:t>    Stack</a:t>
                      </a:r>
                      <a:endParaRPr lang="fa-IR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63347062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1.  Push A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011093642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2. Push B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788880537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3. Add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359415165"/>
                  </a:ext>
                </a:extLst>
              </a:tr>
              <a:tr h="522932">
                <a:tc>
                  <a:txBody>
                    <a:bodyPr/>
                    <a:lstStyle/>
                    <a:p>
                      <a:pPr algn="l" rtl="0"/>
                      <a:r>
                        <a:rPr lang="en-US" dirty="0" smtClean="0"/>
                        <a:t>4. Pop C</a:t>
                      </a:r>
                      <a:endParaRPr lang="fa-I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6244953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32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86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Harvard vs. Von Neumann</a:t>
            </a:r>
            <a:endParaRPr lang="en-US" b="0" dirty="0"/>
          </a:p>
        </p:txBody>
      </p:sp>
      <p:pic>
        <p:nvPicPr>
          <p:cNvPr id="6" name="Google Shape;453;p31" descr="Picture 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12098" y="1690688"/>
            <a:ext cx="8367803" cy="43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33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0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br>
              <a:rPr lang="en-US" dirty="0" smtClean="0"/>
            </a:br>
            <a:r>
              <a:rPr lang="en-US" dirty="0" smtClean="0"/>
              <a:t>Computer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Types of Computer Systems</a:t>
            </a:r>
            <a:endParaRPr lang="en-US" b="0" dirty="0"/>
          </a:p>
        </p:txBody>
      </p:sp>
      <p:sp>
        <p:nvSpPr>
          <p:cNvPr id="7" name="Google Shape;398;p27"/>
          <p:cNvSpPr txBox="1"/>
          <p:nvPr/>
        </p:nvSpPr>
        <p:spPr>
          <a:xfrm>
            <a:off x="838199" y="1837237"/>
            <a:ext cx="11021291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Desktops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General purpose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Market dominated by x86 processors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Various software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For use by individuals </a:t>
            </a:r>
            <a:endParaRPr lang="en-US" sz="1600" dirty="0"/>
          </a:p>
          <a:p>
            <a:pPr marL="342900" lvl="0" indent="-190500">
              <a:lnSpc>
                <a:spcPct val="80000"/>
              </a:lnSpc>
              <a:buClr>
                <a:srgbClr val="000000"/>
              </a:buClr>
              <a:buSzPts val="2400"/>
            </a:pPr>
            <a:endParaRPr lang="en-US" sz="2000" b="1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190500">
              <a:lnSpc>
                <a:spcPct val="80000"/>
              </a:lnSpc>
              <a:buClr>
                <a:srgbClr val="000000"/>
              </a:buClr>
              <a:buSzPts val="2400"/>
            </a:pPr>
            <a:endParaRPr lang="en-US" sz="2000" b="1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190500">
              <a:lnSpc>
                <a:spcPct val="80000"/>
              </a:lnSpc>
              <a:buClr>
                <a:srgbClr val="000000"/>
              </a:buClr>
              <a:buSzPts val="2400"/>
            </a:pPr>
            <a:endParaRPr lang="en-US" sz="2000" b="1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Servers and Warehouse-Scale Computers (WSCs)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Thousands of cores and disks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Market dominated by x86-compatible server chips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Dedicated apps, plus cloud hosting of virtual machines</a:t>
            </a:r>
            <a:endParaRPr lang="en-US" sz="16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Increasing use of GPUs, FPGAs, and custom hardware to accelerate workloads</a:t>
            </a:r>
            <a:endParaRPr lang="en-US" sz="1600" dirty="0"/>
          </a:p>
        </p:txBody>
      </p:sp>
      <p:pic>
        <p:nvPicPr>
          <p:cNvPr id="11" name="Google Shape;472;p33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5145" y="1690688"/>
            <a:ext cx="1866900" cy="162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73;p33" descr="Picture 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9782" y="3667126"/>
            <a:ext cx="3000376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35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11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Types of Computer Systems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7414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endParaRPr lang="en-US" sz="24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Mobile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(smartphone/tablet)</a:t>
            </a:r>
            <a:endParaRPr lang="en-US" sz="2400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&gt;1 billion sold/year</a:t>
            </a:r>
            <a:endParaRPr lang="en-US" sz="2000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Market dominated by </a:t>
            </a:r>
            <a:r>
              <a:rPr lang="en-US" sz="20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ARM</a:t>
            </a: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-ISA-compatible general-purpose processor in system-on-a-chip (</a:t>
            </a:r>
            <a:r>
              <a:rPr lang="en-US" sz="200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SoC</a:t>
            </a: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000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Plus sea of custom accelerators (radio, image, video, graphics, audio, motion, location, security, etc.)</a:t>
            </a:r>
            <a:endParaRPr lang="en-US" sz="2000" dirty="0"/>
          </a:p>
          <a:p>
            <a:pPr marL="952500" lvl="2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2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1" indent="-342900">
              <a:lnSpc>
                <a:spcPct val="80000"/>
              </a:lnSpc>
              <a:spcBef>
                <a:spcPts val="0"/>
              </a:spcBef>
              <a:buClr>
                <a:srgbClr val="C00000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Anything Else</a:t>
            </a:r>
            <a:r>
              <a:rPr lang="en-US" sz="2400" dirty="0" smtClean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?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400" y="3629601"/>
            <a:ext cx="4680272" cy="263265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36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9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latin typeface="Calibri"/>
                <a:cs typeface="Calibri"/>
                <a:sym typeface="Calibri"/>
              </a:rPr>
              <a:t>Types of Computer Systems</a:t>
            </a:r>
            <a:endParaRPr lang="en-US" dirty="0"/>
          </a:p>
        </p:txBody>
      </p:sp>
      <p:pic>
        <p:nvPicPr>
          <p:cNvPr id="7" name="Google Shape;493;p35" descr="Picture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61452" y="1310986"/>
            <a:ext cx="1981200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94;p35" descr="Picture 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1770" y="2893245"/>
            <a:ext cx="2060563" cy="136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95;p35" descr="Picture 4"/>
          <p:cNvPicPr preferRelativeResize="0"/>
          <p:nvPr/>
        </p:nvPicPr>
        <p:blipFill rotWithShape="1">
          <a:blip r:embed="rId4">
            <a:alphaModFix/>
          </a:blip>
          <a:srcRect b="9666"/>
          <a:stretch/>
        </p:blipFill>
        <p:spPr>
          <a:xfrm>
            <a:off x="7488858" y="1741098"/>
            <a:ext cx="1791594" cy="232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96;p35" descr="Picture 5"/>
          <p:cNvPicPr preferRelativeResize="0"/>
          <p:nvPr/>
        </p:nvPicPr>
        <p:blipFill rotWithShape="1">
          <a:blip r:embed="rId5">
            <a:alphaModFix/>
          </a:blip>
          <a:srcRect l="20113" r="3806"/>
          <a:stretch/>
        </p:blipFill>
        <p:spPr>
          <a:xfrm>
            <a:off x="4961310" y="2220762"/>
            <a:ext cx="2106692" cy="184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97;p35" descr="Picture 6"/>
          <p:cNvPicPr preferRelativeResize="0"/>
          <p:nvPr/>
        </p:nvPicPr>
        <p:blipFill rotWithShape="1">
          <a:blip r:embed="rId6">
            <a:alphaModFix/>
          </a:blip>
          <a:srcRect t="11375" b="24137"/>
          <a:stretch/>
        </p:blipFill>
        <p:spPr>
          <a:xfrm>
            <a:off x="9580625" y="4514272"/>
            <a:ext cx="2143125" cy="1382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98;p35" descr="Picture 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1505" y="4422982"/>
            <a:ext cx="1500989" cy="1785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99;p35" descr="Picture 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01960" y="4262049"/>
            <a:ext cx="1905001" cy="190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00;p35" descr="Picture 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5766" y="4569648"/>
            <a:ext cx="2220562" cy="1526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01;p35" descr="Picture 1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83691" y="4519611"/>
            <a:ext cx="1576388" cy="157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502;p35" descr="Picture 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071843" y="2866876"/>
            <a:ext cx="2606938" cy="146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04;p35" descr="Picture 15"/>
          <p:cNvPicPr preferRelativeResize="0"/>
          <p:nvPr/>
        </p:nvPicPr>
        <p:blipFill rotWithShape="1">
          <a:blip r:embed="rId12">
            <a:alphaModFix/>
          </a:blip>
          <a:srcRect l="14667" t="12000" r="10666" b="9855"/>
          <a:stretch/>
        </p:blipFill>
        <p:spPr>
          <a:xfrm>
            <a:off x="685130" y="2999842"/>
            <a:ext cx="1104184" cy="1155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05;p35" descr="Audio 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82000" y="6096000"/>
            <a:ext cx="1" cy="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7414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Embedded Systems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37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5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ym typeface="Calibri"/>
              </a:rPr>
              <a:t>Computer System </a:t>
            </a:r>
            <a:r>
              <a:rPr lang="en-US" dirty="0" smtClean="0">
                <a:ea typeface="Calibri"/>
                <a:cs typeface="Calibri"/>
                <a:sym typeface="Calibri"/>
              </a:rPr>
              <a:t>Design Criteria</a:t>
            </a:r>
            <a:endParaRPr lang="en-US" dirty="0"/>
          </a:p>
        </p:txBody>
      </p:sp>
      <p:pic>
        <p:nvPicPr>
          <p:cNvPr id="9" name="Google Shape;454;p31" descr="Audio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12633" y="6186489"/>
            <a:ext cx="1" cy="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912520"/>
              </p:ext>
            </p:extLst>
          </p:nvPr>
        </p:nvGraphicFramePr>
        <p:xfrm>
          <a:off x="1552863" y="1782233"/>
          <a:ext cx="9086274" cy="4110952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4543137">
                  <a:extLst>
                    <a:ext uri="{9D8B030D-6E8A-4147-A177-3AD203B41FA5}">
                      <a16:colId xmlns="" xmlns:a16="http://schemas.microsoft.com/office/drawing/2014/main" val="3641712292"/>
                    </a:ext>
                  </a:extLst>
                </a:gridCol>
                <a:gridCol w="4543137">
                  <a:extLst>
                    <a:ext uri="{9D8B030D-6E8A-4147-A177-3AD203B41FA5}">
                      <a16:colId xmlns="" xmlns:a16="http://schemas.microsoft.com/office/drawing/2014/main" val="188592628"/>
                    </a:ext>
                  </a:extLst>
                </a:gridCol>
              </a:tblGrid>
              <a:tr h="4110952">
                <a:tc>
                  <a:txBody>
                    <a:bodyPr/>
                    <a:lstStyle/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Implementation cost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Time to market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Maintainability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Debugging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Flexibility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Scalability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endParaRPr lang="en-US" sz="2400" b="1" dirty="0" smtClean="0">
                        <a:solidFill>
                          <a:srgbClr val="000000"/>
                        </a:solidFill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Power consumption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Energy consumption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Weight</a:t>
                      </a:r>
                      <a:endParaRPr lang="en-US" sz="2400" b="1" dirty="0" smtClean="0"/>
                    </a:p>
                    <a:p>
                      <a:pPr marL="342900" lvl="0" indent="-342900">
                        <a:buClr>
                          <a:srgbClr val="000000"/>
                        </a:buClr>
                        <a:buSzPts val="2400"/>
                        <a:buFont typeface="Wingdings" panose="05000000000000000000" pitchFamily="2" charset="2"/>
                        <a:buChar char="ü"/>
                      </a:pPr>
                      <a:r>
                        <a:rPr lang="en-US" sz="2400" b="1" dirty="0" smtClean="0">
                          <a:solidFill>
                            <a:srgbClr val="000000"/>
                          </a:solidFill>
                          <a:ea typeface="Calibri"/>
                          <a:cs typeface="Calibri"/>
                          <a:sym typeface="Calibri"/>
                        </a:rPr>
                        <a:t>Design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521606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38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2833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Options for Building Embedded Systems</a:t>
            </a:r>
            <a:endParaRPr lang="en-US" b="0" dirty="0"/>
          </a:p>
        </p:txBody>
      </p:sp>
      <p:sp>
        <p:nvSpPr>
          <p:cNvPr id="7" name="Google Shape;398;p27"/>
          <p:cNvSpPr txBox="1"/>
          <p:nvPr/>
        </p:nvSpPr>
        <p:spPr>
          <a:xfrm>
            <a:off x="838200" y="1836261"/>
            <a:ext cx="8184300" cy="435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Dedicated hardware</a:t>
            </a:r>
            <a:endParaRPr lang="en-US" sz="24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ASIC (Application-specific integrated circuit)</a:t>
            </a:r>
          </a:p>
          <a:p>
            <a:pPr marL="1371600" lvl="2" indent="-374650"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en-US" sz="2000" b="1" dirty="0">
                <a:sym typeface="Calibri"/>
              </a:rPr>
              <a:t>Hard to implement a dedicated hardware from scratch</a:t>
            </a:r>
          </a:p>
          <a:p>
            <a:pPr marL="1371600" lvl="2" indent="-374650">
              <a:buSzPts val="2300"/>
              <a:buFont typeface="Arial" panose="020B0604020202020204" pitchFamily="34" charset="0"/>
              <a:buChar char="•"/>
            </a:pPr>
            <a:r>
              <a:rPr lang="en-US" sz="2000" b="1" dirty="0">
                <a:sym typeface="Calibri"/>
              </a:rPr>
              <a:t>There is only a limited number of hardware producers</a:t>
            </a:r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Programmable 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logic (FPGA, PLD)</a:t>
            </a:r>
          </a:p>
          <a:p>
            <a:pPr marL="914400" lvl="0"/>
            <a:endParaRPr lang="en-US" sz="2400" b="1" dirty="0">
              <a:ea typeface="Calibri"/>
              <a:cs typeface="Calibri"/>
              <a:sym typeface="Calibri"/>
            </a:endParaRPr>
          </a:p>
          <a:p>
            <a:pPr marL="609600" lvl="1">
              <a:lnSpc>
                <a:spcPct val="80000"/>
              </a:lnSpc>
              <a:buClr>
                <a:srgbClr val="000000"/>
              </a:buClr>
              <a:buSzPts val="2400"/>
            </a:pPr>
            <a:r>
              <a:rPr lang="en-US" sz="2400" b="1" dirty="0">
                <a:sym typeface="Calibri"/>
              </a:rPr>
              <a:t>-&gt; Both methods are costly and complicated</a:t>
            </a:r>
          </a:p>
          <a:p>
            <a:pPr marL="609600" lvl="1">
              <a:lnSpc>
                <a:spcPct val="80000"/>
              </a:lnSpc>
              <a:buClr>
                <a:srgbClr val="000000"/>
              </a:buClr>
              <a:buSzPts val="2400"/>
            </a:pPr>
            <a:endParaRPr lang="en-US" sz="2400" b="1" dirty="0"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Software running on generic hardware</a:t>
            </a:r>
            <a:endParaRPr lang="en-US" sz="2400" dirty="0"/>
          </a:p>
          <a:p>
            <a:pPr marL="800100" lvl="1" indent="-342900"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Microprocessor + memory + peripherals</a:t>
            </a:r>
            <a:endParaRPr lang="en-US" sz="2200" dirty="0"/>
          </a:p>
          <a:p>
            <a:pPr marL="800100" lvl="1" indent="-342900">
              <a:buClr>
                <a:srgbClr val="C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Microcontroller</a:t>
            </a:r>
            <a:r>
              <a:rPr lang="en-US" sz="22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(internal memory &amp; peripherals)</a:t>
            </a:r>
            <a:endParaRPr lang="en-US" sz="22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857250" lvl="1" indent="-285750"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80000"/>
              </a:lnSpc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 combination of all options (Complex systems</a:t>
            </a:r>
            <a:r>
              <a:rPr lang="en-US" sz="2400" b="1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39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6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Microprocessor vs. Microcontroller </a:t>
            </a:r>
            <a:endParaRPr lang="en-US" b="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44673"/>
            <a:ext cx="10515600" cy="4334454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Microprocessor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An IC that has only CPUs inside it</a:t>
            </a:r>
            <a:endParaRPr lang="en-US" sz="22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No RAM, ROM, or other peripheral </a:t>
            </a: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952500" lvl="1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Microcontroller (MCU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)</a:t>
            </a:r>
            <a:endParaRPr lang="en-US" sz="2800" dirty="0"/>
          </a:p>
        </p:txBody>
      </p:sp>
      <p:pic>
        <p:nvPicPr>
          <p:cNvPr id="8" name="Google Shape;532;p38" descr="Picture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98260" y="1659365"/>
            <a:ext cx="5164384" cy="1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33;p38" descr="Picture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7127" y="4004251"/>
            <a:ext cx="35552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40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1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/>
                <a:ea typeface="Calibri"/>
                <a:cs typeface="Calibri"/>
                <a:sym typeface="Calibri"/>
              </a:rPr>
              <a:t>Microprocessor vs. Microcontroller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4097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Microprocessor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Microcontroller (MCU)</a:t>
            </a:r>
            <a:endParaRPr lang="fa-IR" sz="2400" dirty="0"/>
          </a:p>
        </p:txBody>
      </p:sp>
      <p:pic>
        <p:nvPicPr>
          <p:cNvPr id="22" name="Google Shape;543;p39" descr="Content Placeholder 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3206" y="1614339"/>
            <a:ext cx="6383776" cy="147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544;p39" descr="Content Placeholder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205" y="3959044"/>
            <a:ext cx="6383778" cy="2214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20" y="1311714"/>
            <a:ext cx="3129280" cy="221316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41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0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dirty="0" smtClean="0">
                <a:latin typeface="Calibri"/>
                <a:ea typeface="Calibri"/>
                <a:cs typeface="Calibri"/>
                <a:sym typeface="Calibri"/>
              </a:rPr>
              <a:t>Microprocessor vs. Microcontroller</a:t>
            </a:r>
            <a:endParaRPr lang="en-US" b="0" dirty="0"/>
          </a:p>
        </p:txBody>
      </p:sp>
      <p:pic>
        <p:nvPicPr>
          <p:cNvPr id="9" name="Google Shape;454;p31" descr="Audio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12633" y="6186489"/>
            <a:ext cx="1" cy="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553;p40"/>
          <p:cNvGraphicFramePr/>
          <p:nvPr>
            <p:extLst>
              <p:ext uri="{D42A27DB-BD31-4B8C-83A1-F6EECF244321}">
                <p14:modId xmlns:p14="http://schemas.microsoft.com/office/powerpoint/2010/main" val="3608308819"/>
              </p:ext>
            </p:extLst>
          </p:nvPr>
        </p:nvGraphicFramePr>
        <p:xfrm>
          <a:off x="1528618" y="1741409"/>
          <a:ext cx="9134764" cy="4445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73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73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Microprocessor</a:t>
                      </a:r>
                      <a:endParaRPr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5725" marR="457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Microcontroller</a:t>
                      </a:r>
                      <a:endParaRPr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5725" marR="457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2A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Heart of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computer</a:t>
                      </a:r>
                      <a:r>
                        <a:rPr lang="en-US" sz="1800" b="1" u="none" strike="noStrike" cap="none" dirty="0" smtClean="0"/>
                        <a:t> systems</a:t>
                      </a:r>
                      <a:endParaRPr lang="en-US" b="1" dirty="0"/>
                    </a:p>
                  </a:txBody>
                  <a:tcPr marL="45725" marR="45725" marT="45725" marB="457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Heart of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embedded</a:t>
                      </a:r>
                      <a:r>
                        <a:rPr lang="en-US" sz="1800" b="1" u="none" strike="noStrike" cap="none" dirty="0" smtClean="0"/>
                        <a:t> systems</a:t>
                      </a:r>
                      <a:endParaRPr lang="en-US" b="1" dirty="0"/>
                    </a:p>
                  </a:txBody>
                  <a:tcPr marL="45725" marR="45725" marT="45725" marB="457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It is just a processor. Memory and I/O components are connected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externally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Has processor along with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internal</a:t>
                      </a:r>
                      <a:r>
                        <a:rPr lang="en-US" sz="1800" b="1" u="none" strike="noStrike" cap="none" dirty="0" smtClean="0"/>
                        <a:t> memory and I/O components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  <a:tabLst/>
                        <a:defRPr/>
                      </a:pPr>
                      <a:r>
                        <a:rPr lang="en-US" sz="1800" b="1" u="none" strike="noStrike" cap="none" dirty="0" smtClean="0"/>
                        <a:t>Since memory and I/O have to be connected externally, the circuit becomes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larger</a:t>
                      </a:r>
                      <a:endParaRPr lang="en-US" b="1" dirty="0" smtClean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Since memory and I/O have to be connected externally, the circuit is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small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Cannot</a:t>
                      </a:r>
                      <a:r>
                        <a:rPr lang="en-US" sz="1800" b="1" u="none" strike="noStrike" cap="none" dirty="0" smtClean="0">
                          <a:solidFill>
                            <a:srgbClr val="000000"/>
                          </a:solidFill>
                        </a:rPr>
                        <a:t> be used in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compact</a:t>
                      </a:r>
                      <a:r>
                        <a:rPr lang="en-US" sz="1800" b="1" u="none" strike="noStrike" cap="none" dirty="0" smtClean="0">
                          <a:solidFill>
                            <a:srgbClr val="000000"/>
                          </a:solidFill>
                        </a:rPr>
                        <a:t> system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It is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efficient</a:t>
                      </a:r>
                      <a:r>
                        <a:rPr lang="en-US" sz="1800" b="1" u="none" strike="noStrike" cap="none" dirty="0" smtClean="0"/>
                        <a:t> for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compact</a:t>
                      </a:r>
                      <a:r>
                        <a:rPr lang="en-US" sz="1800" b="1" u="none" strike="noStrike" cap="none" dirty="0" smtClean="0"/>
                        <a:t> systems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The entire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energy</a:t>
                      </a:r>
                      <a:r>
                        <a:rPr lang="en-US" sz="1800" b="1" u="none" strike="noStrike" cap="none" dirty="0" smtClean="0"/>
                        <a:t> consumption is high due to external components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Suitable for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battery-operated</a:t>
                      </a:r>
                      <a:r>
                        <a:rPr lang="en-US" sz="1800" b="1" u="none" strike="noStrike" cap="none" dirty="0" smtClean="0"/>
                        <a:t> systems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Slow</a:t>
                      </a:r>
                      <a:r>
                        <a:rPr lang="en-US" sz="1800" b="1" u="none" strike="noStrike" cap="none" dirty="0" smtClean="0">
                          <a:solidFill>
                            <a:srgbClr val="000000"/>
                          </a:solidFill>
                        </a:rPr>
                        <a:t> memory access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Fast</a:t>
                      </a:r>
                      <a:r>
                        <a:rPr lang="en-US" sz="1800" b="1" u="none" strike="noStrike" cap="none" dirty="0" smtClean="0">
                          <a:solidFill>
                            <a:srgbClr val="000000"/>
                          </a:solidFill>
                        </a:rPr>
                        <a:t> memory access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2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  <a:tabLst/>
                        <a:defRPr/>
                      </a:pPr>
                      <a:r>
                        <a:rPr lang="en-US" sz="1800" b="1" u="none" strike="noStrike" cap="none" dirty="0" smtClean="0"/>
                        <a:t>Is based on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Von Neumann </a:t>
                      </a:r>
                      <a:r>
                        <a:rPr lang="en-US" sz="1800" b="1" u="none" strike="noStrike" cap="none" dirty="0" smtClean="0"/>
                        <a:t>architecture (program and data are stored in the same memory module)</a:t>
                      </a:r>
                      <a:endParaRPr lang="en-US" b="1" dirty="0" smtClean="0"/>
                    </a:p>
                  </a:txBody>
                  <a:tcPr marL="45725" marR="457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b="1" u="none" strike="noStrike" cap="none" dirty="0" smtClean="0"/>
                        <a:t>Is based on </a:t>
                      </a:r>
                      <a:r>
                        <a:rPr lang="en-US" sz="1800" b="1" u="none" strike="noStrike" cap="none" dirty="0" smtClean="0">
                          <a:solidFill>
                            <a:srgbClr val="FF0000"/>
                          </a:solidFill>
                        </a:rPr>
                        <a:t>Harvard</a:t>
                      </a:r>
                      <a:r>
                        <a:rPr lang="en-US" sz="1800" b="1" u="none" strike="noStrike" cap="none" dirty="0" smtClean="0"/>
                        <a:t> architecture (program and data memory are separate)</a:t>
                      </a:r>
                      <a:endParaRPr lang="en-US" b="1" dirty="0"/>
                    </a:p>
                  </a:txBody>
                  <a:tcPr marL="45725" marR="45725" marT="45725" marB="45725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7" name="Google Shape;561;p40" descr="Audio 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7818" y="10327754"/>
            <a:ext cx="1" cy="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42</a:t>
            </a:fld>
            <a:r>
              <a:rPr lang="en-US" smtClean="0"/>
              <a:t>/42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9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1348</Words>
  <Application>Microsoft Office PowerPoint</Application>
  <PresentationFormat>Custom</PresentationFormat>
  <Paragraphs>407</Paragraphs>
  <Slides>42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 Microprocessors  and  Assembly Language   Lecture 1    Hamed Farbeh farbeh@aut.ac.ir Fall 2024</vt:lpstr>
      <vt:lpstr>Course Description</vt:lpstr>
      <vt:lpstr>Grading</vt:lpstr>
      <vt:lpstr>Course Outline</vt:lpstr>
      <vt:lpstr>References</vt:lpstr>
      <vt:lpstr>Copyright Notice</vt:lpstr>
      <vt:lpstr>Computer History</vt:lpstr>
      <vt:lpstr>Computer History</vt:lpstr>
      <vt:lpstr>Computer History</vt:lpstr>
      <vt:lpstr>Computer History</vt:lpstr>
      <vt:lpstr>Computer History</vt:lpstr>
      <vt:lpstr>Computer History</vt:lpstr>
      <vt:lpstr>Computer History</vt:lpstr>
      <vt:lpstr>Computer History</vt:lpstr>
      <vt:lpstr>Computer History</vt:lpstr>
      <vt:lpstr>A brief recap of the computer history</vt:lpstr>
      <vt:lpstr>Computer History</vt:lpstr>
      <vt:lpstr>Instruction Set Architecture  (ISA)</vt:lpstr>
      <vt:lpstr>Instruction Set Architecture (ISA)</vt:lpstr>
      <vt:lpstr>Instruction Set Architecture (ISA)</vt:lpstr>
      <vt:lpstr>Instruction Set Architecture (ISA)</vt:lpstr>
      <vt:lpstr>Instruction Set Architecture (ISA)</vt:lpstr>
      <vt:lpstr>ISA: Instruction length</vt:lpstr>
      <vt:lpstr>ISA: RISC vs. CISC</vt:lpstr>
      <vt:lpstr>ISA: RISC vs. CISC</vt:lpstr>
      <vt:lpstr>ISA: RISC vs. CISC</vt:lpstr>
      <vt:lpstr>ISA: RISC vs. CISC</vt:lpstr>
      <vt:lpstr>ISA: RISC vs. CISC</vt:lpstr>
      <vt:lpstr>ISA: How many registers?</vt:lpstr>
      <vt:lpstr>ISA: How many registers?</vt:lpstr>
      <vt:lpstr>ISA: Where do operands reside?</vt:lpstr>
      <vt:lpstr>ISA: Where do operands reside?</vt:lpstr>
      <vt:lpstr>Harvard vs. Von Neumann</vt:lpstr>
      <vt:lpstr>Types of  Computer Systems</vt:lpstr>
      <vt:lpstr>Types of Computer Systems</vt:lpstr>
      <vt:lpstr>Types of Computer Systems</vt:lpstr>
      <vt:lpstr>Types of Computer Systems</vt:lpstr>
      <vt:lpstr>Computer System Design Criteria</vt:lpstr>
      <vt:lpstr>Options for Building Embedded Systems</vt:lpstr>
      <vt:lpstr>Microprocessor vs. Microcontroller </vt:lpstr>
      <vt:lpstr>Microprocessor vs. Microcontroller </vt:lpstr>
      <vt:lpstr>Microprocessor vs. Microcontroller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123</cp:revision>
  <dcterms:created xsi:type="dcterms:W3CDTF">2022-09-03T16:31:37Z</dcterms:created>
  <dcterms:modified xsi:type="dcterms:W3CDTF">2024-09-10T07:48:37Z</dcterms:modified>
</cp:coreProperties>
</file>