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ags/tag1.xml" ContentType="application/vnd.openxmlformats-officedocument.presentationml.tags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ags/tag3.xml" ContentType="application/vnd.openxmlformats-officedocument.presentationml.tags+xml"/>
  <Override PartName="/ppt/theme/themeOverride11.xml" ContentType="application/vnd.openxmlformats-officedocument.themeOverride+xml"/>
  <Override PartName="/ppt/tags/tag4.xml" ContentType="application/vnd.openxmlformats-officedocument.presentationml.tags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ags/tag5.xml" ContentType="application/vnd.openxmlformats-officedocument.presentationml.tags+xml"/>
  <Override PartName="/ppt/theme/themeOverride15.xml" ContentType="application/vnd.openxmlformats-officedocument.themeOverride+xml"/>
  <Override PartName="/ppt/tags/tag6.xml" ContentType="application/vnd.openxmlformats-officedocument.presentationml.tags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72" r:id="rId2"/>
  </p:sldMasterIdLst>
  <p:notesMasterIdLst>
    <p:notesMasterId r:id="rId22"/>
  </p:notesMasterIdLst>
  <p:handoutMasterIdLst>
    <p:handoutMasterId r:id="rId23"/>
  </p:handoutMasterIdLst>
  <p:sldIdLst>
    <p:sldId id="290" r:id="rId3"/>
    <p:sldId id="258" r:id="rId4"/>
    <p:sldId id="386" r:id="rId5"/>
    <p:sldId id="446" r:id="rId6"/>
    <p:sldId id="447" r:id="rId7"/>
    <p:sldId id="448" r:id="rId8"/>
    <p:sldId id="449" r:id="rId9"/>
    <p:sldId id="450" r:id="rId10"/>
    <p:sldId id="451" r:id="rId11"/>
    <p:sldId id="452" r:id="rId12"/>
    <p:sldId id="453" r:id="rId13"/>
    <p:sldId id="454" r:id="rId14"/>
    <p:sldId id="455" r:id="rId15"/>
    <p:sldId id="456" r:id="rId16"/>
    <p:sldId id="457" r:id="rId17"/>
    <p:sldId id="458" r:id="rId18"/>
    <p:sldId id="459" r:id="rId19"/>
    <p:sldId id="460" r:id="rId20"/>
    <p:sldId id="415" r:id="rId21"/>
  </p:sldIdLst>
  <p:sldSz cx="9144000" cy="6858000" type="screen4x3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2208">
          <p15:clr>
            <a:srgbClr val="A4A3A4"/>
          </p15:clr>
        </p15:guide>
        <p15:guide id="4" pos="292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5CB5"/>
    <a:srgbClr val="0530BB"/>
    <a:srgbClr val="034ABD"/>
    <a:srgbClr val="130868"/>
    <a:srgbClr val="210DB3"/>
    <a:srgbClr val="106F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3" autoAdjust="0"/>
    <p:restoredTop sz="91826" autoAdjust="0"/>
  </p:normalViewPr>
  <p:slideViewPr>
    <p:cSldViewPr>
      <p:cViewPr varScale="1">
        <p:scale>
          <a:sx n="75" d="100"/>
          <a:sy n="75" d="100"/>
        </p:scale>
        <p:origin x="166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4" d="100"/>
          <a:sy n="74" d="100"/>
        </p:scale>
        <p:origin x="1026" y="60"/>
      </p:cViewPr>
      <p:guideLst>
        <p:guide orient="horz" pos="2880"/>
        <p:guide pos="2160"/>
        <p:guide orient="horz" pos="2208"/>
        <p:guide pos="292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809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3A2C78E-1418-4D80-911C-2F94FB99BDBC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809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04ED39F-E263-4FB0-A586-54AF6DEA8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500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479DE93-9629-4701-8E4D-06B6CC93219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3"/>
            <a:ext cx="35052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29940"/>
            <a:ext cx="7437120" cy="31546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CADB150-CC80-4D38-9C9E-4D16188A4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57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DB150-CC80-4D38-9C9E-4D16188A4FB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918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 b="1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40281FD0-B2DB-4ECA-ADAD-7146D3D1D0F9}" type="datetime1">
              <a:rPr lang="en-US" smtClean="0"/>
              <a:t>12/27/2025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>
            <a:normAutofit/>
          </a:bodyPr>
          <a:lstStyle>
            <a:lvl1pPr algn="l">
              <a:defRPr sz="3600" b="1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1"/>
            <a:ext cx="8229600" cy="4525963"/>
          </a:xfrm>
        </p:spPr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81100" y="6406402"/>
            <a:ext cx="67818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rtl="1"/>
            <a:r>
              <a:rPr lang="en-US" dirty="0">
                <a:cs typeface="B Titr" panose="00000700000000000000" pitchFamily="2" charset="-78"/>
              </a:rPr>
              <a:t>Microprocessors and Assembly Language, Fall 2024, AUT, Tehran, Iran </a:t>
            </a:r>
            <a:endParaRPr lang="en-US" sz="1100" dirty="0">
              <a:cs typeface="B Titr" panose="00000700000000000000" pitchFamily="2" charset="-7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92100" y="6419101"/>
            <a:ext cx="543128" cy="365125"/>
          </a:xfrm>
        </p:spPr>
        <p:txBody>
          <a:bodyPr lIns="0" tIns="0" rIns="0" bIns="0"/>
          <a:lstStyle>
            <a:lvl1pPr algn="ctr" rtl="0">
              <a:defRPr sz="1400" b="1" baseline="0">
                <a:solidFill>
                  <a:schemeClr val="tx1"/>
                </a:solidFill>
                <a:latin typeface="+mn-lt"/>
                <a:cs typeface="الشهيد محمد الدره" pitchFamily="2" charset="-78"/>
              </a:defRPr>
            </a:lvl1pPr>
          </a:lstStyle>
          <a:p>
            <a:pPr rtl="1"/>
            <a:fld id="{E9D5068C-74C1-4D4E-ACBE-89391498AE93}" type="slidenum">
              <a:rPr lang="en-US" smtClean="0"/>
              <a:pPr rtl="1"/>
              <a:t>‹#›</a:t>
            </a:fld>
            <a:endParaRPr lang="en-US" dirty="0">
              <a:cs typeface="B Nazanin" panose="00000400000000000000" pitchFamily="2" charset="-78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E2AE1-CBD5-460D-A0C9-6147C2D4C470}" type="datetime1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FB3A9-0A90-4E79-85FA-03828B308331}" type="datetime1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5B4FA-0F9A-436F-AA41-B89FAC163798}" type="datetime1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C8B55-203E-4F94-AE03-50CFB6BD790A}" type="datetime1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536A8-DE7E-4A16-B194-971EA3CF9026}" type="datetime1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6671-0698-4B48-8CC8-45A9BDA6F14F}" type="datetime1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AF6BC-C327-4940-9830-49E66FCBC3F0}" type="datetime1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95183-C90F-4867-BE66-12679E27E67F}" type="datetime1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2" y="329185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ounded Rectangle 9"/>
          <p:cNvSpPr/>
          <p:nvPr/>
        </p:nvSpPr>
        <p:spPr>
          <a:xfrm>
            <a:off x="418597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59B0B-27CB-4279-84EE-13F34D832C20}" type="datetime1">
              <a:rPr lang="en-US" smtClean="0"/>
              <a:t>12/27/2025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46A9-DE9C-4C0F-8CC5-C706728E934F}" type="datetime1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2" y="329185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ounded Rectangle 10"/>
          <p:cNvSpPr/>
          <p:nvPr/>
        </p:nvSpPr>
        <p:spPr>
          <a:xfrm>
            <a:off x="418597" y="434163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7A1E-E215-416E-8D25-5F336D5B557C}" type="datetime1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D8B5B-8A46-412C-A2D2-8F2B1B2EC62B}" type="datetime1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2D1A0-E9CE-4C54-8D41-8DBB9F509117}" type="datetime1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E1B4-9FAF-4C2A-A5AC-8C7F175CBD59}" type="datetime1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2" y="329185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6DEF-8BC5-4D1A-A84F-BC32AA802BDD}" type="datetime1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538847" y="1447803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61374" y="930145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8A3B-8A96-493A-9055-E95E174A1B57}" type="datetime1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2" y="329185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ound Single Corner Rectangle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1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F6010-06C4-4772-A873-F0169484628B}" type="datetime1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8C875-1C6F-4BBA-A49D-A655DE5157F6}" type="datetime1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3405"/>
            <a:ext cx="1981200" cy="5257799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3"/>
            <a:ext cx="5943600" cy="525780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C28B-237A-4A16-A330-F744D93506D6}" type="datetime1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Memory-Mapped SPM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FAABE3-8527-4979-BA7D-5506EF11427A}" type="datetime1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Memory-Mapped SPM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2" y="329185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ounded Rectangle 8"/>
          <p:cNvSpPr/>
          <p:nvPr/>
        </p:nvSpPr>
        <p:spPr>
          <a:xfrm>
            <a:off x="418597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2"/>
          </p:nvPr>
        </p:nvSpPr>
        <p:spPr>
          <a:xfrm>
            <a:off x="3776328" y="6111876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A27B6C89-3F9A-4856-B9C8-0FA30DF0136D}" type="datetime1">
              <a:rPr lang="en-US" smtClean="0"/>
              <a:t>12/27/2025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>
          <a:xfrm>
            <a:off x="6062328" y="6111876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r>
              <a:rPr lang="en-US"/>
              <a:t>Memory-Mapped SPM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48328" y="6111876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.png"/><Relationship Id="rId2" Type="http://schemas.openxmlformats.org/officeDocument/2006/relationships/tags" Target="../tags/tag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oleObject" Target="../embeddings/oleObject5.bin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4.bin"/><Relationship Id="rId17" Type="http://schemas.openxmlformats.org/officeDocument/2006/relationships/oleObject" Target="../embeddings/oleObject9.bin"/><Relationship Id="rId2" Type="http://schemas.openxmlformats.org/officeDocument/2006/relationships/tags" Target="../tags/tag2.xml"/><Relationship Id="rId16" Type="http://schemas.openxmlformats.org/officeDocument/2006/relationships/oleObject" Target="../embeddings/oleObject8.bin"/><Relationship Id="rId1" Type="http://schemas.openxmlformats.org/officeDocument/2006/relationships/themeOverride" Target="../theme/themeOverride8.x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13.wmf"/><Relationship Id="rId5" Type="http://schemas.openxmlformats.org/officeDocument/2006/relationships/image" Target="../media/image1.png"/><Relationship Id="rId15" Type="http://schemas.openxmlformats.org/officeDocument/2006/relationships/oleObject" Target="../embeddings/oleObject7.bin"/><Relationship Id="rId10" Type="http://schemas.openxmlformats.org/officeDocument/2006/relationships/oleObject" Target="../embeddings/oleObject3.bin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11.bin"/><Relationship Id="rId2" Type="http://schemas.openxmlformats.org/officeDocument/2006/relationships/tags" Target="../tags/tag3.xml"/><Relationship Id="rId1" Type="http://schemas.openxmlformats.org/officeDocument/2006/relationships/themeOverride" Target="../theme/themeOverride10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2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12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17.bin"/><Relationship Id="rId18" Type="http://schemas.openxmlformats.org/officeDocument/2006/relationships/image" Target="../media/image20.wmf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3.wmf"/><Relationship Id="rId17" Type="http://schemas.openxmlformats.org/officeDocument/2006/relationships/oleObject" Target="../embeddings/oleObject19.bin"/><Relationship Id="rId2" Type="http://schemas.openxmlformats.org/officeDocument/2006/relationships/tags" Target="../tags/tag4.xml"/><Relationship Id="rId16" Type="http://schemas.openxmlformats.org/officeDocument/2006/relationships/image" Target="../media/image19.wmf"/><Relationship Id="rId1" Type="http://schemas.openxmlformats.org/officeDocument/2006/relationships/themeOverride" Target="../theme/themeOverride11.x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5" Type="http://schemas.openxmlformats.org/officeDocument/2006/relationships/oleObject" Target="../embeddings/oleObject18.bin"/><Relationship Id="rId10" Type="http://schemas.openxmlformats.org/officeDocument/2006/relationships/image" Target="../media/image11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18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hemeOverride" Target="../theme/themeOverride14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hemeOverride" Target="../theme/themeOverride15.xml"/><Relationship Id="rId5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20000"/>
                <a:lumOff val="80000"/>
              </a:schemeClr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018691"/>
            <a:ext cx="8229600" cy="1254448"/>
          </a:xfrm>
        </p:spPr>
        <p:txBody>
          <a:bodyPr lIns="0" tIns="0"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sz="3200" dirty="0">
                <a:solidFill>
                  <a:srgbClr val="C00000"/>
                </a:solidFill>
                <a:effectLst/>
                <a:latin typeface="Times New Roman" pitchFamily="18" charset="0"/>
                <a:cs typeface="B Titr" panose="00000700000000000000" pitchFamily="2" charset="-78"/>
              </a:rPr>
              <a:t>Microprocessors and Assembly Language</a:t>
            </a:r>
            <a:br>
              <a:rPr lang="en-US" sz="2400" dirty="0">
                <a:solidFill>
                  <a:srgbClr val="C00000"/>
                </a:solidFill>
                <a:effectLst/>
                <a:latin typeface="Times New Roman" pitchFamily="18" charset="0"/>
                <a:cs typeface="B Titr" panose="00000700000000000000" pitchFamily="2" charset="-78"/>
              </a:rPr>
            </a:br>
            <a:r>
              <a:rPr lang="en-US" sz="2400" dirty="0">
                <a:solidFill>
                  <a:srgbClr val="C00000"/>
                </a:solidFill>
                <a:effectLst/>
                <a:latin typeface="Times New Roman" pitchFamily="18" charset="0"/>
                <a:cs typeface="B Titr" panose="00000700000000000000" pitchFamily="2" charset="-78"/>
              </a:rPr>
              <a:t> </a:t>
            </a:r>
            <a:r>
              <a:rPr lang="en-US" sz="2000" b="0" dirty="0">
                <a:solidFill>
                  <a:srgbClr val="130868"/>
                </a:solidFill>
                <a:effectLst/>
                <a:latin typeface="Times New Roman" pitchFamily="18" charset="0"/>
                <a:cs typeface="B Titr" panose="00000700000000000000" pitchFamily="2" charset="-78"/>
              </a:rPr>
              <a:t>Fall 2024</a:t>
            </a:r>
            <a:endParaRPr lang="en-US" sz="1600" b="0" dirty="0">
              <a:solidFill>
                <a:srgbClr val="130868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3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04507" y="610740"/>
            <a:ext cx="1334986" cy="1370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36"/>
          <p:cNvSpPr txBox="1">
            <a:spLocks noChangeArrowheads="1"/>
          </p:cNvSpPr>
          <p:nvPr/>
        </p:nvSpPr>
        <p:spPr bwMode="auto">
          <a:xfrm>
            <a:off x="457200" y="3810000"/>
            <a:ext cx="8382000" cy="2277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Aft>
                <a:spcPts val="600"/>
              </a:spcAft>
            </a:pPr>
            <a:r>
              <a:rPr lang="en-US" sz="2400" b="1" dirty="0">
                <a:latin typeface="Calibri" panose="020F0502020204030204" pitchFamily="34" charset="0"/>
                <a:cs typeface="B Titr" pitchFamily="2" charset="-78"/>
              </a:rPr>
              <a:t>Hamed Farbeh</a:t>
            </a:r>
          </a:p>
          <a:p>
            <a:pPr algn="ctr" eaLnBrk="1" hangingPunct="1">
              <a:spcAft>
                <a:spcPts val="600"/>
              </a:spcAft>
            </a:pPr>
            <a:r>
              <a:rPr lang="en-US" b="1" dirty="0">
                <a:latin typeface="Calibri" panose="020F0502020204030204" pitchFamily="34" charset="0"/>
                <a:cs typeface="B Titr" pitchFamily="2" charset="-78"/>
              </a:rPr>
              <a:t>farbeh@aut.ac.ir</a:t>
            </a:r>
            <a:endParaRPr lang="fa-IR" b="1" dirty="0">
              <a:latin typeface="Calibri" panose="020F0502020204030204" pitchFamily="34" charset="0"/>
              <a:cs typeface="B Titr" pitchFamily="2" charset="-78"/>
            </a:endParaRPr>
          </a:p>
          <a:p>
            <a:pPr algn="ctr" eaLnBrk="1" hangingPunct="1"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cs typeface="B Titr" pitchFamily="2" charset="-78"/>
              </a:rPr>
              <a:t>Department of Computer Engineering</a:t>
            </a:r>
          </a:p>
          <a:p>
            <a:pPr algn="ctr" eaLnBrk="1" hangingPunct="1"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cs typeface="B Titr" pitchFamily="2" charset="-78"/>
              </a:rPr>
              <a:t>Amirkabir University of Technology</a:t>
            </a:r>
          </a:p>
          <a:p>
            <a:pPr algn="ctr" eaLnBrk="1" hangingPunct="1"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cs typeface="B Titr" pitchFamily="2" charset="-78"/>
              </a:rPr>
              <a:t>Lecture 11</a:t>
            </a:r>
          </a:p>
        </p:txBody>
      </p:sp>
    </p:spTree>
    <p:extLst>
      <p:ext uri="{BB962C8B-B14F-4D97-AF65-F5344CB8AC3E}">
        <p14:creationId xmlns:p14="http://schemas.microsoft.com/office/powerpoint/2010/main" val="3591189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j-lt"/>
                <a:cs typeface="B Titr" panose="00000700000000000000" pitchFamily="2" charset="-78"/>
              </a:rPr>
              <a:t>Copyright Notice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0360" y="6400224"/>
            <a:ext cx="543128" cy="365125"/>
          </a:xfrm>
        </p:spPr>
        <p:txBody>
          <a:bodyPr/>
          <a:lstStyle/>
          <a:p>
            <a:pPr rtl="1"/>
            <a:fld id="{B6F15528-21DE-4FAA-801E-634DDDAF4B2B}" type="slidenum">
              <a:rPr lang="en-US" smtClean="0">
                <a:latin typeface="+mj-lt"/>
              </a:rPr>
              <a:pPr rtl="1"/>
              <a:t>2</a:t>
            </a:fld>
            <a:endParaRPr lang="en-US" dirty="0">
              <a:latin typeface="+mj-lt"/>
            </a:endParaRPr>
          </a:p>
        </p:txBody>
      </p:sp>
      <p:sp>
        <p:nvSpPr>
          <p:cNvPr id="206" name="TextBox 205"/>
          <p:cNvSpPr txBox="1"/>
          <p:nvPr/>
        </p:nvSpPr>
        <p:spPr>
          <a:xfrm>
            <a:off x="457200" y="1143000"/>
            <a:ext cx="827562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Parts (text &amp; figures) of this lecture are adopted from: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cs typeface="B Nazanin" pitchFamily="2" charset="-78"/>
              </a:rPr>
              <a:t>Prabal</a:t>
            </a:r>
            <a:r>
              <a:rPr lang="en-US" sz="2000" b="1" dirty="0">
                <a:cs typeface="B Nazanin" pitchFamily="2" charset="-78"/>
              </a:rPr>
              <a:t> </a:t>
            </a:r>
            <a:r>
              <a:rPr lang="en-US" sz="2000" b="1" dirty="0" err="1">
                <a:cs typeface="B Nazanin" pitchFamily="2" charset="-78"/>
              </a:rPr>
              <a:t>Dutta</a:t>
            </a:r>
            <a:r>
              <a:rPr lang="en-US" sz="2000" b="1" dirty="0">
                <a:cs typeface="B Nazanin" pitchFamily="2" charset="-78"/>
              </a:rPr>
              <a:t>, “EECS 373 Design of Microprocessor-Based Systems,” University of Michigan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cs typeface="B Nazanin" pitchFamily="2" charset="-78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cs typeface="B Nazanin" pitchFamily="2" charset="-78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cs typeface="B Nazanin" pitchFamily="2" charset="-78"/>
              </a:rPr>
              <a:t>Atmel | SMART ARM-based MCU DATASHEET, SAM3X / SAM3A Series, Atmel-11057C-ATARM-SAM3X-SAM3A-Datasheet_23-Mar-15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cs typeface="B Nazanin" pitchFamily="2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600" y="6412468"/>
            <a:ext cx="685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cs typeface="B Titr" panose="00000700000000000000" pitchFamily="2" charset="-78"/>
              </a:rPr>
              <a:t>Microprocessors and Assembly Language, Fall 2024, AUT, Tehran, Iran </a:t>
            </a:r>
          </a:p>
        </p:txBody>
      </p:sp>
    </p:spTree>
    <p:extLst>
      <p:ext uri="{BB962C8B-B14F-4D97-AF65-F5344CB8AC3E}">
        <p14:creationId xmlns:p14="http://schemas.microsoft.com/office/powerpoint/2010/main" val="2873199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0360" y="6400224"/>
            <a:ext cx="543128" cy="365125"/>
          </a:xfrm>
        </p:spPr>
        <p:txBody>
          <a:bodyPr/>
          <a:lstStyle/>
          <a:p>
            <a:pPr rtl="1"/>
            <a:fld id="{B6F15528-21DE-4FAA-801E-634DDDAF4B2B}" type="slidenum">
              <a:rPr lang="en-US" smtClean="0">
                <a:latin typeface="+mj-lt"/>
              </a:rPr>
              <a:pPr rtl="1"/>
              <a:t>3</a:t>
            </a:fld>
            <a:endParaRPr lang="en-US" dirty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600" y="6412468"/>
            <a:ext cx="685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cs typeface="B Titr" panose="00000700000000000000" pitchFamily="2" charset="-78"/>
              </a:rPr>
              <a:t>Microprocessors and Assembly Language, Fall 2024, AUT, Tehran, Iran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850" y="2666999"/>
            <a:ext cx="8458200" cy="83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/>
              <a:t>Sampling, ADCs, and DACs</a:t>
            </a:r>
          </a:p>
        </p:txBody>
      </p:sp>
      <p:sp>
        <p:nvSpPr>
          <p:cNvPr id="2" name="AutoShape 4" descr="robot GIF"/>
          <p:cNvSpPr>
            <a:spLocks noChangeAspect="1" noChangeArrowheads="1"/>
          </p:cNvSpPr>
          <p:nvPr/>
        </p:nvSpPr>
        <p:spPr bwMode="auto">
          <a:xfrm>
            <a:off x="155575" y="-814388"/>
            <a:ext cx="2362200" cy="1704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8055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j-lt"/>
                <a:cs typeface="B Titr" panose="00000700000000000000" pitchFamily="2" charset="-78"/>
              </a:rPr>
              <a:t>We live in an analog world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0360" y="6400224"/>
            <a:ext cx="543128" cy="365125"/>
          </a:xfrm>
        </p:spPr>
        <p:txBody>
          <a:bodyPr/>
          <a:lstStyle/>
          <a:p>
            <a:pPr rtl="1"/>
            <a:fld id="{B6F15528-21DE-4FAA-801E-634DDDAF4B2B}" type="slidenum">
              <a:rPr lang="en-US" smtClean="0">
                <a:latin typeface="+mj-lt"/>
              </a:rPr>
              <a:pPr rtl="1"/>
              <a:t>4</a:t>
            </a:fld>
            <a:endParaRPr lang="en-US" dirty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600" y="6412468"/>
            <a:ext cx="685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cs typeface="B Titr" panose="00000700000000000000" pitchFamily="2" charset="-78"/>
              </a:rPr>
              <a:t>Microprocessors and Assembly Language, Fall 2024, AUT, Tehran, Iran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66800"/>
            <a:ext cx="8458200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US" sz="2000" dirty="0"/>
            </a:br>
            <a:br>
              <a:rPr lang="en-US" sz="2000" dirty="0"/>
            </a:b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66800"/>
            <a:ext cx="8458200" cy="4661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Everything in the physical world is an analog signal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Sound, light, temperature, pressure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Need to convert into electrical signals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Transducers: converts one type of energy to another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Electro-mechanical, Photonic, Electrical, …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Examples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Microphone/speaker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Thermocouples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Accelerometers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6091535"/>
            <a:ext cx="83058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EECS 373 Design of Microprocessor-Based Systems</a:t>
            </a: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700" y="4567535"/>
            <a:ext cx="8255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4229476"/>
            <a:ext cx="140017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3505200"/>
            <a:ext cx="1676400" cy="1239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4953000"/>
            <a:ext cx="1981200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822780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j-lt"/>
                <a:cs typeface="B Titr" panose="00000700000000000000" pitchFamily="2" charset="-78"/>
              </a:rPr>
              <a:t>Transducers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0360" y="6400224"/>
            <a:ext cx="543128" cy="365125"/>
          </a:xfrm>
        </p:spPr>
        <p:txBody>
          <a:bodyPr/>
          <a:lstStyle/>
          <a:p>
            <a:pPr rtl="1"/>
            <a:fld id="{B6F15528-21DE-4FAA-801E-634DDDAF4B2B}" type="slidenum">
              <a:rPr lang="en-US" smtClean="0">
                <a:latin typeface="+mj-lt"/>
              </a:rPr>
              <a:pPr rtl="1"/>
              <a:t>5</a:t>
            </a:fld>
            <a:endParaRPr lang="en-US" dirty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600" y="6412468"/>
            <a:ext cx="685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cs typeface="B Titr" panose="00000700000000000000" pitchFamily="2" charset="-78"/>
              </a:rPr>
              <a:t>Microprocessors and Assembly Language, Fall 2024, AUT, Tehran, Iran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66800"/>
            <a:ext cx="8458200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US" sz="2000" dirty="0"/>
            </a:br>
            <a:br>
              <a:rPr lang="en-US" sz="2000" dirty="0"/>
            </a:b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66800"/>
            <a:ext cx="8458200" cy="134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Transducers convert one form of energy into another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Allow us to convert physical phenomena to a voltage potential in a well-defined 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6091535"/>
            <a:ext cx="83058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EECS 373 Design of Microprocessor-Based Systems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1837" y="2176910"/>
            <a:ext cx="2668587" cy="287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96862" y="5013623"/>
            <a:ext cx="86185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sz="1600" dirty="0"/>
              <a:t>A transducer is a device that converts one type of energy to another. The conversion can be to/from </a:t>
            </a:r>
          </a:p>
          <a:p>
            <a:r>
              <a:rPr lang="en-US" sz="1600" dirty="0"/>
              <a:t>electrical, electro-mechanical, electromagnetic, photonic, photovoltaic, or any other form of energy. </a:t>
            </a:r>
          </a:p>
          <a:p>
            <a:r>
              <a:rPr lang="en-US" sz="1600" dirty="0"/>
              <a:t>While the term transducer commonly implies use as a sensor/detector, any device which converts energy can be considered a transducer. </a:t>
            </a:r>
            <a:r>
              <a:rPr lang="en-US" sz="1600" dirty="0">
                <a:solidFill>
                  <a:srgbClr val="FF0000"/>
                </a:solidFill>
              </a:rPr>
              <a:t>[Wikipedia]</a:t>
            </a:r>
          </a:p>
        </p:txBody>
      </p:sp>
    </p:spTree>
    <p:extLst>
      <p:ext uri="{BB962C8B-B14F-4D97-AF65-F5344CB8AC3E}">
        <p14:creationId xmlns:p14="http://schemas.microsoft.com/office/powerpoint/2010/main" val="5056448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j-lt"/>
                <a:cs typeface="B Titr" panose="00000700000000000000" pitchFamily="2" charset="-78"/>
              </a:rPr>
              <a:t>An Example: Photocell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0360" y="6400224"/>
            <a:ext cx="543128" cy="365125"/>
          </a:xfrm>
        </p:spPr>
        <p:txBody>
          <a:bodyPr/>
          <a:lstStyle/>
          <a:p>
            <a:pPr rtl="1"/>
            <a:fld id="{B6F15528-21DE-4FAA-801E-634DDDAF4B2B}" type="slidenum">
              <a:rPr lang="en-US" smtClean="0">
                <a:latin typeface="+mj-lt"/>
              </a:rPr>
              <a:pPr rtl="1"/>
              <a:t>6</a:t>
            </a:fld>
            <a:endParaRPr lang="en-US" dirty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600" y="6412468"/>
            <a:ext cx="685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cs typeface="B Titr" panose="00000700000000000000" pitchFamily="2" charset="-78"/>
              </a:rPr>
              <a:t>Microprocessors and Assembly Language, Fall 2024, AUT, Tehran, Iran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66800"/>
            <a:ext cx="8458200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US" sz="2000" dirty="0"/>
            </a:br>
            <a:br>
              <a:rPr lang="en-US" sz="2000" dirty="0"/>
            </a:b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66800"/>
            <a:ext cx="84582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Convert light to voltage with a </a:t>
            </a:r>
            <a:r>
              <a:rPr lang="en-US" sz="2000" b="1" dirty="0" err="1"/>
              <a:t>CdS</a:t>
            </a:r>
            <a:r>
              <a:rPr lang="en-US" sz="2000" b="1" dirty="0"/>
              <a:t> Photocell</a:t>
            </a:r>
          </a:p>
          <a:p>
            <a:pPr lvl="2">
              <a:lnSpc>
                <a:spcPct val="150000"/>
              </a:lnSpc>
            </a:pPr>
            <a:r>
              <a:rPr lang="en-US" b="1" dirty="0"/>
              <a:t>	</a:t>
            </a:r>
            <a:r>
              <a:rPr lang="en-US" b="1" dirty="0" err="1"/>
              <a:t>V</a:t>
            </a:r>
            <a:r>
              <a:rPr lang="en-US" b="1" baseline="-25000" dirty="0" err="1"/>
              <a:t>signal</a:t>
            </a:r>
            <a:r>
              <a:rPr lang="en-US" b="1" dirty="0"/>
              <a:t> = (+5V) R</a:t>
            </a:r>
            <a:r>
              <a:rPr lang="en-US" b="1" baseline="-25000" dirty="0"/>
              <a:t>R</a:t>
            </a:r>
            <a:r>
              <a:rPr lang="en-US" b="1" dirty="0"/>
              <a:t>/(R + R</a:t>
            </a:r>
            <a:r>
              <a:rPr lang="en-US" b="1" baseline="-25000" dirty="0"/>
              <a:t>R</a:t>
            </a:r>
            <a:r>
              <a:rPr lang="en-US" b="1" dirty="0"/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Choose R=R</a:t>
            </a:r>
            <a:r>
              <a:rPr lang="en-US" b="1" baseline="-25000" dirty="0"/>
              <a:t>R</a:t>
            </a:r>
            <a:r>
              <a:rPr lang="en-US" b="1" dirty="0"/>
              <a:t> at median of intended range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Cadmium Sulfide (</a:t>
            </a:r>
            <a:r>
              <a:rPr lang="en-US" b="1" dirty="0" err="1"/>
              <a:t>CdS</a:t>
            </a:r>
            <a:r>
              <a:rPr lang="en-US" b="1" dirty="0"/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t</a:t>
            </a:r>
            <a:r>
              <a:rPr lang="en-US" b="1" baseline="-25000" dirty="0" err="1"/>
              <a:t>RC</a:t>
            </a:r>
            <a:r>
              <a:rPr lang="en-US" b="1" dirty="0"/>
              <a:t> = (R+R</a:t>
            </a:r>
            <a:r>
              <a:rPr lang="en-US" b="1" baseline="-25000" dirty="0"/>
              <a:t>R</a:t>
            </a:r>
            <a:r>
              <a:rPr lang="en-US" b="1" dirty="0"/>
              <a:t>)*</a:t>
            </a:r>
            <a:r>
              <a:rPr lang="en-US" b="1" dirty="0" err="1"/>
              <a:t>C</a:t>
            </a:r>
            <a:r>
              <a:rPr lang="en-US" b="1" baseline="-25000" dirty="0" err="1"/>
              <a:t>l</a:t>
            </a:r>
            <a:endParaRPr lang="en-US" b="1" baseline="-25000" dirty="0"/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Typically R~50-200k</a:t>
            </a:r>
            <a:r>
              <a:rPr lang="en-US" dirty="0">
                <a:latin typeface="Symbol" pitchFamily="18" charset="2"/>
              </a:rPr>
              <a:t>W</a:t>
            </a:r>
            <a:endParaRPr lang="en-US" b="1" dirty="0"/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C~20pF 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So, t</a:t>
            </a:r>
            <a:r>
              <a:rPr lang="en-US" b="1" baseline="-25000" dirty="0"/>
              <a:t>RC</a:t>
            </a:r>
            <a:r>
              <a:rPr lang="en-US" b="1" dirty="0"/>
              <a:t>~20-80uS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f</a:t>
            </a:r>
            <a:r>
              <a:rPr lang="en-US" b="1" baseline="-25000" dirty="0" err="1"/>
              <a:t>RC</a:t>
            </a:r>
            <a:r>
              <a:rPr lang="en-US" b="1" dirty="0"/>
              <a:t> ~ 10-50kHz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304800" y="6091535"/>
            <a:ext cx="83058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EECS 373 Design of Microprocessor-Based Systems</a:t>
            </a:r>
          </a:p>
        </p:txBody>
      </p:sp>
      <p:pic>
        <p:nvPicPr>
          <p:cNvPr id="12" name="Picture 3" descr="photoresist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100" y="2286000"/>
            <a:ext cx="2819400" cy="298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72518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j-lt"/>
                <a:cs typeface="B Titr" panose="00000700000000000000" pitchFamily="2" charset="-78"/>
              </a:rPr>
              <a:t>Many other common sensors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0360" y="6400224"/>
            <a:ext cx="543128" cy="365125"/>
          </a:xfrm>
        </p:spPr>
        <p:txBody>
          <a:bodyPr/>
          <a:lstStyle/>
          <a:p>
            <a:pPr rtl="1"/>
            <a:fld id="{B6F15528-21DE-4FAA-801E-634DDDAF4B2B}" type="slidenum">
              <a:rPr lang="en-US" smtClean="0">
                <a:latin typeface="+mj-lt"/>
              </a:rPr>
              <a:pPr rtl="1"/>
              <a:t>7</a:t>
            </a:fld>
            <a:endParaRPr lang="en-US" dirty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600" y="6412468"/>
            <a:ext cx="685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cs typeface="B Titr" panose="00000700000000000000" pitchFamily="2" charset="-78"/>
              </a:rPr>
              <a:t>Microprocessors and Assembly Language, Fall 2024, AUT, Tehran, Iran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66800"/>
            <a:ext cx="8458200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US" sz="2000" dirty="0"/>
            </a:br>
            <a:br>
              <a:rPr lang="en-US" sz="2000" dirty="0"/>
            </a:b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66800"/>
            <a:ext cx="8458200" cy="37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Force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Sound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Microphones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Position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Gyros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Acceleration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Field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6091535"/>
            <a:ext cx="83058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EECS 373 Design of Microprocessor-Based Systems</a:t>
            </a:r>
          </a:p>
        </p:txBody>
      </p:sp>
    </p:spTree>
    <p:extLst>
      <p:ext uri="{BB962C8B-B14F-4D97-AF65-F5344CB8AC3E}">
        <p14:creationId xmlns:p14="http://schemas.microsoft.com/office/powerpoint/2010/main" val="39888389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j-lt"/>
                <a:cs typeface="B Titr" panose="00000700000000000000" pitchFamily="2" charset="-78"/>
              </a:rPr>
              <a:t>Going from Analog to Digital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0360" y="6400224"/>
            <a:ext cx="543128" cy="365125"/>
          </a:xfrm>
        </p:spPr>
        <p:txBody>
          <a:bodyPr/>
          <a:lstStyle/>
          <a:p>
            <a:pPr rtl="1"/>
            <a:fld id="{B6F15528-21DE-4FAA-801E-634DDDAF4B2B}" type="slidenum">
              <a:rPr lang="en-US" smtClean="0">
                <a:latin typeface="+mj-lt"/>
              </a:rPr>
              <a:pPr rtl="1"/>
              <a:t>8</a:t>
            </a:fld>
            <a:endParaRPr lang="en-US" dirty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600" y="6412468"/>
            <a:ext cx="685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cs typeface="B Titr" panose="00000700000000000000" pitchFamily="2" charset="-78"/>
              </a:rPr>
              <a:t>Microprocessors and Assembly Language, Fall 2024, AUT, Tehran, Iran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66800"/>
            <a:ext cx="8458200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US" sz="2000" dirty="0"/>
            </a:br>
            <a:br>
              <a:rPr lang="en-US" sz="2000" dirty="0"/>
            </a:b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66800"/>
            <a:ext cx="8458200" cy="37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What we want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>
              <a:lnSpc>
                <a:spcPct val="150000"/>
              </a:lnSpc>
            </a:pPr>
            <a:endParaRPr lang="en-US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How we have to get there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304800" y="6091535"/>
            <a:ext cx="83058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EECS 373 Design of Microprocessor-Based Systems</a:t>
            </a:r>
          </a:p>
        </p:txBody>
      </p:sp>
      <p:sp>
        <p:nvSpPr>
          <p:cNvPr id="8" name="AutoShape 16"/>
          <p:cNvSpPr>
            <a:spLocks noChangeArrowheads="1"/>
          </p:cNvSpPr>
          <p:nvPr/>
        </p:nvSpPr>
        <p:spPr bwMode="auto">
          <a:xfrm>
            <a:off x="4038600" y="2133600"/>
            <a:ext cx="990600" cy="7620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800">
              <a:latin typeface="Arial" pitchFamily="34" charset="0"/>
            </a:endParaRPr>
          </a:p>
        </p:txBody>
      </p:sp>
      <p:sp>
        <p:nvSpPr>
          <p:cNvPr id="9" name="AutoShape 17"/>
          <p:cNvSpPr>
            <a:spLocks noChangeArrowheads="1"/>
          </p:cNvSpPr>
          <p:nvPr/>
        </p:nvSpPr>
        <p:spPr bwMode="auto">
          <a:xfrm>
            <a:off x="3048000" y="2362200"/>
            <a:ext cx="838200" cy="304800"/>
          </a:xfrm>
          <a:prstGeom prst="rightArrow">
            <a:avLst>
              <a:gd name="adj1" fmla="val 50000"/>
              <a:gd name="adj2" fmla="val 68750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0" name="Text Box 18"/>
          <p:cNvSpPr txBox="1">
            <a:spLocks noChangeArrowheads="1"/>
          </p:cNvSpPr>
          <p:nvPr/>
        </p:nvSpPr>
        <p:spPr bwMode="auto">
          <a:xfrm>
            <a:off x="1600200" y="2178050"/>
            <a:ext cx="152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sz="1800">
                <a:latin typeface="Arial" pitchFamily="34" charset="0"/>
              </a:rPr>
              <a:t>Physical</a:t>
            </a:r>
          </a:p>
          <a:p>
            <a:r>
              <a:rPr lang="en-US" sz="1800">
                <a:latin typeface="Arial" pitchFamily="34" charset="0"/>
              </a:rPr>
              <a:t>Phenomena</a:t>
            </a:r>
          </a:p>
        </p:txBody>
      </p:sp>
      <p:sp>
        <p:nvSpPr>
          <p:cNvPr id="12" name="AutoShape 19"/>
          <p:cNvSpPr>
            <a:spLocks noChangeArrowheads="1"/>
          </p:cNvSpPr>
          <p:nvPr/>
        </p:nvSpPr>
        <p:spPr bwMode="auto">
          <a:xfrm>
            <a:off x="5181600" y="2362200"/>
            <a:ext cx="838200" cy="304800"/>
          </a:xfrm>
          <a:prstGeom prst="rightArrow">
            <a:avLst>
              <a:gd name="adj1" fmla="val 50000"/>
              <a:gd name="adj2" fmla="val 68750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6096000" y="2178050"/>
            <a:ext cx="152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sz="1800">
                <a:latin typeface="Arial" pitchFamily="34" charset="0"/>
              </a:rPr>
              <a:t>Engineering Units</a:t>
            </a:r>
          </a:p>
        </p:txBody>
      </p:sp>
      <p:grpSp>
        <p:nvGrpSpPr>
          <p:cNvPr id="15" name="Group 21"/>
          <p:cNvGrpSpPr>
            <a:grpSpLocks/>
          </p:cNvGrpSpPr>
          <p:nvPr/>
        </p:nvGrpSpPr>
        <p:grpSpPr bwMode="auto">
          <a:xfrm>
            <a:off x="152400" y="4311650"/>
            <a:ext cx="8839200" cy="1403350"/>
            <a:chOff x="96" y="2716"/>
            <a:chExt cx="5568" cy="884"/>
          </a:xfrm>
        </p:grpSpPr>
        <p:sp>
          <p:nvSpPr>
            <p:cNvPr id="16" name="AutoShape 4"/>
            <p:cNvSpPr>
              <a:spLocks noChangeArrowheads="1"/>
            </p:cNvSpPr>
            <p:nvPr/>
          </p:nvSpPr>
          <p:spPr bwMode="auto">
            <a:xfrm>
              <a:off x="4080" y="3120"/>
              <a:ext cx="624" cy="480"/>
            </a:xfrm>
            <a:prstGeom prst="roundRect">
              <a:avLst>
                <a:gd name="adj" fmla="val 16667"/>
              </a:avLst>
            </a:prstGeom>
            <a:solidFill>
              <a:srgbClr val="FF99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1800">
                  <a:latin typeface="Arial" pitchFamily="34" charset="0"/>
                </a:rPr>
                <a:t>Software</a:t>
              </a:r>
            </a:p>
          </p:txBody>
        </p:sp>
        <p:sp>
          <p:nvSpPr>
            <p:cNvPr id="17" name="AutoShape 5"/>
            <p:cNvSpPr>
              <a:spLocks noChangeArrowheads="1"/>
            </p:cNvSpPr>
            <p:nvPr/>
          </p:nvSpPr>
          <p:spPr bwMode="auto">
            <a:xfrm>
              <a:off x="1008" y="3120"/>
              <a:ext cx="624" cy="480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1800">
                  <a:latin typeface="Arial" pitchFamily="34" charset="0"/>
                </a:rPr>
                <a:t>Sensor</a:t>
              </a:r>
            </a:p>
          </p:txBody>
        </p:sp>
        <p:sp>
          <p:nvSpPr>
            <p:cNvPr id="18" name="AutoShape 6"/>
            <p:cNvSpPr>
              <a:spLocks noChangeArrowheads="1"/>
            </p:cNvSpPr>
            <p:nvPr/>
          </p:nvSpPr>
          <p:spPr bwMode="auto">
            <a:xfrm>
              <a:off x="2544" y="3120"/>
              <a:ext cx="624" cy="480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1800">
                  <a:latin typeface="Arial" pitchFamily="34" charset="0"/>
                </a:rPr>
                <a:t>ADC</a:t>
              </a:r>
            </a:p>
          </p:txBody>
        </p:sp>
        <p:sp>
          <p:nvSpPr>
            <p:cNvPr id="19" name="AutoShape 7"/>
            <p:cNvSpPr>
              <a:spLocks noChangeArrowheads="1"/>
            </p:cNvSpPr>
            <p:nvPr/>
          </p:nvSpPr>
          <p:spPr bwMode="auto">
            <a:xfrm>
              <a:off x="384" y="3264"/>
              <a:ext cx="528" cy="192"/>
            </a:xfrm>
            <a:prstGeom prst="rightArrow">
              <a:avLst>
                <a:gd name="adj1" fmla="val 50000"/>
                <a:gd name="adj2" fmla="val 68750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" name="AutoShape 8"/>
            <p:cNvSpPr>
              <a:spLocks noChangeArrowheads="1"/>
            </p:cNvSpPr>
            <p:nvPr/>
          </p:nvSpPr>
          <p:spPr bwMode="auto">
            <a:xfrm>
              <a:off x="1728" y="3264"/>
              <a:ext cx="720" cy="192"/>
            </a:xfrm>
            <a:prstGeom prst="rightArrow">
              <a:avLst>
                <a:gd name="adj1" fmla="val 50000"/>
                <a:gd name="adj2" fmla="val 93750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1" name="AutoShape 10"/>
            <p:cNvSpPr>
              <a:spLocks noChangeArrowheads="1"/>
            </p:cNvSpPr>
            <p:nvPr/>
          </p:nvSpPr>
          <p:spPr bwMode="auto">
            <a:xfrm>
              <a:off x="3264" y="3264"/>
              <a:ext cx="720" cy="192"/>
            </a:xfrm>
            <a:prstGeom prst="rightArrow">
              <a:avLst>
                <a:gd name="adj1" fmla="val 50000"/>
                <a:gd name="adj2" fmla="val 93750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" name="AutoShape 11"/>
            <p:cNvSpPr>
              <a:spLocks noChangeArrowheads="1"/>
            </p:cNvSpPr>
            <p:nvPr/>
          </p:nvSpPr>
          <p:spPr bwMode="auto">
            <a:xfrm>
              <a:off x="4800" y="3264"/>
              <a:ext cx="576" cy="192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3" name="Text Box 12"/>
            <p:cNvSpPr txBox="1">
              <a:spLocks noChangeArrowheads="1"/>
            </p:cNvSpPr>
            <p:nvPr/>
          </p:nvSpPr>
          <p:spPr bwMode="auto">
            <a:xfrm>
              <a:off x="96" y="2736"/>
              <a:ext cx="960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r>
                <a:rPr lang="en-US" sz="1800" dirty="0">
                  <a:latin typeface="Arial" pitchFamily="34" charset="0"/>
                </a:rPr>
                <a:t>Physical</a:t>
              </a:r>
            </a:p>
            <a:p>
              <a:r>
                <a:rPr lang="en-US" sz="1800" dirty="0">
                  <a:latin typeface="Arial" pitchFamily="34" charset="0"/>
                </a:rPr>
                <a:t>Phenomena</a:t>
              </a:r>
            </a:p>
          </p:txBody>
        </p:sp>
        <p:sp>
          <p:nvSpPr>
            <p:cNvPr id="24" name="Text Box 13"/>
            <p:cNvSpPr txBox="1">
              <a:spLocks noChangeArrowheads="1"/>
            </p:cNvSpPr>
            <p:nvPr/>
          </p:nvSpPr>
          <p:spPr bwMode="auto">
            <a:xfrm>
              <a:off x="1680" y="2736"/>
              <a:ext cx="960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r>
                <a:rPr lang="en-US" sz="1800">
                  <a:latin typeface="Arial" pitchFamily="34" charset="0"/>
                </a:rPr>
                <a:t>Voltage or</a:t>
              </a:r>
            </a:p>
            <a:p>
              <a:r>
                <a:rPr lang="en-US" sz="1800">
                  <a:latin typeface="Arial" pitchFamily="34" charset="0"/>
                </a:rPr>
                <a:t>Current</a:t>
              </a:r>
            </a:p>
          </p:txBody>
        </p:sp>
        <p:sp>
          <p:nvSpPr>
            <p:cNvPr id="25" name="Text Box 14"/>
            <p:cNvSpPr txBox="1">
              <a:spLocks noChangeArrowheads="1"/>
            </p:cNvSpPr>
            <p:nvPr/>
          </p:nvSpPr>
          <p:spPr bwMode="auto">
            <a:xfrm>
              <a:off x="3216" y="2736"/>
              <a:ext cx="96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r>
                <a:rPr lang="en-US" sz="1800">
                  <a:latin typeface="Arial" pitchFamily="34" charset="0"/>
                </a:rPr>
                <a:t>ADC Counts</a:t>
              </a:r>
            </a:p>
          </p:txBody>
        </p:sp>
        <p:sp>
          <p:nvSpPr>
            <p:cNvPr id="26" name="Text Box 15"/>
            <p:cNvSpPr txBox="1">
              <a:spLocks noChangeArrowheads="1"/>
            </p:cNvSpPr>
            <p:nvPr/>
          </p:nvSpPr>
          <p:spPr bwMode="auto">
            <a:xfrm>
              <a:off x="4704" y="2716"/>
              <a:ext cx="960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r>
                <a:rPr lang="en-US" sz="1800">
                  <a:latin typeface="Arial" pitchFamily="34" charset="0"/>
                </a:rPr>
                <a:t>Engineering Units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30004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3200" dirty="0">
                <a:latin typeface="+mj-lt"/>
                <a:cs typeface="B Titr" panose="00000700000000000000" pitchFamily="2" charset="-78"/>
              </a:rPr>
              <a:t>Representing an analog signal digitally</a:t>
            </a:r>
            <a:endParaRPr lang="en-US" sz="3200" dirty="0">
              <a:latin typeface="+mj-lt"/>
              <a:cs typeface="B Titr" panose="00000700000000000000" pitchFamily="2" charset="-7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0360" y="6400224"/>
            <a:ext cx="543128" cy="365125"/>
          </a:xfrm>
        </p:spPr>
        <p:txBody>
          <a:bodyPr/>
          <a:lstStyle/>
          <a:p>
            <a:pPr rtl="1"/>
            <a:fld id="{B6F15528-21DE-4FAA-801E-634DDDAF4B2B}" type="slidenum">
              <a:rPr lang="en-US" smtClean="0">
                <a:latin typeface="+mj-lt"/>
              </a:rPr>
              <a:pPr rtl="1"/>
              <a:t>9</a:t>
            </a:fld>
            <a:endParaRPr lang="en-US" dirty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600" y="6412468"/>
            <a:ext cx="685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cs typeface="B Titr" panose="00000700000000000000" pitchFamily="2" charset="-78"/>
              </a:rPr>
              <a:t>Microprocessors and Assembly Language, Fall 2024, AUT, Tehran, Iran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66800"/>
            <a:ext cx="8458200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US" sz="2000" dirty="0"/>
            </a:br>
            <a:br>
              <a:rPr lang="en-US" sz="2000" dirty="0"/>
            </a:b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66800"/>
            <a:ext cx="8458200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How do we represent an analog signal?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As a time series of discrete values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On MCU: read the ADC data register periodically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304800" y="6091535"/>
            <a:ext cx="83058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EECS 373 Design of Microprocessor-Based Systems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514600"/>
            <a:ext cx="7301707" cy="3877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61412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3200" dirty="0">
                <a:latin typeface="+mj-lt"/>
                <a:cs typeface="B Titr" panose="00000700000000000000" pitchFamily="2" charset="-78"/>
              </a:rPr>
              <a:t>Choosing the horizontal range</a:t>
            </a:r>
            <a:endParaRPr lang="en-US" sz="3200" dirty="0">
              <a:latin typeface="+mj-lt"/>
              <a:cs typeface="B Titr" panose="00000700000000000000" pitchFamily="2" charset="-7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0360" y="6400224"/>
            <a:ext cx="543128" cy="365125"/>
          </a:xfrm>
        </p:spPr>
        <p:txBody>
          <a:bodyPr/>
          <a:lstStyle/>
          <a:p>
            <a:pPr rtl="1"/>
            <a:fld id="{B6F15528-21DE-4FAA-801E-634DDDAF4B2B}" type="slidenum">
              <a:rPr lang="en-US" smtClean="0">
                <a:latin typeface="+mj-lt"/>
              </a:rPr>
              <a:pPr rtl="1"/>
              <a:t>10</a:t>
            </a:fld>
            <a:endParaRPr lang="en-US" dirty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600" y="6412468"/>
            <a:ext cx="685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cs typeface="B Titr" panose="00000700000000000000" pitchFamily="2" charset="-78"/>
              </a:rPr>
              <a:t>Microprocessors and Assembly Language, Fall 2024, AUT, Tehran, Iran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66800"/>
            <a:ext cx="8458200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US" sz="2000" dirty="0"/>
            </a:br>
            <a:br>
              <a:rPr lang="en-US" sz="2000" dirty="0"/>
            </a:b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66800"/>
            <a:ext cx="8458200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What do the sample values represent?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Some fraction within the range of values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What range to use?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304800" y="6091535"/>
            <a:ext cx="83058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EECS 373 Design of Microprocessor-Based Systems</a:t>
            </a:r>
          </a:p>
        </p:txBody>
      </p:sp>
      <p:grpSp>
        <p:nvGrpSpPr>
          <p:cNvPr id="9" name="Group 168"/>
          <p:cNvGrpSpPr>
            <a:grpSpLocks/>
          </p:cNvGrpSpPr>
          <p:nvPr/>
        </p:nvGrpSpPr>
        <p:grpSpPr bwMode="auto">
          <a:xfrm>
            <a:off x="646113" y="2667000"/>
            <a:ext cx="3163887" cy="1724025"/>
            <a:chOff x="407" y="1844"/>
            <a:chExt cx="1993" cy="1086"/>
          </a:xfrm>
        </p:grpSpPr>
        <p:graphicFrame>
          <p:nvGraphicFramePr>
            <p:cNvPr id="10" name="Object 8"/>
            <p:cNvGraphicFramePr>
              <a:graphicFrameLocks noChangeAspect="1"/>
            </p:cNvGraphicFramePr>
            <p:nvPr/>
          </p:nvGraphicFramePr>
          <p:xfrm>
            <a:off x="407" y="1872"/>
            <a:ext cx="229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28501" imgH="215806" progId="Equation.3">
                    <p:embed/>
                  </p:oleObj>
                </mc:Choice>
                <mc:Fallback>
                  <p:oleObj name="Equation" r:id="rId6" imgW="228501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" y="1872"/>
                          <a:ext cx="229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Line 29"/>
            <p:cNvSpPr>
              <a:spLocks noChangeShapeType="1"/>
            </p:cNvSpPr>
            <p:nvPr/>
          </p:nvSpPr>
          <p:spPr bwMode="auto">
            <a:xfrm flipV="1">
              <a:off x="672" y="1844"/>
              <a:ext cx="0" cy="8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30"/>
            <p:cNvSpPr>
              <a:spLocks noChangeShapeType="1"/>
            </p:cNvSpPr>
            <p:nvPr/>
          </p:nvSpPr>
          <p:spPr bwMode="auto">
            <a:xfrm>
              <a:off x="672" y="2708"/>
              <a:ext cx="16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5" name="Object 9"/>
            <p:cNvGraphicFramePr>
              <a:graphicFrameLocks noChangeAspect="1"/>
            </p:cNvGraphicFramePr>
            <p:nvPr/>
          </p:nvGraphicFramePr>
          <p:xfrm>
            <a:off x="2273" y="2708"/>
            <a:ext cx="127" cy="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88746" imgH="152136" progId="Equation.3">
                    <p:embed/>
                  </p:oleObj>
                </mc:Choice>
                <mc:Fallback>
                  <p:oleObj name="Equation" r:id="rId8" imgW="88746" imgH="15213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3" y="2708"/>
                          <a:ext cx="127" cy="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ectangle 131"/>
            <p:cNvSpPr>
              <a:spLocks noChangeArrowheads="1"/>
            </p:cNvSpPr>
            <p:nvPr/>
          </p:nvSpPr>
          <p:spPr bwMode="auto">
            <a:xfrm>
              <a:off x="678" y="2400"/>
              <a:ext cx="1674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7" name="Line 132"/>
            <p:cNvSpPr>
              <a:spLocks noChangeShapeType="1"/>
            </p:cNvSpPr>
            <p:nvPr/>
          </p:nvSpPr>
          <p:spPr bwMode="auto">
            <a:xfrm>
              <a:off x="672" y="2400"/>
              <a:ext cx="1680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33"/>
            <p:cNvSpPr>
              <a:spLocks noChangeShapeType="1"/>
            </p:cNvSpPr>
            <p:nvPr/>
          </p:nvSpPr>
          <p:spPr bwMode="auto">
            <a:xfrm>
              <a:off x="672" y="1968"/>
              <a:ext cx="1680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Box 151"/>
            <p:cNvSpPr txBox="1">
              <a:spLocks noChangeArrowheads="1"/>
            </p:cNvSpPr>
            <p:nvPr/>
          </p:nvSpPr>
          <p:spPr bwMode="auto">
            <a:xfrm>
              <a:off x="940" y="2697"/>
              <a:ext cx="112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r>
                <a:rPr lang="en-US" sz="1800"/>
                <a:t>Range Too Small</a:t>
              </a:r>
            </a:p>
          </p:txBody>
        </p:sp>
        <p:graphicFrame>
          <p:nvGraphicFramePr>
            <p:cNvPr id="20" name="Object 10"/>
            <p:cNvGraphicFramePr>
              <a:graphicFrameLocks noChangeAspect="1"/>
            </p:cNvGraphicFramePr>
            <p:nvPr/>
          </p:nvGraphicFramePr>
          <p:xfrm>
            <a:off x="408" y="2256"/>
            <a:ext cx="204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15619" imgH="215619" progId="Equation.3">
                    <p:embed/>
                  </p:oleObj>
                </mc:Choice>
                <mc:Fallback>
                  <p:oleObj name="Equation" r:id="rId10" imgW="215619" imgH="21561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" y="2256"/>
                          <a:ext cx="204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Group 169"/>
          <p:cNvGrpSpPr>
            <a:grpSpLocks/>
          </p:cNvGrpSpPr>
          <p:nvPr/>
        </p:nvGrpSpPr>
        <p:grpSpPr bwMode="auto">
          <a:xfrm>
            <a:off x="5046663" y="2667000"/>
            <a:ext cx="3106737" cy="1665288"/>
            <a:chOff x="3179" y="1872"/>
            <a:chExt cx="1957" cy="1049"/>
          </a:xfrm>
        </p:grpSpPr>
        <p:sp>
          <p:nvSpPr>
            <p:cNvPr id="22" name="Line 62"/>
            <p:cNvSpPr>
              <a:spLocks noChangeShapeType="1"/>
            </p:cNvSpPr>
            <p:nvPr/>
          </p:nvSpPr>
          <p:spPr bwMode="auto">
            <a:xfrm flipV="1">
              <a:off x="3408" y="1872"/>
              <a:ext cx="0" cy="8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63"/>
            <p:cNvSpPr>
              <a:spLocks noChangeShapeType="1"/>
            </p:cNvSpPr>
            <p:nvPr/>
          </p:nvSpPr>
          <p:spPr bwMode="auto">
            <a:xfrm>
              <a:off x="3408" y="2708"/>
              <a:ext cx="16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64"/>
            <p:cNvSpPr>
              <a:spLocks/>
            </p:cNvSpPr>
            <p:nvPr/>
          </p:nvSpPr>
          <p:spPr bwMode="auto">
            <a:xfrm>
              <a:off x="3408" y="2256"/>
              <a:ext cx="1655" cy="48"/>
            </a:xfrm>
            <a:custGeom>
              <a:avLst/>
              <a:gdLst>
                <a:gd name="T0" fmla="*/ 0 w 4368"/>
                <a:gd name="T1" fmla="*/ 0 h 1632"/>
                <a:gd name="T2" fmla="*/ 2 w 4368"/>
                <a:gd name="T3" fmla="*/ 0 h 1632"/>
                <a:gd name="T4" fmla="*/ 5 w 4368"/>
                <a:gd name="T5" fmla="*/ 0 h 1632"/>
                <a:gd name="T6" fmla="*/ 9 w 4368"/>
                <a:gd name="T7" fmla="*/ 0 h 1632"/>
                <a:gd name="T8" fmla="*/ 12 w 4368"/>
                <a:gd name="T9" fmla="*/ 0 h 1632"/>
                <a:gd name="T10" fmla="*/ 13 w 4368"/>
                <a:gd name="T11" fmla="*/ 0 h 16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368"/>
                <a:gd name="T19" fmla="*/ 0 h 1632"/>
                <a:gd name="T20" fmla="*/ 4368 w 4368"/>
                <a:gd name="T21" fmla="*/ 1632 h 16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368" h="1632">
                  <a:moveTo>
                    <a:pt x="0" y="1592"/>
                  </a:moveTo>
                  <a:cubicBezTo>
                    <a:pt x="196" y="804"/>
                    <a:pt x="392" y="16"/>
                    <a:pt x="672" y="8"/>
                  </a:cubicBezTo>
                  <a:cubicBezTo>
                    <a:pt x="952" y="0"/>
                    <a:pt x="1304" y="1536"/>
                    <a:pt x="1680" y="1544"/>
                  </a:cubicBezTo>
                  <a:cubicBezTo>
                    <a:pt x="2056" y="1552"/>
                    <a:pt x="2552" y="72"/>
                    <a:pt x="2928" y="56"/>
                  </a:cubicBezTo>
                  <a:cubicBezTo>
                    <a:pt x="3304" y="40"/>
                    <a:pt x="3696" y="1264"/>
                    <a:pt x="3936" y="1448"/>
                  </a:cubicBezTo>
                  <a:cubicBezTo>
                    <a:pt x="4176" y="1632"/>
                    <a:pt x="4272" y="1396"/>
                    <a:pt x="4368" y="1160"/>
                  </a:cubicBezTo>
                </a:path>
              </a:pathLst>
            </a:custGeom>
            <a:noFill/>
            <a:ln w="9525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5" name="Object 5"/>
            <p:cNvGraphicFramePr>
              <a:graphicFrameLocks noChangeAspect="1"/>
            </p:cNvGraphicFramePr>
            <p:nvPr/>
          </p:nvGraphicFramePr>
          <p:xfrm>
            <a:off x="5009" y="2708"/>
            <a:ext cx="127" cy="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88746" imgH="152136" progId="Equation.3">
                    <p:embed/>
                  </p:oleObj>
                </mc:Choice>
                <mc:Fallback>
                  <p:oleObj name="Equation" r:id="rId12" imgW="88746" imgH="15213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9" y="2708"/>
                          <a:ext cx="127" cy="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Line 143"/>
            <p:cNvSpPr>
              <a:spLocks noChangeShapeType="1"/>
            </p:cNvSpPr>
            <p:nvPr/>
          </p:nvSpPr>
          <p:spPr bwMode="auto">
            <a:xfrm>
              <a:off x="3408" y="2400"/>
              <a:ext cx="1680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144"/>
            <p:cNvSpPr>
              <a:spLocks noChangeShapeType="1"/>
            </p:cNvSpPr>
            <p:nvPr/>
          </p:nvSpPr>
          <p:spPr bwMode="auto">
            <a:xfrm>
              <a:off x="3408" y="1968"/>
              <a:ext cx="1680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Box 152"/>
            <p:cNvSpPr txBox="1">
              <a:spLocks noChangeArrowheads="1"/>
            </p:cNvSpPr>
            <p:nvPr/>
          </p:nvSpPr>
          <p:spPr bwMode="auto">
            <a:xfrm>
              <a:off x="3744" y="2688"/>
              <a:ext cx="99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r>
                <a:rPr lang="en-US" sz="1800" dirty="0"/>
                <a:t>Range Too Big</a:t>
              </a:r>
            </a:p>
          </p:txBody>
        </p:sp>
        <p:graphicFrame>
          <p:nvGraphicFramePr>
            <p:cNvPr id="29" name="Object 6"/>
            <p:cNvGraphicFramePr>
              <a:graphicFrameLocks noChangeAspect="1"/>
            </p:cNvGraphicFramePr>
            <p:nvPr/>
          </p:nvGraphicFramePr>
          <p:xfrm>
            <a:off x="3179" y="1872"/>
            <a:ext cx="229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28501" imgH="215806" progId="Equation.3">
                    <p:embed/>
                  </p:oleObj>
                </mc:Choice>
                <mc:Fallback>
                  <p:oleObj name="Equation" r:id="rId13" imgW="228501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9" y="1872"/>
                          <a:ext cx="229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7"/>
            <p:cNvGraphicFramePr>
              <a:graphicFrameLocks noChangeAspect="1"/>
            </p:cNvGraphicFramePr>
            <p:nvPr/>
          </p:nvGraphicFramePr>
          <p:xfrm>
            <a:off x="3180" y="2256"/>
            <a:ext cx="204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15619" imgH="215619" progId="Equation.3">
                    <p:embed/>
                  </p:oleObj>
                </mc:Choice>
                <mc:Fallback>
                  <p:oleObj name="Equation" r:id="rId14" imgW="215619" imgH="21561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0" y="2256"/>
                          <a:ext cx="204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Group 170"/>
          <p:cNvGrpSpPr>
            <a:grpSpLocks/>
          </p:cNvGrpSpPr>
          <p:nvPr/>
        </p:nvGrpSpPr>
        <p:grpSpPr bwMode="auto">
          <a:xfrm>
            <a:off x="2913063" y="4572000"/>
            <a:ext cx="3106737" cy="1755775"/>
            <a:chOff x="1835" y="3024"/>
            <a:chExt cx="1957" cy="1106"/>
          </a:xfrm>
        </p:grpSpPr>
        <p:sp>
          <p:nvSpPr>
            <p:cNvPr id="32" name="Line 120"/>
            <p:cNvSpPr>
              <a:spLocks noChangeShapeType="1"/>
            </p:cNvSpPr>
            <p:nvPr/>
          </p:nvSpPr>
          <p:spPr bwMode="auto">
            <a:xfrm flipV="1">
              <a:off x="2064" y="3072"/>
              <a:ext cx="0" cy="8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121"/>
            <p:cNvSpPr>
              <a:spLocks noChangeShapeType="1"/>
            </p:cNvSpPr>
            <p:nvPr/>
          </p:nvSpPr>
          <p:spPr bwMode="auto">
            <a:xfrm>
              <a:off x="2064" y="3908"/>
              <a:ext cx="16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122"/>
            <p:cNvSpPr>
              <a:spLocks/>
            </p:cNvSpPr>
            <p:nvPr/>
          </p:nvSpPr>
          <p:spPr bwMode="auto">
            <a:xfrm>
              <a:off x="2064" y="3168"/>
              <a:ext cx="1655" cy="618"/>
            </a:xfrm>
            <a:custGeom>
              <a:avLst/>
              <a:gdLst>
                <a:gd name="T0" fmla="*/ 0 w 4368"/>
                <a:gd name="T1" fmla="*/ 5 h 1632"/>
                <a:gd name="T2" fmla="*/ 2 w 4368"/>
                <a:gd name="T3" fmla="*/ 0 h 1632"/>
                <a:gd name="T4" fmla="*/ 5 w 4368"/>
                <a:gd name="T5" fmla="*/ 5 h 1632"/>
                <a:gd name="T6" fmla="*/ 9 w 4368"/>
                <a:gd name="T7" fmla="*/ 0 h 1632"/>
                <a:gd name="T8" fmla="*/ 12 w 4368"/>
                <a:gd name="T9" fmla="*/ 4 h 1632"/>
                <a:gd name="T10" fmla="*/ 13 w 4368"/>
                <a:gd name="T11" fmla="*/ 3 h 16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368"/>
                <a:gd name="T19" fmla="*/ 0 h 1632"/>
                <a:gd name="T20" fmla="*/ 4368 w 4368"/>
                <a:gd name="T21" fmla="*/ 1632 h 16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368" h="1632">
                  <a:moveTo>
                    <a:pt x="0" y="1592"/>
                  </a:moveTo>
                  <a:cubicBezTo>
                    <a:pt x="196" y="804"/>
                    <a:pt x="392" y="16"/>
                    <a:pt x="672" y="8"/>
                  </a:cubicBezTo>
                  <a:cubicBezTo>
                    <a:pt x="952" y="0"/>
                    <a:pt x="1304" y="1536"/>
                    <a:pt x="1680" y="1544"/>
                  </a:cubicBezTo>
                  <a:cubicBezTo>
                    <a:pt x="2056" y="1552"/>
                    <a:pt x="2552" y="72"/>
                    <a:pt x="2928" y="56"/>
                  </a:cubicBezTo>
                  <a:cubicBezTo>
                    <a:pt x="3304" y="40"/>
                    <a:pt x="3696" y="1264"/>
                    <a:pt x="3936" y="1448"/>
                  </a:cubicBezTo>
                  <a:cubicBezTo>
                    <a:pt x="4176" y="1632"/>
                    <a:pt x="4272" y="1396"/>
                    <a:pt x="4368" y="1160"/>
                  </a:cubicBezTo>
                </a:path>
              </a:pathLst>
            </a:custGeom>
            <a:noFill/>
            <a:ln w="9525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35" name="Object 2"/>
            <p:cNvGraphicFramePr>
              <a:graphicFrameLocks noChangeAspect="1"/>
            </p:cNvGraphicFramePr>
            <p:nvPr/>
          </p:nvGraphicFramePr>
          <p:xfrm>
            <a:off x="3665" y="3908"/>
            <a:ext cx="127" cy="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88746" imgH="152136" progId="Equation.3">
                    <p:embed/>
                  </p:oleObj>
                </mc:Choice>
                <mc:Fallback>
                  <p:oleObj name="Equation" r:id="rId15" imgW="88746" imgH="15213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5" y="3908"/>
                          <a:ext cx="127" cy="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Line 145"/>
            <p:cNvSpPr>
              <a:spLocks noChangeShapeType="1"/>
            </p:cNvSpPr>
            <p:nvPr/>
          </p:nvSpPr>
          <p:spPr bwMode="auto">
            <a:xfrm>
              <a:off x="2064" y="3840"/>
              <a:ext cx="1680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146"/>
            <p:cNvSpPr>
              <a:spLocks noChangeShapeType="1"/>
            </p:cNvSpPr>
            <p:nvPr/>
          </p:nvSpPr>
          <p:spPr bwMode="auto">
            <a:xfrm>
              <a:off x="2064" y="3120"/>
              <a:ext cx="1680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 Box 153"/>
            <p:cNvSpPr txBox="1">
              <a:spLocks noChangeArrowheads="1"/>
            </p:cNvSpPr>
            <p:nvPr/>
          </p:nvSpPr>
          <p:spPr bwMode="auto">
            <a:xfrm>
              <a:off x="2496" y="3897"/>
              <a:ext cx="81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r>
                <a:rPr lang="en-US" sz="1800"/>
                <a:t>Ideal Range</a:t>
              </a:r>
            </a:p>
          </p:txBody>
        </p:sp>
        <p:graphicFrame>
          <p:nvGraphicFramePr>
            <p:cNvPr id="39" name="Object 3"/>
            <p:cNvGraphicFramePr>
              <a:graphicFrameLocks noChangeAspect="1"/>
            </p:cNvGraphicFramePr>
            <p:nvPr/>
          </p:nvGraphicFramePr>
          <p:xfrm>
            <a:off x="1835" y="3024"/>
            <a:ext cx="229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28501" imgH="215806" progId="Equation.3">
                    <p:embed/>
                  </p:oleObj>
                </mc:Choice>
                <mc:Fallback>
                  <p:oleObj name="Equation" r:id="rId16" imgW="228501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5" y="3024"/>
                          <a:ext cx="229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4"/>
            <p:cNvGraphicFramePr>
              <a:graphicFrameLocks noChangeAspect="1"/>
            </p:cNvGraphicFramePr>
            <p:nvPr/>
          </p:nvGraphicFramePr>
          <p:xfrm>
            <a:off x="1836" y="3732"/>
            <a:ext cx="204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15619" imgH="215619" progId="Equation.3">
                    <p:embed/>
                  </p:oleObj>
                </mc:Choice>
                <mc:Fallback>
                  <p:oleObj name="Equation" r:id="rId17" imgW="215619" imgH="21561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6" y="3732"/>
                          <a:ext cx="204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" name="Freeform 31"/>
          <p:cNvSpPr>
            <a:spLocks/>
          </p:cNvSpPr>
          <p:nvPr/>
        </p:nvSpPr>
        <p:spPr bwMode="auto">
          <a:xfrm>
            <a:off x="1066800" y="2514600"/>
            <a:ext cx="2627313" cy="1677988"/>
          </a:xfrm>
          <a:custGeom>
            <a:avLst/>
            <a:gdLst>
              <a:gd name="T0" fmla="*/ 0 w 4368"/>
              <a:gd name="T1" fmla="*/ 2147483647 h 1632"/>
              <a:gd name="T2" fmla="*/ 2147483647 w 4368"/>
              <a:gd name="T3" fmla="*/ 2147483647 h 1632"/>
              <a:gd name="T4" fmla="*/ 2147483647 w 4368"/>
              <a:gd name="T5" fmla="*/ 2147483647 h 1632"/>
              <a:gd name="T6" fmla="*/ 2147483647 w 4368"/>
              <a:gd name="T7" fmla="*/ 2147483647 h 1632"/>
              <a:gd name="T8" fmla="*/ 2147483647 w 4368"/>
              <a:gd name="T9" fmla="*/ 2147483647 h 1632"/>
              <a:gd name="T10" fmla="*/ 2147483647 w 4368"/>
              <a:gd name="T11" fmla="*/ 2147483647 h 163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368"/>
              <a:gd name="T19" fmla="*/ 0 h 1632"/>
              <a:gd name="T20" fmla="*/ 4368 w 4368"/>
              <a:gd name="T21" fmla="*/ 1632 h 163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368" h="1632">
                <a:moveTo>
                  <a:pt x="0" y="1592"/>
                </a:moveTo>
                <a:cubicBezTo>
                  <a:pt x="196" y="804"/>
                  <a:pt x="392" y="16"/>
                  <a:pt x="672" y="8"/>
                </a:cubicBezTo>
                <a:cubicBezTo>
                  <a:pt x="952" y="0"/>
                  <a:pt x="1304" y="1536"/>
                  <a:pt x="1680" y="1544"/>
                </a:cubicBezTo>
                <a:cubicBezTo>
                  <a:pt x="2056" y="1552"/>
                  <a:pt x="2552" y="72"/>
                  <a:pt x="2928" y="56"/>
                </a:cubicBezTo>
                <a:cubicBezTo>
                  <a:pt x="3304" y="40"/>
                  <a:pt x="3696" y="1264"/>
                  <a:pt x="3936" y="1448"/>
                </a:cubicBezTo>
                <a:cubicBezTo>
                  <a:pt x="4176" y="1632"/>
                  <a:pt x="4272" y="1396"/>
                  <a:pt x="4368" y="1160"/>
                </a:cubicBezTo>
              </a:path>
            </a:pathLst>
          </a:custGeom>
          <a:noFill/>
          <a:ln w="9525">
            <a:solidFill>
              <a:srgbClr val="33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4559770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3200" dirty="0">
                <a:latin typeface="+mj-lt"/>
                <a:cs typeface="B Titr" panose="00000700000000000000" pitchFamily="2" charset="-78"/>
              </a:rPr>
              <a:t>Choosing the horizontal granularity</a:t>
            </a:r>
            <a:endParaRPr lang="en-US" sz="3200" dirty="0">
              <a:latin typeface="+mj-lt"/>
              <a:cs typeface="B Titr" panose="00000700000000000000" pitchFamily="2" charset="-7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0360" y="6400224"/>
            <a:ext cx="543128" cy="365125"/>
          </a:xfrm>
        </p:spPr>
        <p:txBody>
          <a:bodyPr/>
          <a:lstStyle/>
          <a:p>
            <a:pPr rtl="1"/>
            <a:fld id="{B6F15528-21DE-4FAA-801E-634DDDAF4B2B}" type="slidenum">
              <a:rPr lang="en-US" smtClean="0">
                <a:latin typeface="+mj-lt"/>
              </a:rPr>
              <a:pPr rtl="1"/>
              <a:t>11</a:t>
            </a:fld>
            <a:endParaRPr lang="en-US" dirty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600" y="6412468"/>
            <a:ext cx="685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cs typeface="B Titr" panose="00000700000000000000" pitchFamily="2" charset="-78"/>
              </a:rPr>
              <a:t>Microprocessors and Assembly Language, Fall 2024, AUT, Tehran, Iran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66800"/>
            <a:ext cx="8458200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US" sz="2000" dirty="0"/>
            </a:br>
            <a:br>
              <a:rPr lang="en-US" sz="2000" dirty="0"/>
            </a:b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66800"/>
            <a:ext cx="8458200" cy="6047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Resolution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Number of discrete values that represent a range of analog values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12-bit ADC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4096 values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Range / 4096 = Step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	Larger range </a:t>
            </a:r>
            <a:r>
              <a:rPr lang="en-US" sz="2000" b="1" dirty="0">
                <a:solidFill>
                  <a:srgbClr val="FF0000"/>
                </a:solidFill>
                <a:sym typeface="Wingdings" pitchFamily="2" charset="2"/>
              </a:rPr>
              <a:t></a:t>
            </a:r>
            <a:r>
              <a:rPr lang="en-US" sz="2000" b="1" dirty="0">
                <a:solidFill>
                  <a:srgbClr val="FF0000"/>
                </a:solidFill>
              </a:rPr>
              <a:t>  less information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Quantization Error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How far off discrete value is 	</a:t>
            </a:r>
          </a:p>
          <a:p>
            <a:pPr lvl="1">
              <a:lnSpc>
                <a:spcPct val="150000"/>
              </a:lnSpc>
            </a:pPr>
            <a:r>
              <a:rPr lang="en-US" sz="2000" b="1" dirty="0"/>
              <a:t>	from actual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½ LSB </a:t>
            </a:r>
            <a:r>
              <a:rPr lang="en-US" sz="2000" b="1" dirty="0">
                <a:sym typeface="Wingdings" pitchFamily="2" charset="2"/>
              </a:rPr>
              <a:t></a:t>
            </a:r>
            <a:r>
              <a:rPr lang="en-US" sz="2000" b="1" dirty="0"/>
              <a:t> Range / 8192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	Larger range </a:t>
            </a:r>
            <a:r>
              <a:rPr lang="en-US" sz="2000" b="1" dirty="0">
                <a:solidFill>
                  <a:srgbClr val="FF0000"/>
                </a:solidFill>
                <a:sym typeface="Wingdings" pitchFamily="2" charset="2"/>
              </a:rPr>
              <a:t></a:t>
            </a:r>
            <a:r>
              <a:rPr lang="en-US" sz="2000" b="1" dirty="0">
                <a:solidFill>
                  <a:srgbClr val="FF0000"/>
                </a:solidFill>
              </a:rPr>
              <a:t> larger error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304800" y="6091535"/>
            <a:ext cx="83058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EECS 373 Design of Microprocessor-Based Systems</a:t>
            </a:r>
          </a:p>
        </p:txBody>
      </p:sp>
      <p:pic>
        <p:nvPicPr>
          <p:cNvPr id="41" name="Picture 41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990"/>
          <a:stretch/>
        </p:blipFill>
        <p:spPr bwMode="auto">
          <a:xfrm>
            <a:off x="5330242" y="2060351"/>
            <a:ext cx="3432758" cy="4161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3705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3200" dirty="0">
                <a:latin typeface="+mj-lt"/>
                <a:cs typeface="B Titr" panose="00000700000000000000" pitchFamily="2" charset="-78"/>
              </a:rPr>
              <a:t>Choosing the sample rate</a:t>
            </a:r>
            <a:endParaRPr lang="en-US" sz="3200" dirty="0">
              <a:latin typeface="+mj-lt"/>
              <a:cs typeface="B Titr" panose="00000700000000000000" pitchFamily="2" charset="-7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0360" y="6400224"/>
            <a:ext cx="543128" cy="365125"/>
          </a:xfrm>
        </p:spPr>
        <p:txBody>
          <a:bodyPr/>
          <a:lstStyle/>
          <a:p>
            <a:pPr rtl="1"/>
            <a:fld id="{B6F15528-21DE-4FAA-801E-634DDDAF4B2B}" type="slidenum">
              <a:rPr lang="en-US" smtClean="0">
                <a:latin typeface="+mj-lt"/>
              </a:rPr>
              <a:pPr rtl="1"/>
              <a:t>12</a:t>
            </a:fld>
            <a:endParaRPr lang="en-US" dirty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600" y="6412468"/>
            <a:ext cx="685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cs typeface="B Titr" panose="00000700000000000000" pitchFamily="2" charset="-78"/>
              </a:rPr>
              <a:t>Microprocessors and Assembly Language, Fall 2024, AUT, Tehran, Iran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66800"/>
            <a:ext cx="8458200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US" sz="2000" dirty="0"/>
            </a:br>
            <a:br>
              <a:rPr lang="en-US" sz="2000" dirty="0"/>
            </a:b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66800"/>
            <a:ext cx="8458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What sample rate do we need?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Too little: we can’t reconstruct the signal we care about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Too much: waste computation, energy, resources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  <p:sp>
        <p:nvSpPr>
          <p:cNvPr id="4" name="Rectangle 3"/>
          <p:cNvSpPr/>
          <p:nvPr/>
        </p:nvSpPr>
        <p:spPr>
          <a:xfrm>
            <a:off x="304800" y="6091535"/>
            <a:ext cx="83058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EECS 373 Design of Microprocessor-Based Systems</a:t>
            </a:r>
          </a:p>
        </p:txBody>
      </p:sp>
      <p:sp>
        <p:nvSpPr>
          <p:cNvPr id="10" name="Line 42"/>
          <p:cNvSpPr>
            <a:spLocks noChangeShapeType="1"/>
          </p:cNvSpPr>
          <p:nvPr/>
        </p:nvSpPr>
        <p:spPr bwMode="auto">
          <a:xfrm flipV="1">
            <a:off x="1447800" y="4724400"/>
            <a:ext cx="0" cy="114300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48"/>
          <p:cNvSpPr>
            <a:spLocks noChangeShapeType="1"/>
          </p:cNvSpPr>
          <p:nvPr/>
        </p:nvSpPr>
        <p:spPr bwMode="auto">
          <a:xfrm flipV="1">
            <a:off x="3276600" y="4876800"/>
            <a:ext cx="0" cy="99060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54"/>
          <p:cNvSpPr>
            <a:spLocks noChangeShapeType="1"/>
          </p:cNvSpPr>
          <p:nvPr/>
        </p:nvSpPr>
        <p:spPr bwMode="auto">
          <a:xfrm flipV="1">
            <a:off x="5105400" y="4038600"/>
            <a:ext cx="0" cy="182880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60"/>
          <p:cNvSpPr>
            <a:spLocks noChangeShapeType="1"/>
          </p:cNvSpPr>
          <p:nvPr/>
        </p:nvSpPr>
        <p:spPr bwMode="auto">
          <a:xfrm flipV="1">
            <a:off x="6934200" y="4648200"/>
            <a:ext cx="0" cy="121920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6" name="Object 2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04990585"/>
              </p:ext>
            </p:extLst>
          </p:nvPr>
        </p:nvGraphicFramePr>
        <p:xfrm>
          <a:off x="5105400" y="4953000"/>
          <a:ext cx="1676400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34725" imgH="241195" progId="Equation.3">
                  <p:embed/>
                </p:oleObj>
              </mc:Choice>
              <mc:Fallback>
                <p:oleObj name="Equation" r:id="rId5" imgW="634725" imgH="241195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953000"/>
                        <a:ext cx="1676400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65"/>
          <p:cNvGrpSpPr>
            <a:grpSpLocks/>
          </p:cNvGrpSpPr>
          <p:nvPr/>
        </p:nvGrpSpPr>
        <p:grpSpPr bwMode="auto">
          <a:xfrm>
            <a:off x="1219200" y="2362200"/>
            <a:ext cx="7239000" cy="3860800"/>
            <a:chOff x="768" y="1440"/>
            <a:chExt cx="4560" cy="2432"/>
          </a:xfrm>
        </p:grpSpPr>
        <p:sp>
          <p:nvSpPr>
            <p:cNvPr id="18" name="Line 66"/>
            <p:cNvSpPr>
              <a:spLocks noChangeShapeType="1"/>
            </p:cNvSpPr>
            <p:nvPr/>
          </p:nvSpPr>
          <p:spPr bwMode="auto">
            <a:xfrm flipV="1">
              <a:off x="768" y="1440"/>
              <a:ext cx="0" cy="22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67"/>
            <p:cNvSpPr>
              <a:spLocks noChangeShapeType="1"/>
            </p:cNvSpPr>
            <p:nvPr/>
          </p:nvSpPr>
          <p:spPr bwMode="auto">
            <a:xfrm>
              <a:off x="768" y="3648"/>
              <a:ext cx="43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68"/>
            <p:cNvSpPr>
              <a:spLocks/>
            </p:cNvSpPr>
            <p:nvPr/>
          </p:nvSpPr>
          <p:spPr bwMode="auto">
            <a:xfrm>
              <a:off x="768" y="1912"/>
              <a:ext cx="4368" cy="1632"/>
            </a:xfrm>
            <a:custGeom>
              <a:avLst/>
              <a:gdLst>
                <a:gd name="T0" fmla="*/ 0 w 4368"/>
                <a:gd name="T1" fmla="*/ 1592 h 1632"/>
                <a:gd name="T2" fmla="*/ 672 w 4368"/>
                <a:gd name="T3" fmla="*/ 8 h 1632"/>
                <a:gd name="T4" fmla="*/ 1680 w 4368"/>
                <a:gd name="T5" fmla="*/ 1544 h 1632"/>
                <a:gd name="T6" fmla="*/ 2928 w 4368"/>
                <a:gd name="T7" fmla="*/ 56 h 1632"/>
                <a:gd name="T8" fmla="*/ 3936 w 4368"/>
                <a:gd name="T9" fmla="*/ 1448 h 1632"/>
                <a:gd name="T10" fmla="*/ 4368 w 4368"/>
                <a:gd name="T11" fmla="*/ 1160 h 16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368"/>
                <a:gd name="T19" fmla="*/ 0 h 1632"/>
                <a:gd name="T20" fmla="*/ 4368 w 4368"/>
                <a:gd name="T21" fmla="*/ 1632 h 16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368" h="1632">
                  <a:moveTo>
                    <a:pt x="0" y="1592"/>
                  </a:moveTo>
                  <a:cubicBezTo>
                    <a:pt x="196" y="804"/>
                    <a:pt x="392" y="16"/>
                    <a:pt x="672" y="8"/>
                  </a:cubicBezTo>
                  <a:cubicBezTo>
                    <a:pt x="952" y="0"/>
                    <a:pt x="1304" y="1536"/>
                    <a:pt x="1680" y="1544"/>
                  </a:cubicBezTo>
                  <a:cubicBezTo>
                    <a:pt x="2056" y="1552"/>
                    <a:pt x="2552" y="72"/>
                    <a:pt x="2928" y="56"/>
                  </a:cubicBezTo>
                  <a:cubicBezTo>
                    <a:pt x="3304" y="40"/>
                    <a:pt x="3696" y="1264"/>
                    <a:pt x="3936" y="1448"/>
                  </a:cubicBezTo>
                  <a:cubicBezTo>
                    <a:pt x="4176" y="1632"/>
                    <a:pt x="4272" y="1396"/>
                    <a:pt x="4368" y="1160"/>
                  </a:cubicBezTo>
                </a:path>
              </a:pathLst>
            </a:custGeom>
            <a:noFill/>
            <a:ln w="9525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1" name="Object 3"/>
            <p:cNvGraphicFramePr>
              <a:graphicFrameLocks noChangeAspect="1"/>
            </p:cNvGraphicFramePr>
            <p:nvPr/>
          </p:nvGraphicFramePr>
          <p:xfrm>
            <a:off x="4272" y="2208"/>
            <a:ext cx="528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342751" imgH="203112" progId="Equation.3">
                    <p:embed/>
                  </p:oleObj>
                </mc:Choice>
                <mc:Fallback>
                  <p:oleObj name="Equation" r:id="rId7" imgW="342751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2208"/>
                          <a:ext cx="528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4"/>
            <p:cNvGraphicFramePr>
              <a:graphicFrameLocks noChangeAspect="1"/>
            </p:cNvGraphicFramePr>
            <p:nvPr/>
          </p:nvGraphicFramePr>
          <p:xfrm>
            <a:off x="4992" y="3648"/>
            <a:ext cx="336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88746" imgH="152136" progId="Equation.3">
                    <p:embed/>
                  </p:oleObj>
                </mc:Choice>
                <mc:Fallback>
                  <p:oleObj name="Equation" r:id="rId9" imgW="88746" imgH="15213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2" y="3648"/>
                          <a:ext cx="336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Line 71"/>
          <p:cNvSpPr>
            <a:spLocks noChangeShapeType="1"/>
          </p:cNvSpPr>
          <p:nvPr/>
        </p:nvSpPr>
        <p:spPr bwMode="auto">
          <a:xfrm>
            <a:off x="1447800" y="4724400"/>
            <a:ext cx="1828800" cy="15240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72"/>
          <p:cNvSpPr>
            <a:spLocks noChangeShapeType="1"/>
          </p:cNvSpPr>
          <p:nvPr/>
        </p:nvSpPr>
        <p:spPr bwMode="auto">
          <a:xfrm flipV="1">
            <a:off x="3276600" y="4038600"/>
            <a:ext cx="1828800" cy="83820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73"/>
          <p:cNvSpPr>
            <a:spLocks noChangeShapeType="1"/>
          </p:cNvSpPr>
          <p:nvPr/>
        </p:nvSpPr>
        <p:spPr bwMode="auto">
          <a:xfrm>
            <a:off x="5105400" y="4038600"/>
            <a:ext cx="1828800" cy="60960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4614636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j-lt"/>
                <a:cs typeface="B Titr" panose="00000700000000000000" pitchFamily="2" charset="-78"/>
              </a:rPr>
              <a:t>Conversion: ADC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0360" y="6400224"/>
            <a:ext cx="543128" cy="365125"/>
          </a:xfrm>
        </p:spPr>
        <p:txBody>
          <a:bodyPr/>
          <a:lstStyle/>
          <a:p>
            <a:pPr rtl="1"/>
            <a:fld id="{B6F15528-21DE-4FAA-801E-634DDDAF4B2B}" type="slidenum">
              <a:rPr lang="en-US" smtClean="0">
                <a:latin typeface="+mj-lt"/>
              </a:rPr>
              <a:pPr rtl="1"/>
              <a:t>13</a:t>
            </a:fld>
            <a:endParaRPr lang="en-US" dirty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600" y="6412468"/>
            <a:ext cx="685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cs typeface="B Titr" panose="00000700000000000000" pitchFamily="2" charset="-78"/>
              </a:rPr>
              <a:t>Microprocessors and Assembly Language, Fall 2024, AUT, Tehran, Iran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66800"/>
            <a:ext cx="8458200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US" sz="2000" dirty="0"/>
            </a:br>
            <a:br>
              <a:rPr lang="en-US" sz="2000" dirty="0"/>
            </a:b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66800"/>
            <a:ext cx="84582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Converting between voltages, ADC counts, and engineering units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Converting: ADC counts </a:t>
            </a:r>
            <a:r>
              <a:rPr lang="en-US" sz="2000" b="1" dirty="0">
                <a:sym typeface="Wingdings" pitchFamily="2" charset="2"/>
              </a:rPr>
              <a:t></a:t>
            </a:r>
            <a:r>
              <a:rPr lang="en-US" sz="2000" b="1" dirty="0"/>
              <a:t> Voltage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Converting: Voltage </a:t>
            </a:r>
            <a:r>
              <a:rPr lang="en-US" sz="2000" b="1" dirty="0">
                <a:sym typeface="Wingdings" pitchFamily="2" charset="2"/>
              </a:rPr>
              <a:t> </a:t>
            </a:r>
            <a:r>
              <a:rPr lang="en-US" sz="2000" b="1" dirty="0"/>
              <a:t>Engineering Units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  <p:graphicFrame>
        <p:nvGraphicFramePr>
          <p:cNvPr id="26" name="Object 2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126294762"/>
              </p:ext>
            </p:extLst>
          </p:nvPr>
        </p:nvGraphicFramePr>
        <p:xfrm>
          <a:off x="3522662" y="2971800"/>
          <a:ext cx="53975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55446" imgH="228501" progId="Equation.3">
                  <p:embed/>
                </p:oleObj>
              </mc:Choice>
              <mc:Fallback>
                <p:oleObj name="Equation" r:id="rId5" imgW="355446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2662" y="2971800"/>
                        <a:ext cx="53975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Line 10"/>
          <p:cNvSpPr>
            <a:spLocks noChangeShapeType="1"/>
          </p:cNvSpPr>
          <p:nvPr/>
        </p:nvSpPr>
        <p:spPr bwMode="auto">
          <a:xfrm flipV="1">
            <a:off x="2057400" y="2286000"/>
            <a:ext cx="0" cy="1327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11"/>
          <p:cNvSpPr>
            <a:spLocks noChangeShapeType="1"/>
          </p:cNvSpPr>
          <p:nvPr/>
        </p:nvSpPr>
        <p:spPr bwMode="auto">
          <a:xfrm>
            <a:off x="2057400" y="3613150"/>
            <a:ext cx="25987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Freeform 12"/>
          <p:cNvSpPr>
            <a:spLocks/>
          </p:cNvSpPr>
          <p:nvPr/>
        </p:nvSpPr>
        <p:spPr bwMode="auto">
          <a:xfrm>
            <a:off x="2057400" y="2590800"/>
            <a:ext cx="2627312" cy="676275"/>
          </a:xfrm>
          <a:custGeom>
            <a:avLst/>
            <a:gdLst>
              <a:gd name="T0" fmla="*/ 0 w 4368"/>
              <a:gd name="T1" fmla="*/ 2147483647 h 1632"/>
              <a:gd name="T2" fmla="*/ 2147483647 w 4368"/>
              <a:gd name="T3" fmla="*/ 2147483647 h 1632"/>
              <a:gd name="T4" fmla="*/ 2147483647 w 4368"/>
              <a:gd name="T5" fmla="*/ 2147483647 h 1632"/>
              <a:gd name="T6" fmla="*/ 2147483647 w 4368"/>
              <a:gd name="T7" fmla="*/ 2147483647 h 1632"/>
              <a:gd name="T8" fmla="*/ 2147483647 w 4368"/>
              <a:gd name="T9" fmla="*/ 2147483647 h 1632"/>
              <a:gd name="T10" fmla="*/ 2147483647 w 4368"/>
              <a:gd name="T11" fmla="*/ 2147483647 h 163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368"/>
              <a:gd name="T19" fmla="*/ 0 h 1632"/>
              <a:gd name="T20" fmla="*/ 4368 w 4368"/>
              <a:gd name="T21" fmla="*/ 1632 h 163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368" h="1632">
                <a:moveTo>
                  <a:pt x="0" y="1592"/>
                </a:moveTo>
                <a:cubicBezTo>
                  <a:pt x="196" y="804"/>
                  <a:pt x="392" y="16"/>
                  <a:pt x="672" y="8"/>
                </a:cubicBezTo>
                <a:cubicBezTo>
                  <a:pt x="952" y="0"/>
                  <a:pt x="1304" y="1536"/>
                  <a:pt x="1680" y="1544"/>
                </a:cubicBezTo>
                <a:cubicBezTo>
                  <a:pt x="2056" y="1552"/>
                  <a:pt x="2552" y="72"/>
                  <a:pt x="2928" y="56"/>
                </a:cubicBezTo>
                <a:cubicBezTo>
                  <a:pt x="3304" y="40"/>
                  <a:pt x="3696" y="1264"/>
                  <a:pt x="3936" y="1448"/>
                </a:cubicBezTo>
                <a:cubicBezTo>
                  <a:pt x="4176" y="1632"/>
                  <a:pt x="4272" y="1396"/>
                  <a:pt x="4368" y="1160"/>
                </a:cubicBezTo>
              </a:path>
            </a:pathLst>
          </a:custGeom>
          <a:noFill/>
          <a:ln w="9525">
            <a:solidFill>
              <a:srgbClr val="33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9499276"/>
              </p:ext>
            </p:extLst>
          </p:nvPr>
        </p:nvGraphicFramePr>
        <p:xfrm>
          <a:off x="4598987" y="3613150"/>
          <a:ext cx="201613" cy="134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8746" imgH="152136" progId="Equation.3">
                  <p:embed/>
                </p:oleObj>
              </mc:Choice>
              <mc:Fallback>
                <p:oleObj name="Equation" r:id="rId7" imgW="88746" imgH="1521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8987" y="3613150"/>
                        <a:ext cx="201613" cy="134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Line 14"/>
          <p:cNvSpPr>
            <a:spLocks noChangeShapeType="1"/>
          </p:cNvSpPr>
          <p:nvPr/>
        </p:nvSpPr>
        <p:spPr bwMode="auto">
          <a:xfrm>
            <a:off x="2057400" y="3429000"/>
            <a:ext cx="2667000" cy="0"/>
          </a:xfrm>
          <a:prstGeom prst="line">
            <a:avLst/>
          </a:prstGeom>
          <a:noFill/>
          <a:ln w="9525">
            <a:solidFill>
              <a:srgbClr val="CC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15"/>
          <p:cNvSpPr>
            <a:spLocks noChangeShapeType="1"/>
          </p:cNvSpPr>
          <p:nvPr/>
        </p:nvSpPr>
        <p:spPr bwMode="auto">
          <a:xfrm>
            <a:off x="2057400" y="2514600"/>
            <a:ext cx="2667000" cy="0"/>
          </a:xfrm>
          <a:prstGeom prst="line">
            <a:avLst/>
          </a:prstGeom>
          <a:noFill/>
          <a:ln w="9525">
            <a:solidFill>
              <a:srgbClr val="CC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9892492"/>
              </p:ext>
            </p:extLst>
          </p:nvPr>
        </p:nvGraphicFramePr>
        <p:xfrm>
          <a:off x="1693862" y="2324100"/>
          <a:ext cx="363538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8501" imgH="215806" progId="Equation.3">
                  <p:embed/>
                </p:oleObj>
              </mc:Choice>
              <mc:Fallback>
                <p:oleObj name="Equation" r:id="rId9" imgW="228501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3862" y="2324100"/>
                        <a:ext cx="363538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4740677"/>
              </p:ext>
            </p:extLst>
          </p:nvPr>
        </p:nvGraphicFramePr>
        <p:xfrm>
          <a:off x="1695450" y="3257550"/>
          <a:ext cx="3238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15619" imgH="215619" progId="Equation.3">
                  <p:embed/>
                </p:oleObj>
              </mc:Choice>
              <mc:Fallback>
                <p:oleObj name="Equation" r:id="rId11" imgW="215619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5450" y="3257550"/>
                        <a:ext cx="323850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Line 21"/>
          <p:cNvSpPr>
            <a:spLocks noChangeShapeType="1"/>
          </p:cNvSpPr>
          <p:nvPr/>
        </p:nvSpPr>
        <p:spPr bwMode="auto">
          <a:xfrm flipV="1">
            <a:off x="3522662" y="2819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6" name="Object 7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506180742"/>
              </p:ext>
            </p:extLst>
          </p:nvPr>
        </p:nvGraphicFramePr>
        <p:xfrm>
          <a:off x="1693862" y="2774950"/>
          <a:ext cx="29210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90500" imgH="228600" progId="Equation.3">
                  <p:embed/>
                </p:oleObj>
              </mc:Choice>
              <mc:Fallback>
                <p:oleObj name="Equation" r:id="rId13" imgW="1905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3862" y="2774950"/>
                        <a:ext cx="29210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5334000" y="2286000"/>
          <a:ext cx="2743200" cy="148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549400" imgH="838200" progId="Equation.3">
                  <p:embed/>
                </p:oleObj>
              </mc:Choice>
              <mc:Fallback>
                <p:oleObj name="Equation" r:id="rId15" imgW="1549400" imgH="838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286000"/>
                        <a:ext cx="2743200" cy="148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594255"/>
              </p:ext>
            </p:extLst>
          </p:nvPr>
        </p:nvGraphicFramePr>
        <p:xfrm>
          <a:off x="2743200" y="4995863"/>
          <a:ext cx="3581400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222500" imgH="635000" progId="Equation.3">
                  <p:embed/>
                </p:oleObj>
              </mc:Choice>
              <mc:Fallback>
                <p:oleObj name="Equation" r:id="rId17" imgW="2222500" imgH="635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995863"/>
                        <a:ext cx="3581400" cy="1023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36"/>
          <p:cNvSpPr/>
          <p:nvPr/>
        </p:nvSpPr>
        <p:spPr>
          <a:xfrm>
            <a:off x="304800" y="6091535"/>
            <a:ext cx="83058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EECS 373 Design of Microprocessor-Based Systems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0141883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j-lt"/>
                <a:cs typeface="B Titr" panose="00000700000000000000" pitchFamily="2" charset="-78"/>
              </a:rPr>
              <a:t>Conversion: DAC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0360" y="6400224"/>
            <a:ext cx="543128" cy="365125"/>
          </a:xfrm>
        </p:spPr>
        <p:txBody>
          <a:bodyPr/>
          <a:lstStyle/>
          <a:p>
            <a:pPr rtl="1"/>
            <a:fld id="{B6F15528-21DE-4FAA-801E-634DDDAF4B2B}" type="slidenum">
              <a:rPr lang="en-US" smtClean="0">
                <a:latin typeface="+mj-lt"/>
              </a:rPr>
              <a:pPr rtl="1"/>
              <a:t>14</a:t>
            </a:fld>
            <a:endParaRPr lang="en-US" dirty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600" y="6412468"/>
            <a:ext cx="685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cs typeface="B Titr" panose="00000700000000000000" pitchFamily="2" charset="-78"/>
              </a:rPr>
              <a:t>Microprocessors and Assembly Language, Fall 2024, AUT, Tehran, Iran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66800"/>
            <a:ext cx="8458200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US" sz="2000" dirty="0"/>
            </a:br>
            <a:br>
              <a:rPr lang="en-US" sz="2000" dirty="0"/>
            </a:b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66800"/>
            <a:ext cx="84582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DAC 1:  Voltage Divider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7787" y="1447800"/>
            <a:ext cx="5195758" cy="462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5" name="Rectangle 124"/>
          <p:cNvSpPr/>
          <p:nvPr/>
        </p:nvSpPr>
        <p:spPr>
          <a:xfrm>
            <a:off x="304800" y="6091535"/>
            <a:ext cx="83058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EECS 373 Design of Microprocessor-Based Systems</a:t>
            </a:r>
          </a:p>
        </p:txBody>
      </p:sp>
    </p:spTree>
    <p:extLst>
      <p:ext uri="{BB962C8B-B14F-4D97-AF65-F5344CB8AC3E}">
        <p14:creationId xmlns:p14="http://schemas.microsoft.com/office/powerpoint/2010/main" val="12546587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j-lt"/>
                <a:cs typeface="B Titr" panose="00000700000000000000" pitchFamily="2" charset="-78"/>
              </a:rPr>
              <a:t>Conversion: DAC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0360" y="6400224"/>
            <a:ext cx="543128" cy="365125"/>
          </a:xfrm>
        </p:spPr>
        <p:txBody>
          <a:bodyPr/>
          <a:lstStyle/>
          <a:p>
            <a:pPr rtl="1"/>
            <a:fld id="{B6F15528-21DE-4FAA-801E-634DDDAF4B2B}" type="slidenum">
              <a:rPr lang="en-US" smtClean="0">
                <a:latin typeface="+mj-lt"/>
              </a:rPr>
              <a:pPr rtl="1"/>
              <a:t>15</a:t>
            </a:fld>
            <a:endParaRPr lang="en-US" dirty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600" y="6412468"/>
            <a:ext cx="685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cs typeface="B Titr" panose="00000700000000000000" pitchFamily="2" charset="-78"/>
              </a:rPr>
              <a:t>Microprocessors and Assembly Language, Fall 2024, AUT, Tehran, Iran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66800"/>
            <a:ext cx="8458200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US" sz="2000" dirty="0"/>
            </a:br>
            <a:br>
              <a:rPr lang="en-US" sz="2000" dirty="0"/>
            </a:b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66800"/>
            <a:ext cx="8458200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DAC 2:  R/2R Ladder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487" y="1676400"/>
            <a:ext cx="6651625" cy="460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/>
        </p:nvSpPr>
        <p:spPr>
          <a:xfrm>
            <a:off x="304800" y="6091535"/>
            <a:ext cx="83058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EECS 373 Design of Microprocessor-Based Systems</a:t>
            </a:r>
          </a:p>
        </p:txBody>
      </p:sp>
    </p:spTree>
    <p:extLst>
      <p:ext uri="{BB962C8B-B14F-4D97-AF65-F5344CB8AC3E}">
        <p14:creationId xmlns:p14="http://schemas.microsoft.com/office/powerpoint/2010/main" val="6004687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j-lt"/>
                <a:cs typeface="B Titr" panose="00000700000000000000" pitchFamily="2" charset="-78"/>
              </a:rPr>
              <a:t>ADC in SAM3X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0360" y="6400224"/>
            <a:ext cx="543128" cy="365125"/>
          </a:xfrm>
        </p:spPr>
        <p:txBody>
          <a:bodyPr/>
          <a:lstStyle/>
          <a:p>
            <a:pPr rtl="1"/>
            <a:fld id="{B6F15528-21DE-4FAA-801E-634DDDAF4B2B}" type="slidenum">
              <a:rPr lang="en-US" smtClean="0">
                <a:latin typeface="+mj-lt"/>
              </a:rPr>
              <a:pPr rtl="1"/>
              <a:t>16</a:t>
            </a:fld>
            <a:endParaRPr lang="en-US" dirty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600" y="6412468"/>
            <a:ext cx="685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cs typeface="B Titr" panose="00000700000000000000" pitchFamily="2" charset="-78"/>
              </a:rPr>
              <a:t>Microprocessors and Assembly Language, Fall 2024, AUT, Tehran, Iran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66800"/>
            <a:ext cx="8458200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US" sz="2000" dirty="0"/>
            </a:br>
            <a:br>
              <a:rPr lang="en-US" sz="2000" dirty="0"/>
            </a:b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66800"/>
            <a:ext cx="84582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A 16-to-1 analog multiplexer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Making possible the analog-to-digital conversions of 16 analog lines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The conversions extend from 0V to ADVREF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Supports an 10-bit or 12-bit resolution mode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Conversion results are reported in a common register for all channels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As well as in a channel-dedicated register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1 MHz Conversion Rate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Individual Enable and Disable of Each Channel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  <p:sp>
        <p:nvSpPr>
          <p:cNvPr id="9" name="Rectangle 8"/>
          <p:cNvSpPr/>
          <p:nvPr/>
        </p:nvSpPr>
        <p:spPr>
          <a:xfrm>
            <a:off x="304800" y="6091535"/>
            <a:ext cx="83058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Atmel | SMART ARM-based MCU DATASHEET, SAM3X / SAM3A Series, Atmel-11057C-ATARM-SAM3X-SAM3A-Datasheet_23-Mar-15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8423556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j-lt"/>
                <a:cs typeface="B Titr" panose="00000700000000000000" pitchFamily="2" charset="-78"/>
              </a:rPr>
              <a:t>ADC in SAM3X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0360" y="6400224"/>
            <a:ext cx="543128" cy="365125"/>
          </a:xfrm>
        </p:spPr>
        <p:txBody>
          <a:bodyPr/>
          <a:lstStyle/>
          <a:p>
            <a:pPr rtl="1"/>
            <a:fld id="{B6F15528-21DE-4FAA-801E-634DDDAF4B2B}" type="slidenum">
              <a:rPr lang="en-US" smtClean="0">
                <a:latin typeface="+mj-lt"/>
              </a:rPr>
              <a:pPr rtl="1"/>
              <a:t>17</a:t>
            </a:fld>
            <a:endParaRPr lang="en-US" dirty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600" y="6412468"/>
            <a:ext cx="685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cs typeface="B Titr" panose="00000700000000000000" pitchFamily="2" charset="-78"/>
              </a:rPr>
              <a:t>Microprocessors and Assembly Language, Fall 2024, AUT, Tehran, Iran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66800"/>
            <a:ext cx="8458200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US" sz="2000" dirty="0"/>
            </a:br>
            <a:br>
              <a:rPr lang="en-US" sz="2000" dirty="0"/>
            </a:b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66800"/>
            <a:ext cx="8458200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Analog-to-Digital Converter Block Diagram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The temperature sensor is connected to Channel 15 of the ADC</a:t>
            </a:r>
          </a:p>
        </p:txBody>
      </p:sp>
      <p:sp>
        <p:nvSpPr>
          <p:cNvPr id="9" name="Rectangle 8"/>
          <p:cNvSpPr/>
          <p:nvPr/>
        </p:nvSpPr>
        <p:spPr>
          <a:xfrm>
            <a:off x="304800" y="6091535"/>
            <a:ext cx="83058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Atmel | SMART ARM-based MCU DATASHEET, SAM3X / SAM3A Series, Atmel-11057C-ATARM-SAM3X-SAM3A-Datasheet_23-Mar-15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44"/>
          <a:stretch/>
        </p:blipFill>
        <p:spPr bwMode="auto">
          <a:xfrm>
            <a:off x="190500" y="2496422"/>
            <a:ext cx="8724900" cy="3270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5341926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j-lt"/>
                <a:cs typeface="B Titr" panose="00000700000000000000" pitchFamily="2" charset="-78"/>
              </a:rPr>
              <a:t>DAC in SAM3X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0360" y="6400224"/>
            <a:ext cx="543128" cy="365125"/>
          </a:xfrm>
        </p:spPr>
        <p:txBody>
          <a:bodyPr/>
          <a:lstStyle/>
          <a:p>
            <a:pPr rtl="1"/>
            <a:fld id="{B6F15528-21DE-4FAA-801E-634DDDAF4B2B}" type="slidenum">
              <a:rPr lang="en-US" smtClean="0">
                <a:latin typeface="+mj-lt"/>
              </a:rPr>
              <a:pPr rtl="1"/>
              <a:t>18</a:t>
            </a:fld>
            <a:endParaRPr lang="en-US" dirty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600" y="6412468"/>
            <a:ext cx="685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cs typeface="B Titr" panose="00000700000000000000" pitchFamily="2" charset="-78"/>
              </a:rPr>
              <a:t>Microprocessors and Assembly Language, Fall 2024, AUT, Tehran, Iran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66800"/>
            <a:ext cx="8458200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US" sz="2000" dirty="0"/>
            </a:br>
            <a:br>
              <a:rPr lang="en-US" sz="2000" dirty="0"/>
            </a:b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66800"/>
            <a:ext cx="845820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Digital-to-Analog Converter Controller (DACC)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4800" y="6091535"/>
            <a:ext cx="83058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Atmel | SMART ARM-based MCU DATASHEET, SAM3X / SAM3A Series, Atmel-11057C-ATARM-SAM3X-SAM3A-Datasheet_23-Mar-15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781611"/>
            <a:ext cx="5084363" cy="4206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1927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0360" y="6400224"/>
            <a:ext cx="543128" cy="365125"/>
          </a:xfrm>
        </p:spPr>
        <p:txBody>
          <a:bodyPr/>
          <a:lstStyle/>
          <a:p>
            <a:pPr rtl="1"/>
            <a:fld id="{B6F15528-21DE-4FAA-801E-634DDDAF4B2B}" type="slidenum">
              <a:rPr lang="en-US" smtClean="0">
                <a:latin typeface="+mj-lt"/>
              </a:rPr>
              <a:pPr rtl="1"/>
              <a:t>19</a:t>
            </a:fld>
            <a:endParaRPr lang="en-US" dirty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600" y="6412468"/>
            <a:ext cx="685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cs typeface="B Titr" panose="00000700000000000000" pitchFamily="2" charset="-78"/>
              </a:rPr>
              <a:t>Microprocessors and Assembly Language, Fall 2024, AUT, Tehran, Iran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2482570"/>
            <a:ext cx="8458200" cy="920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/>
              <a:t>The End!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825356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6.7|10.3|30|12.4|61.6|40.3|1|1.4|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0.3|105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9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4.2|17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9|40.3|15.9|8.5|28.7|113|22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2.5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spec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39552</TotalTime>
  <Words>996</Words>
  <Application>Microsoft Office PowerPoint</Application>
  <PresentationFormat>On-screen Show (4:3)</PresentationFormat>
  <Paragraphs>204</Paragraphs>
  <Slides>19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Arial</vt:lpstr>
      <vt:lpstr>B Nazanin</vt:lpstr>
      <vt:lpstr>B Titr</vt:lpstr>
      <vt:lpstr>Calibri</vt:lpstr>
      <vt:lpstr>Symbol</vt:lpstr>
      <vt:lpstr>Times New Roman</vt:lpstr>
      <vt:lpstr>Verdana</vt:lpstr>
      <vt:lpstr>Wingdings</vt:lpstr>
      <vt:lpstr>Wingdings 2</vt:lpstr>
      <vt:lpstr>Office Theme</vt:lpstr>
      <vt:lpstr>Aspect</vt:lpstr>
      <vt:lpstr>Equation</vt:lpstr>
      <vt:lpstr>Microprocessors and Assembly Language  Fall 2024</vt:lpstr>
      <vt:lpstr>Copyright Notice</vt:lpstr>
      <vt:lpstr>PowerPoint Presentation</vt:lpstr>
      <vt:lpstr>We live in an analog world</vt:lpstr>
      <vt:lpstr>Transducers</vt:lpstr>
      <vt:lpstr>An Example: Photocell</vt:lpstr>
      <vt:lpstr>Many other common sensors </vt:lpstr>
      <vt:lpstr>Going from Analog to Digital</vt:lpstr>
      <vt:lpstr>Representing an analog signal digitally</vt:lpstr>
      <vt:lpstr>Choosing the horizontal range</vt:lpstr>
      <vt:lpstr>Choosing the horizontal granularity</vt:lpstr>
      <vt:lpstr>Choosing the sample rate</vt:lpstr>
      <vt:lpstr>Conversion: ADC</vt:lpstr>
      <vt:lpstr>Conversion: DAC</vt:lpstr>
      <vt:lpstr>Conversion: DAC</vt:lpstr>
      <vt:lpstr>ADC in SAM3X</vt:lpstr>
      <vt:lpstr>ADC in SAM3X</vt:lpstr>
      <vt:lpstr>DAC in SAM3X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MMSPM</dc:title>
  <dc:creator>FT_DSL</dc:creator>
  <cp:lastModifiedBy>Javad</cp:lastModifiedBy>
  <cp:revision>830</cp:revision>
  <cp:lastPrinted>2017-02-07T08:08:08Z</cp:lastPrinted>
  <dcterms:created xsi:type="dcterms:W3CDTF">2006-08-16T00:00:00Z</dcterms:created>
  <dcterms:modified xsi:type="dcterms:W3CDTF">2025-12-27T18:58:48Z</dcterms:modified>
</cp:coreProperties>
</file>