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ags/tag1.xml" ContentType="application/vnd.openxmlformats-officedocument.presentationml.tags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ags/tag3.xml" ContentType="application/vnd.openxmlformats-officedocument.presentationml.tags+xml"/>
  <Override PartName="/ppt/theme/themeOverride11.xml" ContentType="application/vnd.openxmlformats-officedocument.themeOverride+xml"/>
  <Override PartName="/ppt/tags/tag4.xml" ContentType="application/vnd.openxmlformats-officedocument.presentationml.tags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ags/tag5.xml" ContentType="application/vnd.openxmlformats-officedocument.presentationml.tags+xml"/>
  <Override PartName="/ppt/theme/themeOverride15.xml" ContentType="application/vnd.openxmlformats-officedocument.themeOverride+xml"/>
  <Override PartName="/ppt/tags/tag6.xml" ContentType="application/vnd.openxmlformats-officedocument.presentationml.tags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2" r:id="rId2"/>
  </p:sldMasterIdLst>
  <p:notesMasterIdLst>
    <p:notesMasterId r:id="rId22"/>
  </p:notesMasterIdLst>
  <p:handoutMasterIdLst>
    <p:handoutMasterId r:id="rId23"/>
  </p:handoutMasterIdLst>
  <p:sldIdLst>
    <p:sldId id="290" r:id="rId3"/>
    <p:sldId id="258" r:id="rId4"/>
    <p:sldId id="386" r:id="rId5"/>
    <p:sldId id="446" r:id="rId6"/>
    <p:sldId id="447" r:id="rId7"/>
    <p:sldId id="448" r:id="rId8"/>
    <p:sldId id="449" r:id="rId9"/>
    <p:sldId id="450" r:id="rId10"/>
    <p:sldId id="451" r:id="rId11"/>
    <p:sldId id="452" r:id="rId12"/>
    <p:sldId id="453" r:id="rId13"/>
    <p:sldId id="454" r:id="rId14"/>
    <p:sldId id="455" r:id="rId15"/>
    <p:sldId id="456" r:id="rId16"/>
    <p:sldId id="457" r:id="rId17"/>
    <p:sldId id="458" r:id="rId18"/>
    <p:sldId id="459" r:id="rId19"/>
    <p:sldId id="460" r:id="rId20"/>
    <p:sldId id="415" r:id="rId21"/>
  </p:sldIdLst>
  <p:sldSz cx="9144000" cy="6858000" type="screen4x3"/>
  <p:notesSz cx="9296400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2208">
          <p15:clr>
            <a:srgbClr val="A4A3A4"/>
          </p15:clr>
        </p15:guide>
        <p15:guide id="4" pos="292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5CB5"/>
    <a:srgbClr val="0530BB"/>
    <a:srgbClr val="034ABD"/>
    <a:srgbClr val="130868"/>
    <a:srgbClr val="210DB3"/>
    <a:srgbClr val="106F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3" autoAdjust="0"/>
    <p:restoredTop sz="91826" autoAdjust="0"/>
  </p:normalViewPr>
  <p:slideViewPr>
    <p:cSldViewPr>
      <p:cViewPr>
        <p:scale>
          <a:sx n="75" d="100"/>
          <a:sy n="75" d="100"/>
        </p:scale>
        <p:origin x="-2664" y="-7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1026" y="60"/>
      </p:cViewPr>
      <p:guideLst>
        <p:guide orient="horz" pos="2880"/>
        <p:guide orient="horz" pos="2208"/>
        <p:guide pos="2160"/>
        <p:guide pos="292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20.wmf"/><Relationship Id="rId2" Type="http://schemas.openxmlformats.org/officeDocument/2006/relationships/image" Target="../media/image12.wmf"/><Relationship Id="rId1" Type="http://schemas.openxmlformats.org/officeDocument/2006/relationships/image" Target="../media/image17.wmf"/><Relationship Id="rId6" Type="http://schemas.openxmlformats.org/officeDocument/2006/relationships/image" Target="../media/image19.wmf"/><Relationship Id="rId5" Type="http://schemas.openxmlformats.org/officeDocument/2006/relationships/image" Target="../media/image18.wmf"/><Relationship Id="rId4" Type="http://schemas.openxmlformats.org/officeDocument/2006/relationships/image" Target="../media/image13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265809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3A2C78E-1418-4D80-911C-2F94FB99BDBC}" type="datetimeFigureOut">
              <a:rPr lang="en-US" smtClean="0"/>
              <a:t>8/19/2024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265809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804ED39F-E263-4FB0-A586-54AF6DEA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0500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809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479DE93-9629-4701-8E4D-06B6CC932194}" type="datetimeFigureOut">
              <a:rPr lang="en-US" smtClean="0"/>
              <a:t>8/19/2024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95600" y="525463"/>
            <a:ext cx="3505200" cy="2628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9640" y="3329940"/>
            <a:ext cx="7437120" cy="31546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809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CADB150-CC80-4D38-9C9E-4D16188A4F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7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ADB150-CC80-4D38-9C9E-4D16188A4FB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918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 b="1">
                <a:latin typeface="Times New Roman" pitchFamily="18" charset="0"/>
                <a:cs typeface="Times New Roman" pitchFamily="18" charset="0"/>
              </a:defRPr>
            </a:lvl1pPr>
          </a:lstStyle>
          <a:p>
            <a:fld id="{40281FD0-B2DB-4ECA-ADAD-7146D3D1D0F9}" type="datetime1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latin typeface="Times New Roman" pitchFamily="18" charset="0"/>
                <a:cs typeface="Times New Roman" pitchFamily="18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38200"/>
          </a:xfrm>
        </p:spPr>
        <p:txBody>
          <a:bodyPr>
            <a:normAutofit/>
          </a:bodyPr>
          <a:lstStyle>
            <a:lvl1pPr algn="l">
              <a:defRPr sz="3600" b="1">
                <a:latin typeface="Times New Roman" pitchFamily="18" charset="0"/>
                <a:cs typeface="Times New Roman" pitchFamily="18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1"/>
            <a:ext cx="8229600" cy="4525963"/>
          </a:xfrm>
        </p:spPr>
        <p:txBody>
          <a:bodyPr/>
          <a:lstStyle>
            <a:lvl1pPr>
              <a:defRPr>
                <a:latin typeface="Times New Roman" pitchFamily="18" charset="0"/>
                <a:cs typeface="Times New Roman" pitchFamily="18" charset="0"/>
              </a:defRPr>
            </a:lvl1pPr>
            <a:lvl2pPr>
              <a:defRPr>
                <a:latin typeface="Times New Roman" pitchFamily="18" charset="0"/>
                <a:cs typeface="Times New Roman" pitchFamily="18" charset="0"/>
              </a:defRPr>
            </a:lvl2pPr>
            <a:lvl3pPr>
              <a:defRPr>
                <a:latin typeface="Times New Roman" pitchFamily="18" charset="0"/>
                <a:cs typeface="Times New Roman" pitchFamily="18" charset="0"/>
              </a:defRPr>
            </a:lvl3pPr>
            <a:lvl4pPr>
              <a:defRPr>
                <a:latin typeface="Times New Roman" pitchFamily="18" charset="0"/>
                <a:cs typeface="Times New Roman" pitchFamily="18" charset="0"/>
              </a:defRPr>
            </a:lvl4pPr>
            <a:lvl5pPr>
              <a:defRPr>
                <a:latin typeface="Times New Roman" pitchFamily="18" charset="0"/>
                <a:cs typeface="Times New Roman" pitchFamily="18" charset="0"/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81100" y="6406402"/>
            <a:ext cx="67818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rtl="1"/>
            <a:r>
              <a:rPr lang="en-US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100" dirty="0"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92100" y="6419101"/>
            <a:ext cx="543128" cy="365125"/>
          </a:xfrm>
        </p:spPr>
        <p:txBody>
          <a:bodyPr lIns="0" tIns="0" rIns="0" bIns="0"/>
          <a:lstStyle>
            <a:lvl1pPr algn="ctr" rtl="0">
              <a:defRPr sz="1400" b="1" baseline="0">
                <a:solidFill>
                  <a:schemeClr val="tx1"/>
                </a:solidFill>
                <a:latin typeface="+mn-lt"/>
                <a:cs typeface="الشهيد محمد الدره" pitchFamily="2" charset="-78"/>
              </a:defRPr>
            </a:lvl1pPr>
          </a:lstStyle>
          <a:p>
            <a:pPr rtl="1"/>
            <a:fld id="{E9D5068C-74C1-4D4E-ACBE-89391498AE93}" type="slidenum">
              <a:rPr lang="en-US" smtClean="0"/>
              <a:pPr rtl="1"/>
              <a:t>‹#›</a:t>
            </a:fld>
            <a:endParaRPr lang="en-US" dirty="0">
              <a:cs typeface="B Nazanin" panose="00000400000000000000" pitchFamily="2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4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E2AE1-CBD5-460D-A0C9-6147C2D4C470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FB3A9-0A90-4E79-85FA-03828B308331}" type="datetime1">
              <a:rPr lang="en-US" smtClean="0"/>
              <a:t>8/19/2024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B4FA-0F9A-436F-AA41-B89FAC163798}" type="datetime1">
              <a:rPr lang="en-US" smtClean="0"/>
              <a:t>8/19/2024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C8B55-203E-4F94-AE03-50CFB6BD790A}" type="datetime1">
              <a:rPr lang="en-US" smtClean="0"/>
              <a:t>8/19/2024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1"/>
            <a:ext cx="511175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1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536A8-DE7E-4A16-B194-971EA3CF9026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1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9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96671-0698-4B48-8CC8-45A9BDA6F14F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AF6BC-C327-4940-9830-49E66FCBC3F0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95183-C90F-4867-BE66-12679E27E67F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Rounded Rectangle 9"/>
          <p:cNvSpPr/>
          <p:nvPr/>
        </p:nvSpPr>
        <p:spPr>
          <a:xfrm>
            <a:off x="418597" y="434162"/>
            <a:ext cx="8306809" cy="3108960"/>
          </a:xfrm>
          <a:prstGeom prst="roundRect">
            <a:avLst>
              <a:gd name="adj" fmla="val 4578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50000" t="175000" r="50000" b="-75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722376" y="1820206"/>
            <a:ext cx="7772400" cy="1828800"/>
          </a:xfrm>
        </p:spPr>
        <p:txBody>
          <a:bodyPr lIns="45720" rIns="45720" bIns="45720"/>
          <a:lstStyle>
            <a:lvl1pPr algn="r">
              <a:defRPr sz="4500" b="1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0" name="Subtitle 19"/>
          <p:cNvSpPr>
            <a:spLocks noGrp="1"/>
          </p:cNvSpPr>
          <p:nvPr>
            <p:ph type="subTitle" idx="1"/>
          </p:nvPr>
        </p:nvSpPr>
        <p:spPr>
          <a:xfrm>
            <a:off x="722376" y="3685032"/>
            <a:ext cx="7772400" cy="914400"/>
          </a:xfrm>
        </p:spPr>
        <p:txBody>
          <a:bodyPr lIns="182880" tIns="0"/>
          <a:lstStyle>
            <a:lvl1pPr marL="36576" indent="0" algn="r">
              <a:spcBef>
                <a:spcPts val="0"/>
              </a:spcBef>
              <a:buNone/>
              <a:defRPr sz="2000">
                <a:solidFill>
                  <a:schemeClr val="bg2">
                    <a:shade val="2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19" name="Date Placeholder 1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F6A59B0B-27CB-4279-84EE-13F34D832C20}" type="datetime1">
              <a:rPr lang="en-US" smtClean="0"/>
              <a:t>8/19/2024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4983480"/>
            <a:ext cx="8183880" cy="105156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530352"/>
            <a:ext cx="8183880" cy="4187952"/>
          </a:xfrm>
        </p:spPr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87946A9-DE9C-4C0F-8CC5-C706728E934F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Rounded Rectangle 10"/>
          <p:cNvSpPr/>
          <p:nvPr/>
        </p:nvSpPr>
        <p:spPr>
          <a:xfrm>
            <a:off x="418597" y="434163"/>
            <a:ext cx="8306809" cy="4341329"/>
          </a:xfrm>
          <a:prstGeom prst="roundRect">
            <a:avLst>
              <a:gd name="adj" fmla="val 2127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50000" t="175000" r="50000" b="-75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44" y="4928616"/>
            <a:ext cx="8183880" cy="676656"/>
          </a:xfrm>
        </p:spPr>
        <p:txBody>
          <a:bodyPr lIns="91440" bIns="0" anchor="b"/>
          <a:lstStyle>
            <a:lvl1pPr algn="l">
              <a:buNone/>
              <a:defRPr sz="3600" b="0" cap="none" baseline="0">
                <a:solidFill>
                  <a:schemeClr val="bg2">
                    <a:shade val="25000"/>
                  </a:schemeClr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344" y="5624484"/>
            <a:ext cx="8183880" cy="420624"/>
          </a:xfrm>
        </p:spPr>
        <p:txBody>
          <a:bodyPr lIns="118872" tIns="0" anchor="t"/>
          <a:lstStyle>
            <a:lvl1pPr marL="0" marR="36576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accent1">
                    <a:shade val="50000"/>
                    <a:satMod val="110000"/>
                  </a:schemeClr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8237A1E-E215-416E-8D25-5F336D5B557C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2" y="530352"/>
            <a:ext cx="3931920" cy="4389120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5360" y="530352"/>
            <a:ext cx="3931920" cy="4389120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3FD8B5B-8A46-412C-A2D2-8F2B1B2EC62B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4983480"/>
            <a:ext cx="8183880" cy="1051560"/>
          </a:xfrm>
        </p:spPr>
        <p:txBody>
          <a:bodyPr anchor="b"/>
          <a:lstStyle>
            <a:lvl1pPr>
              <a:defRPr b="1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224" y="579438"/>
            <a:ext cx="3931920" cy="792162"/>
          </a:xfrm>
        </p:spPr>
        <p:txBody>
          <a:bodyPr lIns="146304" anchor="ctr"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52169" y="579438"/>
            <a:ext cx="3931920" cy="792162"/>
          </a:xfrm>
        </p:spPr>
        <p:txBody>
          <a:bodyPr lIns="137160" anchor="ctr"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7224" y="1447800"/>
            <a:ext cx="3931920" cy="3489960"/>
          </a:xfrm>
        </p:spPr>
        <p:txBody>
          <a:bodyPr anchor="t"/>
          <a:lstStyle>
            <a:lvl1pPr algn="l">
              <a:defRPr sz="2400"/>
            </a:lvl1pPr>
            <a:lvl2pPr algn="l">
              <a:defRPr sz="2000"/>
            </a:lvl2pPr>
            <a:lvl3pPr algn="l">
              <a:defRPr sz="1800"/>
            </a:lvl3pPr>
            <a:lvl4pPr algn="l">
              <a:defRPr sz="1600"/>
            </a:lvl4pPr>
            <a:lvl5pPr algn="l"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2169" y="1447800"/>
            <a:ext cx="3931920" cy="3489960"/>
          </a:xfrm>
        </p:spPr>
        <p:txBody>
          <a:bodyPr anchor="t"/>
          <a:lstStyle>
            <a:lvl1pPr algn="l">
              <a:defRPr sz="2400"/>
            </a:lvl1pPr>
            <a:lvl2pPr algn="l">
              <a:defRPr sz="2000"/>
            </a:lvl2pPr>
            <a:lvl3pPr algn="l">
              <a:defRPr sz="1800"/>
            </a:lvl3pPr>
            <a:lvl4pPr algn="l">
              <a:defRPr sz="1600"/>
            </a:lvl4pPr>
            <a:lvl5pPr algn="l"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3D72D1A0-E9CE-4C54-8D41-8DBB9F509117}" type="datetime1">
              <a:rPr lang="en-US" smtClean="0"/>
              <a:t>8/19/2024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384E1B4-9FAF-4C2A-A5AC-8C7F175CBD59}" type="datetime1">
              <a:rPr lang="en-US" smtClean="0"/>
              <a:t>8/19/2024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2306DEF-8BC5-4D1A-A84F-BC32AA802BDD}" type="datetime1">
              <a:rPr lang="en-US" smtClean="0"/>
              <a:t>8/19/2024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38784" y="533400"/>
            <a:ext cx="2971800" cy="914400"/>
          </a:xfrm>
        </p:spPr>
        <p:txBody>
          <a:bodyPr anchor="b"/>
          <a:lstStyle>
            <a:lvl1pPr algn="l">
              <a:buNone/>
              <a:defRPr sz="2200" b="1">
                <a:solidFill>
                  <a:schemeClr val="accent1"/>
                </a:solidFill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538847" y="1447803"/>
            <a:ext cx="2971800" cy="4206112"/>
          </a:xfrm>
        </p:spPr>
        <p:txBody>
          <a:bodyPr lIns="91440"/>
          <a:lstStyle>
            <a:lvl1pPr marL="18288" marR="18288" indent="0"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buNone/>
              <a:defRPr sz="1200">
                <a:solidFill>
                  <a:schemeClr val="tx1"/>
                </a:solidFill>
              </a:defRPr>
            </a:lvl2pPr>
            <a:lvl3pPr>
              <a:buNone/>
              <a:defRPr sz="1000">
                <a:solidFill>
                  <a:schemeClr val="tx1"/>
                </a:solidFill>
              </a:defRPr>
            </a:lvl3pPr>
            <a:lvl4pPr>
              <a:buNone/>
              <a:defRPr sz="900">
                <a:solidFill>
                  <a:schemeClr val="tx1"/>
                </a:solidFill>
              </a:defRPr>
            </a:lvl4pPr>
            <a:lvl5pPr>
              <a:buNone/>
              <a:defRPr sz="900">
                <a:solidFill>
                  <a:schemeClr val="tx1"/>
                </a:solidFill>
              </a:defRPr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761374" y="930145"/>
            <a:ext cx="4626159" cy="4724402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6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buNone/>
              <a:defRPr/>
            </a:lvl6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628B8A3B-8A96-493A-9055-E95E174A1B57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Round Single Corner Rectangle 10"/>
          <p:cNvSpPr/>
          <p:nvPr/>
        </p:nvSpPr>
        <p:spPr>
          <a:xfrm>
            <a:off x="6400800" y="434162"/>
            <a:ext cx="2324605" cy="4343400"/>
          </a:xfrm>
          <a:prstGeom prst="round1Rect">
            <a:avLst>
              <a:gd name="adj" fmla="val 2748"/>
            </a:avLst>
          </a:prstGeom>
          <a:solidFill>
            <a:srgbClr val="1C1C1C"/>
          </a:soli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12056"/>
            <a:ext cx="8229600" cy="1051560"/>
          </a:xfrm>
        </p:spPr>
        <p:txBody>
          <a:bodyPr anchor="t"/>
          <a:lstStyle>
            <a:lvl1pPr algn="l">
              <a:buNone/>
              <a:defRPr sz="3600" b="0">
                <a:solidFill>
                  <a:schemeClr val="bg2">
                    <a:shade val="25000"/>
                  </a:schemeClr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White">
          <a:xfrm>
            <a:off x="6462712" y="533401"/>
            <a:ext cx="2240280" cy="4211480"/>
          </a:xfrm>
        </p:spPr>
        <p:txBody>
          <a:bodyPr lIns="91440"/>
          <a:lstStyle>
            <a:lvl1pPr marL="45720" indent="0" algn="l">
              <a:spcBef>
                <a:spcPts val="0"/>
              </a:spcBef>
              <a:buNone/>
              <a:defRPr sz="1400">
                <a:solidFill>
                  <a:srgbClr val="FFFFFF"/>
                </a:solidFill>
              </a:defRPr>
            </a:lvl1pPr>
            <a:lvl2pPr>
              <a:defRPr sz="12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  <a:lvl4pPr>
              <a:defRPr sz="900">
                <a:solidFill>
                  <a:srgbClr val="FFFFFF"/>
                </a:solidFill>
              </a:defRPr>
            </a:lvl4pPr>
            <a:lvl5pPr>
              <a:defRPr sz="900">
                <a:solidFill>
                  <a:srgbClr val="FFFFFF"/>
                </a:solidFill>
              </a:defRPr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93F6010-06C4-4772-A873-F0169484628B}" type="datetime1">
              <a:rPr lang="en-US" smtClean="0"/>
              <a:t>8/19/2024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21480" y="435768"/>
            <a:ext cx="5925312" cy="4343400"/>
          </a:xfrm>
          <a:prstGeom prst="snipRoundRect">
            <a:avLst>
              <a:gd name="adj1" fmla="val 1040"/>
              <a:gd name="adj2" fmla="val 0"/>
            </a:avLst>
          </a:prstGeom>
          <a:solidFill>
            <a:schemeClr val="bg2">
              <a:shade val="1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4983480"/>
            <a:ext cx="8183880" cy="105156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2920" y="530352"/>
            <a:ext cx="8183880" cy="4187952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D38C875-1C6F-4BBA-A49D-A655DE5157F6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33405"/>
            <a:ext cx="1981200" cy="5257799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3"/>
            <a:ext cx="5943600" cy="525780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5A7C28B-237A-4A16-A330-F744D93506D6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FAABE3-8527-4979-BA7D-5506EF11427A}" type="datetime1">
              <a:rPr lang="en-US" smtClean="0"/>
              <a:t>8/19/2024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304802" y="329185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2000" cap="rnd" cmpd="sng" algn="ctr">
            <a:solidFill>
              <a:srgbClr val="302F2C">
                <a:tint val="65000"/>
                <a:satMod val="120000"/>
              </a:srgbClr>
            </a:solidFill>
            <a:prstDash val="solid"/>
          </a:ln>
          <a:effectLst>
            <a:outerShdw blurRad="76200" dist="50800" dir="5400000" algn="tl" rotWithShape="0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Rounded Rectangle 8"/>
          <p:cNvSpPr/>
          <p:nvPr/>
        </p:nvSpPr>
        <p:spPr>
          <a:xfrm>
            <a:off x="418597" y="434162"/>
            <a:ext cx="8306809" cy="5486400"/>
          </a:xfrm>
          <a:prstGeom prst="roundRect">
            <a:avLst>
              <a:gd name="adj" fmla="val 2127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50000" t="175000" r="50000" b="-75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3" name="Title Placeholder 12"/>
          <p:cNvSpPr>
            <a:spLocks noGrp="1"/>
          </p:cNvSpPr>
          <p:nvPr>
            <p:ph type="title"/>
          </p:nvPr>
        </p:nvSpPr>
        <p:spPr>
          <a:xfrm>
            <a:off x="502920" y="4985590"/>
            <a:ext cx="8183880" cy="1051560"/>
          </a:xfrm>
          <a:prstGeom prst="rect">
            <a:avLst/>
          </a:prstGeom>
        </p:spPr>
        <p:txBody>
          <a:bodyPr vert="horz" anchor="b">
            <a:normAutofit/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02920" y="530352"/>
            <a:ext cx="8183880" cy="4187952"/>
          </a:xfrm>
          <a:prstGeom prst="rect">
            <a:avLst/>
          </a:prstGeom>
        </p:spPr>
        <p:txBody>
          <a:bodyPr vert="horz" lIns="182880" tIns="91440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2"/>
          </p:nvPr>
        </p:nvSpPr>
        <p:spPr>
          <a:xfrm>
            <a:off x="3776328" y="6111876"/>
            <a:ext cx="228600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bg2">
                    <a:shade val="50000"/>
                  </a:schemeClr>
                </a:solidFill>
              </a:defRPr>
            </a:lvl1pPr>
            <a:extLst/>
          </a:lstStyle>
          <a:p>
            <a:fld id="{A27B6C89-3F9A-4856-B9C8-0FA30DF0136D}" type="datetime1">
              <a:rPr lang="en-US" smtClean="0"/>
              <a:t>8/19/2024</a:t>
            </a:fld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3"/>
          </p:nvPr>
        </p:nvSpPr>
        <p:spPr>
          <a:xfrm>
            <a:off x="6062328" y="6111876"/>
            <a:ext cx="22860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bg2">
                    <a:shade val="50000"/>
                  </a:schemeClr>
                </a:solidFill>
              </a:defRPr>
            </a:lvl1pPr>
            <a:extLst/>
          </a:lstStyle>
          <a:p>
            <a:r>
              <a:rPr lang="en-US" smtClean="0"/>
              <a:t>Memory-Mapped SPM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348328" y="6111876"/>
            <a:ext cx="45720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bg2">
                    <a:shade val="50000"/>
                  </a:schemeClr>
                </a:solidFill>
              </a:defRPr>
            </a:lvl1pPr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dt="0"/>
  <p:txStyles>
    <p:titleStyle>
      <a:lvl1pPr algn="l" rtl="0" eaLnBrk="1" latinLnBrk="0" hangingPunct="1">
        <a:spcBef>
          <a:spcPct val="0"/>
        </a:spcBef>
        <a:buNone/>
        <a:defRPr kumimoji="0" sz="3600" b="1" kern="1200">
          <a:solidFill>
            <a:schemeClr val="accent1">
              <a:tint val="88000"/>
              <a:satMod val="150000"/>
            </a:schemeClr>
          </a:solidFill>
          <a:effectLst>
            <a:outerShdw blurRad="53975" dist="22860" dir="5400000" algn="tl" rotWithShape="0">
              <a:srgbClr val="000000">
                <a:alpha val="5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65176" indent="-265176" algn="l" rtl="0" eaLnBrk="1" latinLnBrk="0" hangingPunct="1">
        <a:spcBef>
          <a:spcPts val="250"/>
        </a:spcBef>
        <a:buClr>
          <a:schemeClr val="accent1"/>
        </a:buClr>
        <a:buSzPct val="80000"/>
        <a:buFont typeface="Wingdings 2"/>
        <a:buChar char=""/>
        <a:defRPr kumimoji="0" sz="2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48640" indent="-201168" algn="l" rtl="0" eaLnBrk="1" latinLnBrk="0" hangingPunct="1">
        <a:spcBef>
          <a:spcPts val="250"/>
        </a:spcBef>
        <a:buClr>
          <a:schemeClr val="accent1"/>
        </a:buClr>
        <a:buSzPct val="100000"/>
        <a:buFont typeface="Verdana"/>
        <a:buChar char="◦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86384" indent="-182880" algn="l" rtl="0" eaLnBrk="1" latinLnBrk="0" hangingPunct="1">
        <a:spcBef>
          <a:spcPts val="250"/>
        </a:spcBef>
        <a:buClr>
          <a:schemeClr val="accent2">
            <a:tint val="85000"/>
            <a:satMod val="285000"/>
          </a:schemeClr>
        </a:buClr>
        <a:buSzPct val="100000"/>
        <a:buFont typeface="Wingdings 2"/>
        <a:buChar char="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024128" indent="-182880" algn="l" rtl="0" eaLnBrk="1" latinLnBrk="0" hangingPunct="1">
        <a:spcBef>
          <a:spcPts val="230"/>
        </a:spcBef>
        <a:buClr>
          <a:schemeClr val="accent2">
            <a:tint val="85000"/>
            <a:satMod val="285000"/>
          </a:schemeClr>
        </a:buClr>
        <a:buSzPct val="112000"/>
        <a:buFont typeface="Verdana"/>
        <a:buChar char="◦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rtl="0" eaLnBrk="1" latinLnBrk="0" hangingPunct="1">
        <a:spcBef>
          <a:spcPts val="250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490472" indent="-182880" algn="l" rtl="0" eaLnBrk="1" latinLnBrk="0" hangingPunct="1">
        <a:spcBef>
          <a:spcPts val="250"/>
        </a:spcBef>
        <a:buClr>
          <a:schemeClr val="accent3">
            <a:tint val="85000"/>
            <a:satMod val="275000"/>
          </a:schemeClr>
        </a:buClr>
        <a:buSzPct val="100000"/>
        <a:buFont typeface="Verdana"/>
        <a:buChar char="◦"/>
        <a:defRPr kumimoji="0" sz="17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700784" indent="-182880" algn="l" rtl="0" eaLnBrk="1" latinLnBrk="0" hangingPunct="1">
        <a:spcBef>
          <a:spcPts val="255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ts val="257"/>
        </a:spcBef>
        <a:buClr>
          <a:schemeClr val="accent3">
            <a:tint val="85000"/>
            <a:satMod val="275000"/>
          </a:schemeClr>
        </a:buClr>
        <a:buSzPct val="100000"/>
        <a:buFont typeface="Verdana"/>
        <a:buChar char="◦"/>
        <a:defRPr kumimoji="0" sz="15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148840" indent="-182880" algn="l" rtl="0" eaLnBrk="1" latinLnBrk="0" hangingPunct="1">
        <a:spcBef>
          <a:spcPts val="255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png"/><Relationship Id="rId2" Type="http://schemas.openxmlformats.org/officeDocument/2006/relationships/tags" Target="../tags/tag1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13" Type="http://schemas.openxmlformats.org/officeDocument/2006/relationships/oleObject" Target="../embeddings/oleObject4.bin"/><Relationship Id="rId18" Type="http://schemas.openxmlformats.org/officeDocument/2006/relationships/oleObject" Target="../embeddings/oleObject9.bin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8.bin"/><Relationship Id="rId2" Type="http://schemas.openxmlformats.org/officeDocument/2006/relationships/vmlDrawing" Target="../drawings/vmlDrawing1.vml"/><Relationship Id="rId16" Type="http://schemas.openxmlformats.org/officeDocument/2006/relationships/oleObject" Target="../embeddings/oleObject7.bin"/><Relationship Id="rId1" Type="http://schemas.openxmlformats.org/officeDocument/2006/relationships/themeOverride" Target="../theme/themeOverride8.xml"/><Relationship Id="rId6" Type="http://schemas.openxmlformats.org/officeDocument/2006/relationships/image" Target="../media/image1.png"/><Relationship Id="rId11" Type="http://schemas.openxmlformats.org/officeDocument/2006/relationships/oleObject" Target="../embeddings/oleObject3.bin"/><Relationship Id="rId5" Type="http://schemas.openxmlformats.org/officeDocument/2006/relationships/notesSlide" Target="../notesSlides/notesSlide1.xml"/><Relationship Id="rId15" Type="http://schemas.openxmlformats.org/officeDocument/2006/relationships/oleObject" Target="../embeddings/oleObject6.bin"/><Relationship Id="rId10" Type="http://schemas.openxmlformats.org/officeDocument/2006/relationships/image" Target="../media/image12.wmf"/><Relationship Id="rId4" Type="http://schemas.openxmlformats.org/officeDocument/2006/relationships/slideLayout" Target="../slideLayouts/slideLayout2.xml"/><Relationship Id="rId9" Type="http://schemas.openxmlformats.org/officeDocument/2006/relationships/oleObject" Target="../embeddings/oleObject2.bin"/><Relationship Id="rId14" Type="http://schemas.openxmlformats.org/officeDocument/2006/relationships/oleObject" Target="../embeddings/oleObject5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tags" Target="../tags/tag3.xml"/><Relationship Id="rId7" Type="http://schemas.openxmlformats.org/officeDocument/2006/relationships/image" Target="../media/image15.wmf"/><Relationship Id="rId2" Type="http://schemas.openxmlformats.org/officeDocument/2006/relationships/vmlDrawing" Target="../drawings/vmlDrawing2.vml"/><Relationship Id="rId1" Type="http://schemas.openxmlformats.org/officeDocument/2006/relationships/themeOverride" Target="../theme/themeOverride10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12.wmf"/><Relationship Id="rId5" Type="http://schemas.openxmlformats.org/officeDocument/2006/relationships/image" Target="../media/image1.png"/><Relationship Id="rId10" Type="http://schemas.openxmlformats.org/officeDocument/2006/relationships/oleObject" Target="../embeddings/oleObject12.bin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6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13" Type="http://schemas.openxmlformats.org/officeDocument/2006/relationships/image" Target="../media/image13.wmf"/><Relationship Id="rId18" Type="http://schemas.openxmlformats.org/officeDocument/2006/relationships/oleObject" Target="../embeddings/oleObject19.bin"/><Relationship Id="rId3" Type="http://schemas.openxmlformats.org/officeDocument/2006/relationships/tags" Target="../tags/tag4.xml"/><Relationship Id="rId7" Type="http://schemas.openxmlformats.org/officeDocument/2006/relationships/image" Target="../media/image17.wmf"/><Relationship Id="rId12" Type="http://schemas.openxmlformats.org/officeDocument/2006/relationships/oleObject" Target="../embeddings/oleObject16.bin"/><Relationship Id="rId17" Type="http://schemas.openxmlformats.org/officeDocument/2006/relationships/image" Target="../media/image19.wmf"/><Relationship Id="rId2" Type="http://schemas.openxmlformats.org/officeDocument/2006/relationships/vmlDrawing" Target="../drawings/vmlDrawing3.vml"/><Relationship Id="rId16" Type="http://schemas.openxmlformats.org/officeDocument/2006/relationships/oleObject" Target="../embeddings/oleObject18.bin"/><Relationship Id="rId1" Type="http://schemas.openxmlformats.org/officeDocument/2006/relationships/themeOverride" Target="../theme/themeOverride11.xml"/><Relationship Id="rId6" Type="http://schemas.openxmlformats.org/officeDocument/2006/relationships/oleObject" Target="../embeddings/oleObject13.bin"/><Relationship Id="rId11" Type="http://schemas.openxmlformats.org/officeDocument/2006/relationships/image" Target="../media/image11.wmf"/><Relationship Id="rId5" Type="http://schemas.openxmlformats.org/officeDocument/2006/relationships/image" Target="../media/image1.png"/><Relationship Id="rId15" Type="http://schemas.openxmlformats.org/officeDocument/2006/relationships/image" Target="../media/image18.wmf"/><Relationship Id="rId10" Type="http://schemas.openxmlformats.org/officeDocument/2006/relationships/oleObject" Target="../embeddings/oleObject15.bin"/><Relationship Id="rId19" Type="http://schemas.openxmlformats.org/officeDocument/2006/relationships/image" Target="../media/image20.wmf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2.wmf"/><Relationship Id="rId14" Type="http://schemas.openxmlformats.org/officeDocument/2006/relationships/oleObject" Target="../embeddings/oleObject17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.xml"/><Relationship Id="rId1" Type="http://schemas.openxmlformats.org/officeDocument/2006/relationships/themeOverride" Target="../theme/themeOverride14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hemeOverride" Target="../theme/themeOverride15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20000"/>
                <a:lumOff val="80000"/>
              </a:schemeClr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018691"/>
            <a:ext cx="8229600" cy="1254448"/>
          </a:xfrm>
        </p:spPr>
        <p:txBody>
          <a:bodyPr lIns="0" tIns="0"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Microprocessors and Assembly </a:t>
            </a:r>
            <a:r>
              <a:rPr lang="en-US" sz="32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Language</a:t>
            </a:r>
            <a:r>
              <a:rPr lang="en-US" sz="24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/>
            </a:r>
            <a:br>
              <a:rPr lang="en-US" sz="24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</a:br>
            <a:r>
              <a:rPr lang="en-US" sz="2400" dirty="0" smtClean="0">
                <a:solidFill>
                  <a:srgbClr val="C00000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 </a:t>
            </a:r>
            <a:r>
              <a:rPr lang="en-US" sz="2000" b="0" dirty="0" smtClean="0">
                <a:solidFill>
                  <a:srgbClr val="130868"/>
                </a:solidFill>
                <a:effectLst/>
                <a:latin typeface="Times New Roman" pitchFamily="18" charset="0"/>
                <a:cs typeface="B Titr" panose="00000700000000000000" pitchFamily="2" charset="-78"/>
              </a:rPr>
              <a:t>Fall 2024</a:t>
            </a:r>
            <a:endParaRPr lang="en-US" sz="1600" b="0" dirty="0">
              <a:solidFill>
                <a:srgbClr val="130868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Picture 3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904507" y="610740"/>
            <a:ext cx="1334986" cy="13704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36"/>
          <p:cNvSpPr txBox="1">
            <a:spLocks noChangeArrowheads="1"/>
          </p:cNvSpPr>
          <p:nvPr/>
        </p:nvSpPr>
        <p:spPr bwMode="auto">
          <a:xfrm>
            <a:off x="457200" y="3810000"/>
            <a:ext cx="8382000" cy="22775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algn="r" rtl="1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Aft>
                <a:spcPts val="600"/>
              </a:spcAft>
            </a:pPr>
            <a:r>
              <a:rPr lang="en-US" sz="2400" b="1" dirty="0" smtClean="0">
                <a:latin typeface="Calibri" panose="020F0502020204030204" pitchFamily="34" charset="0"/>
                <a:cs typeface="B Titr" pitchFamily="2" charset="-78"/>
              </a:rPr>
              <a:t>Hamed Farbeh</a:t>
            </a:r>
          </a:p>
          <a:p>
            <a:pPr algn="ctr" eaLnBrk="1" hangingPunct="1">
              <a:spcAft>
                <a:spcPts val="600"/>
              </a:spcAft>
            </a:pPr>
            <a:r>
              <a:rPr lang="en-US" b="1" dirty="0" smtClean="0">
                <a:latin typeface="Calibri" panose="020F0502020204030204" pitchFamily="34" charset="0"/>
                <a:cs typeface="B Titr" pitchFamily="2" charset="-78"/>
              </a:rPr>
              <a:t>farbeh@aut.ac.ir</a:t>
            </a:r>
            <a:endParaRPr lang="fa-IR" b="1" dirty="0">
              <a:latin typeface="Calibri" panose="020F0502020204030204" pitchFamily="34" charset="0"/>
              <a:cs typeface="B Titr" pitchFamily="2" charset="-78"/>
            </a:endParaRPr>
          </a:p>
          <a:p>
            <a:pPr algn="ctr" eaLnBrk="1" hangingPunct="1">
              <a:lnSpc>
                <a:spcPct val="150000"/>
              </a:lnSpc>
            </a:pPr>
            <a:r>
              <a:rPr lang="en-US" sz="2000" dirty="0">
                <a:latin typeface="Calibri" panose="020F0502020204030204" pitchFamily="34" charset="0"/>
                <a:cs typeface="B Titr" pitchFamily="2" charset="-78"/>
              </a:rPr>
              <a:t>Department of Computer </a:t>
            </a:r>
            <a:r>
              <a:rPr lang="en-US" sz="2000" dirty="0" smtClean="0">
                <a:latin typeface="Calibri" panose="020F0502020204030204" pitchFamily="34" charset="0"/>
                <a:cs typeface="B Titr" pitchFamily="2" charset="-78"/>
              </a:rPr>
              <a:t>Engineering</a:t>
            </a:r>
          </a:p>
          <a:p>
            <a:pPr algn="ctr" eaLnBrk="1" hangingPunct="1">
              <a:lnSpc>
                <a:spcPct val="150000"/>
              </a:lnSpc>
            </a:pPr>
            <a:r>
              <a:rPr lang="en-US" sz="2000" dirty="0">
                <a:latin typeface="Calibri" panose="020F0502020204030204" pitchFamily="34" charset="0"/>
                <a:cs typeface="B Titr" pitchFamily="2" charset="-78"/>
              </a:rPr>
              <a:t>Amirkabir University of </a:t>
            </a:r>
            <a:r>
              <a:rPr lang="en-US" sz="2000" dirty="0" smtClean="0">
                <a:latin typeface="Calibri" panose="020F0502020204030204" pitchFamily="34" charset="0"/>
                <a:cs typeface="B Titr" pitchFamily="2" charset="-78"/>
              </a:rPr>
              <a:t>Technology</a:t>
            </a:r>
          </a:p>
          <a:p>
            <a:pPr algn="ctr" eaLnBrk="1" hangingPunct="1">
              <a:lnSpc>
                <a:spcPct val="150000"/>
              </a:lnSpc>
            </a:pPr>
            <a:r>
              <a:rPr lang="en-US" sz="2000" dirty="0" smtClean="0">
                <a:latin typeface="Calibri" panose="020F0502020204030204" pitchFamily="34" charset="0"/>
                <a:cs typeface="B Titr" pitchFamily="2" charset="-78"/>
              </a:rPr>
              <a:t>Lecture 11</a:t>
            </a:r>
            <a:endParaRPr lang="en-US" sz="2000" dirty="0">
              <a:latin typeface="Calibri" panose="020F0502020204030204" pitchFamily="34" charset="0"/>
              <a:cs typeface="B Titr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9118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+mj-lt"/>
                <a:cs typeface="B Titr" panose="00000700000000000000" pitchFamily="2" charset="-78"/>
              </a:rPr>
              <a:t>Copyright Notice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2</a:t>
            </a:fld>
            <a:endParaRPr lang="en-US" dirty="0">
              <a:latin typeface="+mj-lt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457200" y="1143000"/>
            <a:ext cx="827562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/>
              <a:t>Parts (text &amp; figures) of this lecture are adopted from: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err="1">
                <a:cs typeface="B Nazanin" pitchFamily="2" charset="-78"/>
              </a:rPr>
              <a:t>Prabal</a:t>
            </a:r>
            <a:r>
              <a:rPr lang="en-US" sz="2000" b="1" dirty="0">
                <a:cs typeface="B Nazanin" pitchFamily="2" charset="-78"/>
              </a:rPr>
              <a:t> </a:t>
            </a:r>
            <a:r>
              <a:rPr lang="en-US" sz="2000" b="1" dirty="0" err="1" smtClean="0">
                <a:cs typeface="B Nazanin" pitchFamily="2" charset="-78"/>
              </a:rPr>
              <a:t>Dutta</a:t>
            </a:r>
            <a:r>
              <a:rPr lang="en-US" sz="2000" b="1" dirty="0" smtClean="0">
                <a:cs typeface="B Nazanin" pitchFamily="2" charset="-78"/>
              </a:rPr>
              <a:t>, “EECS 373 Design </a:t>
            </a:r>
            <a:r>
              <a:rPr lang="en-US" sz="2000" b="1" dirty="0">
                <a:cs typeface="B Nazanin" pitchFamily="2" charset="-78"/>
              </a:rPr>
              <a:t>of Microprocessor-Based Systems,” University of Michigan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cs typeface="B Nazanin" pitchFamily="2" charset="-78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>
              <a:cs typeface="B Nazanin" pitchFamily="2" charset="-78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cs typeface="B Nazanin" pitchFamily="2" charset="-78"/>
              </a:rPr>
              <a:t>Atmel </a:t>
            </a:r>
            <a:r>
              <a:rPr lang="en-US" sz="2000" b="1" dirty="0">
                <a:cs typeface="B Nazanin" pitchFamily="2" charset="-78"/>
              </a:rPr>
              <a:t>| SMART ARM-based MCU DATASHEET, SAM3X / SAM3A Series, </a:t>
            </a:r>
            <a:r>
              <a:rPr lang="en-US" sz="2000" b="1" dirty="0" smtClean="0">
                <a:cs typeface="B Nazanin" pitchFamily="2" charset="-78"/>
              </a:rPr>
              <a:t>Atmel-11057C-ATARM-SAM3X-SAM3A-Datasheet_23-Mar-15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cs typeface="B Nazanin" pitchFamily="2" charset="-78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7319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3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3850" y="2666999"/>
            <a:ext cx="8458200" cy="837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b="1" dirty="0"/>
              <a:t>Sampling, ADCs, and </a:t>
            </a:r>
            <a:r>
              <a:rPr lang="en-US" sz="3600" b="1" dirty="0" smtClean="0"/>
              <a:t>DACs</a:t>
            </a:r>
            <a:endParaRPr lang="en-US" sz="3600" b="1" dirty="0"/>
          </a:p>
        </p:txBody>
      </p:sp>
      <p:sp>
        <p:nvSpPr>
          <p:cNvPr id="2" name="AutoShape 4" descr="robot GIF"/>
          <p:cNvSpPr>
            <a:spLocks noChangeAspect="1" noChangeArrowheads="1"/>
          </p:cNvSpPr>
          <p:nvPr/>
        </p:nvSpPr>
        <p:spPr bwMode="auto">
          <a:xfrm>
            <a:off x="155575" y="-814388"/>
            <a:ext cx="2362200" cy="1704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055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+mj-lt"/>
                <a:cs typeface="B Titr" panose="00000700000000000000" pitchFamily="2" charset="-78"/>
              </a:rPr>
              <a:t>We live in an analog world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4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4661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Everything in the physical world is an analog signal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Sound, light, temperature, pressure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Need to convert into electrical signals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Transducers: converts one type of energy to another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Electro-mechanical, Photonic, Electrical, …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Examples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Microphone/speaker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Thermocouples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Accelerometers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pic>
        <p:nvPicPr>
          <p:cNvPr id="8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7700" y="4567535"/>
            <a:ext cx="825500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4229476"/>
            <a:ext cx="1400175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6600" y="3505200"/>
            <a:ext cx="1676400" cy="1239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8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4953000"/>
            <a:ext cx="1981200" cy="134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3822780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Transducers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5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134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Transducers convert one form of energy into </a:t>
            </a:r>
            <a:r>
              <a:rPr lang="en-US" sz="2000" b="1" dirty="0" smtClean="0"/>
              <a:t>another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Allow us to convert physical phenomena to a voltage potential in a well-defined way</a:t>
            </a: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1837" y="2176910"/>
            <a:ext cx="2668587" cy="2874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296862" y="5013623"/>
            <a:ext cx="861853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1pPr>
            <a:lvl2pPr marL="742950" indent="-28575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2pPr>
            <a:lvl3pPr marL="11430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3pPr>
            <a:lvl4pPr marL="16002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4pPr>
            <a:lvl5pPr marL="20574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9pPr>
          </a:lstStyle>
          <a:p>
            <a:r>
              <a:rPr lang="en-US" sz="1600" dirty="0"/>
              <a:t>A transducer is a device that converts one type of energy to another. The conversion can be to/from </a:t>
            </a:r>
          </a:p>
          <a:p>
            <a:r>
              <a:rPr lang="en-US" sz="1600" dirty="0"/>
              <a:t>electrical, electro-mechanical, electromagnetic, photonic, photovoltaic, or any other form of energy. </a:t>
            </a:r>
          </a:p>
          <a:p>
            <a:r>
              <a:rPr lang="en-US" sz="1600" dirty="0"/>
              <a:t>While the term transducer commonly implies use as a sensor/detector, any device which converts energy </a:t>
            </a:r>
            <a:r>
              <a:rPr lang="en-US" sz="1600" dirty="0" smtClean="0"/>
              <a:t>can </a:t>
            </a:r>
            <a:r>
              <a:rPr lang="en-US" sz="1600" dirty="0"/>
              <a:t>be considered a transducer. </a:t>
            </a:r>
            <a:r>
              <a:rPr lang="en-US" sz="1600" dirty="0" smtClean="0">
                <a:solidFill>
                  <a:srgbClr val="FF0000"/>
                </a:solidFill>
              </a:rPr>
              <a:t>[Wikipedia]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6448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An Example: Photocell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6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Convert light to voltage with a </a:t>
            </a:r>
            <a:r>
              <a:rPr lang="en-US" sz="2000" b="1" dirty="0" err="1" smtClean="0"/>
              <a:t>CdS</a:t>
            </a:r>
            <a:r>
              <a:rPr lang="en-US" sz="2000" b="1" dirty="0"/>
              <a:t> </a:t>
            </a:r>
            <a:r>
              <a:rPr lang="en-US" sz="2000" b="1" dirty="0" smtClean="0"/>
              <a:t>Photocell</a:t>
            </a:r>
          </a:p>
          <a:p>
            <a:pPr lvl="2">
              <a:lnSpc>
                <a:spcPct val="150000"/>
              </a:lnSpc>
            </a:pPr>
            <a:r>
              <a:rPr lang="en-US" b="1" dirty="0" smtClean="0"/>
              <a:t>	</a:t>
            </a:r>
            <a:r>
              <a:rPr lang="en-US" b="1" dirty="0" err="1" smtClean="0"/>
              <a:t>V</a:t>
            </a:r>
            <a:r>
              <a:rPr lang="en-US" b="1" baseline="-25000" dirty="0" err="1" smtClean="0"/>
              <a:t>signal</a:t>
            </a:r>
            <a:r>
              <a:rPr lang="en-US" b="1" dirty="0" smtClean="0"/>
              <a:t> </a:t>
            </a:r>
            <a:r>
              <a:rPr lang="en-US" b="1" dirty="0"/>
              <a:t>= (+5V) R</a:t>
            </a:r>
            <a:r>
              <a:rPr lang="en-US" b="1" baseline="-25000" dirty="0"/>
              <a:t>R</a:t>
            </a:r>
            <a:r>
              <a:rPr lang="en-US" b="1" dirty="0"/>
              <a:t>/(R + R</a:t>
            </a:r>
            <a:r>
              <a:rPr lang="en-US" b="1" baseline="-25000" dirty="0"/>
              <a:t>R</a:t>
            </a:r>
            <a:r>
              <a:rPr lang="en-US" b="1" dirty="0"/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Choose R=R</a:t>
            </a:r>
            <a:r>
              <a:rPr lang="en-US" b="1" baseline="-25000" dirty="0"/>
              <a:t>R</a:t>
            </a:r>
            <a:r>
              <a:rPr lang="en-US" b="1" dirty="0"/>
              <a:t> at median of intended range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Cadmium Sulfide (</a:t>
            </a:r>
            <a:r>
              <a:rPr lang="en-US" b="1" dirty="0" err="1"/>
              <a:t>CdS</a:t>
            </a:r>
            <a:r>
              <a:rPr lang="en-US" b="1" dirty="0"/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 smtClean="0"/>
              <a:t>t</a:t>
            </a:r>
            <a:r>
              <a:rPr lang="en-US" b="1" baseline="-25000" dirty="0" err="1" smtClean="0"/>
              <a:t>RC</a:t>
            </a:r>
            <a:r>
              <a:rPr lang="en-US" b="1" dirty="0" smtClean="0"/>
              <a:t> </a:t>
            </a:r>
            <a:r>
              <a:rPr lang="en-US" b="1" dirty="0"/>
              <a:t>= (R+R</a:t>
            </a:r>
            <a:r>
              <a:rPr lang="en-US" b="1" baseline="-25000" dirty="0"/>
              <a:t>R</a:t>
            </a:r>
            <a:r>
              <a:rPr lang="en-US" b="1" dirty="0"/>
              <a:t>)*</a:t>
            </a:r>
            <a:r>
              <a:rPr lang="en-US" b="1" dirty="0" err="1"/>
              <a:t>C</a:t>
            </a:r>
            <a:r>
              <a:rPr lang="en-US" b="1" baseline="-25000" dirty="0" err="1"/>
              <a:t>l</a:t>
            </a:r>
            <a:endParaRPr lang="en-US" b="1" baseline="-25000" dirty="0"/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Typically R~50-200k</a:t>
            </a:r>
            <a:r>
              <a:rPr lang="en-US" dirty="0" smtClean="0">
                <a:latin typeface="Symbol" pitchFamily="18" charset="2"/>
              </a:rPr>
              <a:t>W</a:t>
            </a:r>
            <a:endParaRPr lang="en-US" b="1" dirty="0"/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C~20pF 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So, t</a:t>
            </a:r>
            <a:r>
              <a:rPr lang="en-US" b="1" baseline="-25000" dirty="0"/>
              <a:t>RC</a:t>
            </a:r>
            <a:r>
              <a:rPr lang="en-US" b="1" dirty="0"/>
              <a:t>~20-80uS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/>
              <a:t>f</a:t>
            </a:r>
            <a:r>
              <a:rPr lang="en-US" b="1" baseline="-25000" dirty="0" err="1"/>
              <a:t>RC</a:t>
            </a:r>
            <a:r>
              <a:rPr lang="en-US" b="1" dirty="0"/>
              <a:t> ~ 10-50kHz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pic>
        <p:nvPicPr>
          <p:cNvPr id="12" name="Picture 3" descr="photoresistor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2286000"/>
            <a:ext cx="2819400" cy="298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72518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+mj-lt"/>
                <a:cs typeface="B Titr" panose="00000700000000000000" pitchFamily="2" charset="-78"/>
              </a:rPr>
              <a:t>Many other common sensors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7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373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Force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Sound</a:t>
            </a: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Microphones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Position</a:t>
            </a: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Gyros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Acceleration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Field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</p:spTree>
    <p:extLst>
      <p:ext uri="{BB962C8B-B14F-4D97-AF65-F5344CB8AC3E}">
        <p14:creationId xmlns:p14="http://schemas.microsoft.com/office/powerpoint/2010/main" val="39888389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+mj-lt"/>
                <a:cs typeface="B Titr" panose="00000700000000000000" pitchFamily="2" charset="-78"/>
              </a:rPr>
              <a:t>Going from </a:t>
            </a:r>
            <a:r>
              <a:rPr lang="en-US" sz="3200" dirty="0" smtClean="0">
                <a:latin typeface="+mj-lt"/>
                <a:cs typeface="B Titr" panose="00000700000000000000" pitchFamily="2" charset="-78"/>
              </a:rPr>
              <a:t>Analog </a:t>
            </a:r>
            <a:r>
              <a:rPr lang="en-US" sz="3200" dirty="0">
                <a:latin typeface="+mj-lt"/>
                <a:cs typeface="B Titr" panose="00000700000000000000" pitchFamily="2" charset="-78"/>
              </a:rPr>
              <a:t>to </a:t>
            </a:r>
            <a:r>
              <a:rPr lang="en-US" sz="3200" dirty="0" smtClean="0">
                <a:latin typeface="+mj-lt"/>
                <a:cs typeface="B Titr" panose="00000700000000000000" pitchFamily="2" charset="-78"/>
              </a:rPr>
              <a:t>Digital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8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373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What we </a:t>
            </a:r>
            <a:r>
              <a:rPr lang="en-US" sz="2000" b="1" dirty="0" smtClean="0"/>
              <a:t>want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>
              <a:lnSpc>
                <a:spcPct val="150000"/>
              </a:lnSpc>
            </a:pPr>
            <a:endParaRPr lang="en-US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How we have to get there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sp>
        <p:nvSpPr>
          <p:cNvPr id="8" name="AutoShape 16"/>
          <p:cNvSpPr>
            <a:spLocks noChangeArrowheads="1"/>
          </p:cNvSpPr>
          <p:nvPr/>
        </p:nvSpPr>
        <p:spPr bwMode="auto">
          <a:xfrm>
            <a:off x="4038600" y="2133600"/>
            <a:ext cx="990600" cy="76200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endParaRPr lang="en-US" sz="1800">
              <a:latin typeface="Arial" pitchFamily="34" charset="0"/>
            </a:endParaRPr>
          </a:p>
        </p:txBody>
      </p:sp>
      <p:sp>
        <p:nvSpPr>
          <p:cNvPr id="9" name="AutoShape 17"/>
          <p:cNvSpPr>
            <a:spLocks noChangeArrowheads="1"/>
          </p:cNvSpPr>
          <p:nvPr/>
        </p:nvSpPr>
        <p:spPr bwMode="auto">
          <a:xfrm>
            <a:off x="3048000" y="2362200"/>
            <a:ext cx="838200" cy="304800"/>
          </a:xfrm>
          <a:prstGeom prst="rightArrow">
            <a:avLst>
              <a:gd name="adj1" fmla="val 50000"/>
              <a:gd name="adj2" fmla="val 68750"/>
            </a:avLst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0" hangingPunct="0"/>
            <a:endParaRPr lang="en-US"/>
          </a:p>
        </p:txBody>
      </p:sp>
      <p:sp>
        <p:nvSpPr>
          <p:cNvPr id="10" name="Text Box 18"/>
          <p:cNvSpPr txBox="1">
            <a:spLocks noChangeArrowheads="1"/>
          </p:cNvSpPr>
          <p:nvPr/>
        </p:nvSpPr>
        <p:spPr bwMode="auto">
          <a:xfrm>
            <a:off x="1600200" y="2178050"/>
            <a:ext cx="15240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1pPr>
            <a:lvl2pPr marL="742950" indent="-28575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2pPr>
            <a:lvl3pPr marL="11430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3pPr>
            <a:lvl4pPr marL="16002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4pPr>
            <a:lvl5pPr marL="20574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9pPr>
          </a:lstStyle>
          <a:p>
            <a:r>
              <a:rPr lang="en-US" sz="1800">
                <a:latin typeface="Arial" pitchFamily="34" charset="0"/>
              </a:rPr>
              <a:t>Physical</a:t>
            </a:r>
          </a:p>
          <a:p>
            <a:r>
              <a:rPr lang="en-US" sz="1800">
                <a:latin typeface="Arial" pitchFamily="34" charset="0"/>
              </a:rPr>
              <a:t>Phenomena</a:t>
            </a:r>
          </a:p>
        </p:txBody>
      </p:sp>
      <p:sp>
        <p:nvSpPr>
          <p:cNvPr id="12" name="AutoShape 19"/>
          <p:cNvSpPr>
            <a:spLocks noChangeArrowheads="1"/>
          </p:cNvSpPr>
          <p:nvPr/>
        </p:nvSpPr>
        <p:spPr bwMode="auto">
          <a:xfrm>
            <a:off x="5181600" y="2362200"/>
            <a:ext cx="838200" cy="304800"/>
          </a:xfrm>
          <a:prstGeom prst="rightArrow">
            <a:avLst>
              <a:gd name="adj1" fmla="val 50000"/>
              <a:gd name="adj2" fmla="val 68750"/>
            </a:avLst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0" hangingPunct="0"/>
            <a:endParaRPr lang="en-US"/>
          </a:p>
        </p:txBody>
      </p:sp>
      <p:sp>
        <p:nvSpPr>
          <p:cNvPr id="14" name="Text Box 20"/>
          <p:cNvSpPr txBox="1">
            <a:spLocks noChangeArrowheads="1"/>
          </p:cNvSpPr>
          <p:nvPr/>
        </p:nvSpPr>
        <p:spPr bwMode="auto">
          <a:xfrm>
            <a:off x="6096000" y="2178050"/>
            <a:ext cx="15240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1pPr>
            <a:lvl2pPr marL="742950" indent="-28575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2pPr>
            <a:lvl3pPr marL="11430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3pPr>
            <a:lvl4pPr marL="16002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4pPr>
            <a:lvl5pPr marL="2057400" indent="-228600" eaLnBrk="0" hangingPunct="0"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9pPr>
          </a:lstStyle>
          <a:p>
            <a:r>
              <a:rPr lang="en-US" sz="1800">
                <a:latin typeface="Arial" pitchFamily="34" charset="0"/>
              </a:rPr>
              <a:t>Engineering Units</a:t>
            </a:r>
          </a:p>
        </p:txBody>
      </p:sp>
      <p:grpSp>
        <p:nvGrpSpPr>
          <p:cNvPr id="15" name="Group 21"/>
          <p:cNvGrpSpPr>
            <a:grpSpLocks/>
          </p:cNvGrpSpPr>
          <p:nvPr/>
        </p:nvGrpSpPr>
        <p:grpSpPr bwMode="auto">
          <a:xfrm>
            <a:off x="152400" y="4311650"/>
            <a:ext cx="8839200" cy="1403350"/>
            <a:chOff x="96" y="2716"/>
            <a:chExt cx="5568" cy="884"/>
          </a:xfrm>
        </p:grpSpPr>
        <p:sp>
          <p:nvSpPr>
            <p:cNvPr id="16" name="AutoShape 4"/>
            <p:cNvSpPr>
              <a:spLocks noChangeArrowheads="1"/>
            </p:cNvSpPr>
            <p:nvPr/>
          </p:nvSpPr>
          <p:spPr bwMode="auto">
            <a:xfrm>
              <a:off x="4080" y="3120"/>
              <a:ext cx="624" cy="480"/>
            </a:xfrm>
            <a:prstGeom prst="roundRect">
              <a:avLst>
                <a:gd name="adj" fmla="val 16667"/>
              </a:avLst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eaLnBrk="0" hangingPunct="0"/>
              <a:r>
                <a:rPr lang="en-US" sz="1800">
                  <a:latin typeface="Arial" pitchFamily="34" charset="0"/>
                </a:rPr>
                <a:t>Software</a:t>
              </a:r>
            </a:p>
          </p:txBody>
        </p:sp>
        <p:sp>
          <p:nvSpPr>
            <p:cNvPr id="17" name="AutoShape 5"/>
            <p:cNvSpPr>
              <a:spLocks noChangeArrowheads="1"/>
            </p:cNvSpPr>
            <p:nvPr/>
          </p:nvSpPr>
          <p:spPr bwMode="auto">
            <a:xfrm>
              <a:off x="1008" y="3120"/>
              <a:ext cx="624" cy="480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eaLnBrk="0" hangingPunct="0"/>
              <a:r>
                <a:rPr lang="en-US" sz="1800">
                  <a:latin typeface="Arial" pitchFamily="34" charset="0"/>
                </a:rPr>
                <a:t>Sensor</a:t>
              </a:r>
            </a:p>
          </p:txBody>
        </p:sp>
        <p:sp>
          <p:nvSpPr>
            <p:cNvPr id="18" name="AutoShape 6"/>
            <p:cNvSpPr>
              <a:spLocks noChangeArrowheads="1"/>
            </p:cNvSpPr>
            <p:nvPr/>
          </p:nvSpPr>
          <p:spPr bwMode="auto">
            <a:xfrm>
              <a:off x="2544" y="3120"/>
              <a:ext cx="624" cy="480"/>
            </a:xfrm>
            <a:prstGeom prst="roundRect">
              <a:avLst>
                <a:gd name="adj" fmla="val 16667"/>
              </a:avLst>
            </a:prstGeom>
            <a:solidFill>
              <a:srgbClr val="CC99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eaLnBrk="0" hangingPunct="0"/>
              <a:r>
                <a:rPr lang="en-US" sz="1800">
                  <a:latin typeface="Arial" pitchFamily="34" charset="0"/>
                </a:rPr>
                <a:t>ADC</a:t>
              </a:r>
            </a:p>
          </p:txBody>
        </p:sp>
        <p:sp>
          <p:nvSpPr>
            <p:cNvPr id="19" name="AutoShape 7"/>
            <p:cNvSpPr>
              <a:spLocks noChangeArrowheads="1"/>
            </p:cNvSpPr>
            <p:nvPr/>
          </p:nvSpPr>
          <p:spPr bwMode="auto">
            <a:xfrm>
              <a:off x="384" y="3264"/>
              <a:ext cx="528" cy="192"/>
            </a:xfrm>
            <a:prstGeom prst="rightArrow">
              <a:avLst>
                <a:gd name="adj1" fmla="val 50000"/>
                <a:gd name="adj2" fmla="val 68750"/>
              </a:avLst>
            </a:prstGeom>
            <a:solidFill>
              <a:srgbClr val="C0C0C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en-US"/>
            </a:p>
          </p:txBody>
        </p:sp>
        <p:sp>
          <p:nvSpPr>
            <p:cNvPr id="20" name="AutoShape 8"/>
            <p:cNvSpPr>
              <a:spLocks noChangeArrowheads="1"/>
            </p:cNvSpPr>
            <p:nvPr/>
          </p:nvSpPr>
          <p:spPr bwMode="auto">
            <a:xfrm>
              <a:off x="1728" y="3264"/>
              <a:ext cx="720" cy="192"/>
            </a:xfrm>
            <a:prstGeom prst="rightArrow">
              <a:avLst>
                <a:gd name="adj1" fmla="val 50000"/>
                <a:gd name="adj2" fmla="val 93750"/>
              </a:avLst>
            </a:prstGeom>
            <a:solidFill>
              <a:srgbClr val="C0C0C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en-US"/>
            </a:p>
          </p:txBody>
        </p:sp>
        <p:sp>
          <p:nvSpPr>
            <p:cNvPr id="21" name="AutoShape 10"/>
            <p:cNvSpPr>
              <a:spLocks noChangeArrowheads="1"/>
            </p:cNvSpPr>
            <p:nvPr/>
          </p:nvSpPr>
          <p:spPr bwMode="auto">
            <a:xfrm>
              <a:off x="3264" y="3264"/>
              <a:ext cx="720" cy="192"/>
            </a:xfrm>
            <a:prstGeom prst="rightArrow">
              <a:avLst>
                <a:gd name="adj1" fmla="val 50000"/>
                <a:gd name="adj2" fmla="val 93750"/>
              </a:avLst>
            </a:prstGeom>
            <a:solidFill>
              <a:srgbClr val="C0C0C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en-US"/>
            </a:p>
          </p:txBody>
        </p:sp>
        <p:sp>
          <p:nvSpPr>
            <p:cNvPr id="22" name="AutoShape 11"/>
            <p:cNvSpPr>
              <a:spLocks noChangeArrowheads="1"/>
            </p:cNvSpPr>
            <p:nvPr/>
          </p:nvSpPr>
          <p:spPr bwMode="auto">
            <a:xfrm>
              <a:off x="4800" y="3264"/>
              <a:ext cx="576" cy="192"/>
            </a:xfrm>
            <a:prstGeom prst="rightArrow">
              <a:avLst>
                <a:gd name="adj1" fmla="val 50000"/>
                <a:gd name="adj2" fmla="val 75000"/>
              </a:avLst>
            </a:prstGeom>
            <a:solidFill>
              <a:srgbClr val="C0C0C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en-US"/>
            </a:p>
          </p:txBody>
        </p:sp>
        <p:sp>
          <p:nvSpPr>
            <p:cNvPr id="23" name="Text Box 12"/>
            <p:cNvSpPr txBox="1">
              <a:spLocks noChangeArrowheads="1"/>
            </p:cNvSpPr>
            <p:nvPr/>
          </p:nvSpPr>
          <p:spPr bwMode="auto">
            <a:xfrm>
              <a:off x="96" y="2736"/>
              <a:ext cx="960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1pPr>
              <a:lvl2pPr marL="742950" indent="-28575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2pPr>
              <a:lvl3pPr marL="11430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3pPr>
              <a:lvl4pPr marL="16002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4pPr>
              <a:lvl5pPr marL="20574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9pPr>
            </a:lstStyle>
            <a:p>
              <a:r>
                <a:rPr lang="en-US" sz="1800" dirty="0">
                  <a:latin typeface="Arial" pitchFamily="34" charset="0"/>
                </a:rPr>
                <a:t>Physical</a:t>
              </a:r>
            </a:p>
            <a:p>
              <a:r>
                <a:rPr lang="en-US" sz="1800" dirty="0">
                  <a:latin typeface="Arial" pitchFamily="34" charset="0"/>
                </a:rPr>
                <a:t>Phenomena</a:t>
              </a:r>
            </a:p>
          </p:txBody>
        </p:sp>
        <p:sp>
          <p:nvSpPr>
            <p:cNvPr id="24" name="Text Box 13"/>
            <p:cNvSpPr txBox="1">
              <a:spLocks noChangeArrowheads="1"/>
            </p:cNvSpPr>
            <p:nvPr/>
          </p:nvSpPr>
          <p:spPr bwMode="auto">
            <a:xfrm>
              <a:off x="1680" y="2736"/>
              <a:ext cx="960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1pPr>
              <a:lvl2pPr marL="742950" indent="-28575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2pPr>
              <a:lvl3pPr marL="11430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3pPr>
              <a:lvl4pPr marL="16002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4pPr>
              <a:lvl5pPr marL="20574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9pPr>
            </a:lstStyle>
            <a:p>
              <a:r>
                <a:rPr lang="en-US" sz="1800">
                  <a:latin typeface="Arial" pitchFamily="34" charset="0"/>
                </a:rPr>
                <a:t>Voltage or</a:t>
              </a:r>
            </a:p>
            <a:p>
              <a:r>
                <a:rPr lang="en-US" sz="1800">
                  <a:latin typeface="Arial" pitchFamily="34" charset="0"/>
                </a:rPr>
                <a:t>Current</a:t>
              </a:r>
            </a:p>
          </p:txBody>
        </p:sp>
        <p:sp>
          <p:nvSpPr>
            <p:cNvPr id="25" name="Text Box 14"/>
            <p:cNvSpPr txBox="1">
              <a:spLocks noChangeArrowheads="1"/>
            </p:cNvSpPr>
            <p:nvPr/>
          </p:nvSpPr>
          <p:spPr bwMode="auto">
            <a:xfrm>
              <a:off x="3216" y="2736"/>
              <a:ext cx="96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1pPr>
              <a:lvl2pPr marL="742950" indent="-28575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2pPr>
              <a:lvl3pPr marL="11430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3pPr>
              <a:lvl4pPr marL="16002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4pPr>
              <a:lvl5pPr marL="20574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9pPr>
            </a:lstStyle>
            <a:p>
              <a:r>
                <a:rPr lang="en-US" sz="1800">
                  <a:latin typeface="Arial" pitchFamily="34" charset="0"/>
                </a:rPr>
                <a:t>ADC Counts</a:t>
              </a:r>
            </a:p>
          </p:txBody>
        </p:sp>
        <p:sp>
          <p:nvSpPr>
            <p:cNvPr id="26" name="Text Box 15"/>
            <p:cNvSpPr txBox="1">
              <a:spLocks noChangeArrowheads="1"/>
            </p:cNvSpPr>
            <p:nvPr/>
          </p:nvSpPr>
          <p:spPr bwMode="auto">
            <a:xfrm>
              <a:off x="4704" y="2716"/>
              <a:ext cx="960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1pPr>
              <a:lvl2pPr marL="742950" indent="-28575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2pPr>
              <a:lvl3pPr marL="11430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3pPr>
              <a:lvl4pPr marL="16002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4pPr>
              <a:lvl5pPr marL="20574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9pPr>
            </a:lstStyle>
            <a:p>
              <a:r>
                <a:rPr lang="en-US" sz="1800">
                  <a:latin typeface="Arial" pitchFamily="34" charset="0"/>
                </a:rPr>
                <a:t>Engineering Units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30004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b-NO" sz="3200" dirty="0">
                <a:latin typeface="+mj-lt"/>
                <a:cs typeface="B Titr" panose="00000700000000000000" pitchFamily="2" charset="-78"/>
              </a:rPr>
              <a:t>Representing an analog signal digitally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9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How do we represent an analog signal?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As a time series of discrete </a:t>
            </a:r>
            <a:r>
              <a:rPr lang="en-US" sz="2000" b="1" dirty="0" smtClean="0"/>
              <a:t>values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On </a:t>
            </a:r>
            <a:r>
              <a:rPr lang="en-US" sz="2000" b="1" dirty="0"/>
              <a:t>MCU: read the ADC data register </a:t>
            </a:r>
            <a:r>
              <a:rPr lang="en-US" sz="2000" b="1" dirty="0" smtClean="0"/>
              <a:t>periodically</a:t>
            </a:r>
            <a:endParaRPr lang="en-US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514600"/>
            <a:ext cx="7301707" cy="38770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461412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b-NO" sz="3200" dirty="0">
                <a:latin typeface="+mj-lt"/>
                <a:cs typeface="B Titr" panose="00000700000000000000" pitchFamily="2" charset="-78"/>
              </a:rPr>
              <a:t>Choosing the horizontal range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10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What do the sample values represent?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Some fraction within the range of </a:t>
            </a:r>
            <a:r>
              <a:rPr lang="en-US" sz="2000" b="1" dirty="0" smtClean="0"/>
              <a:t>values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What </a:t>
            </a:r>
            <a:r>
              <a:rPr lang="en-US" sz="2000" b="1" dirty="0"/>
              <a:t>range to use?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grpSp>
        <p:nvGrpSpPr>
          <p:cNvPr id="9" name="Group 168"/>
          <p:cNvGrpSpPr>
            <a:grpSpLocks/>
          </p:cNvGrpSpPr>
          <p:nvPr/>
        </p:nvGrpSpPr>
        <p:grpSpPr bwMode="auto">
          <a:xfrm>
            <a:off x="646113" y="2667000"/>
            <a:ext cx="3163887" cy="1724025"/>
            <a:chOff x="407" y="1844"/>
            <a:chExt cx="1993" cy="1086"/>
          </a:xfrm>
        </p:grpSpPr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407" y="1872"/>
            <a:ext cx="229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94" name="Equation" r:id="rId7" imgW="228501" imgH="215806" progId="Equation.3">
                    <p:embed/>
                  </p:oleObj>
                </mc:Choice>
                <mc:Fallback>
                  <p:oleObj name="Equation" r:id="rId7" imgW="228501" imgH="215806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7" y="1872"/>
                          <a:ext cx="229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Line 29"/>
            <p:cNvSpPr>
              <a:spLocks noChangeShapeType="1"/>
            </p:cNvSpPr>
            <p:nvPr/>
          </p:nvSpPr>
          <p:spPr bwMode="auto">
            <a:xfrm flipV="1">
              <a:off x="672" y="1844"/>
              <a:ext cx="0" cy="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30"/>
            <p:cNvSpPr>
              <a:spLocks noChangeShapeType="1"/>
            </p:cNvSpPr>
            <p:nvPr/>
          </p:nvSpPr>
          <p:spPr bwMode="auto">
            <a:xfrm>
              <a:off x="672" y="2708"/>
              <a:ext cx="16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5" name="Object 9"/>
            <p:cNvGraphicFramePr>
              <a:graphicFrameLocks noChangeAspect="1"/>
            </p:cNvGraphicFramePr>
            <p:nvPr/>
          </p:nvGraphicFramePr>
          <p:xfrm>
            <a:off x="2273" y="2708"/>
            <a:ext cx="127" cy="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95" name="Equation" r:id="rId9" imgW="88746" imgH="152136" progId="Equation.3">
                    <p:embed/>
                  </p:oleObj>
                </mc:Choice>
                <mc:Fallback>
                  <p:oleObj name="Equation" r:id="rId9" imgW="88746" imgH="152136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73" y="2708"/>
                          <a:ext cx="127" cy="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Rectangle 131"/>
            <p:cNvSpPr>
              <a:spLocks noChangeArrowheads="1"/>
            </p:cNvSpPr>
            <p:nvPr/>
          </p:nvSpPr>
          <p:spPr bwMode="auto">
            <a:xfrm>
              <a:off x="678" y="2400"/>
              <a:ext cx="1674" cy="2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eaLnBrk="0" hangingPunct="0"/>
              <a:endParaRPr lang="en-US"/>
            </a:p>
          </p:txBody>
        </p:sp>
        <p:sp>
          <p:nvSpPr>
            <p:cNvPr id="17" name="Line 132"/>
            <p:cNvSpPr>
              <a:spLocks noChangeShapeType="1"/>
            </p:cNvSpPr>
            <p:nvPr/>
          </p:nvSpPr>
          <p:spPr bwMode="auto">
            <a:xfrm>
              <a:off x="672" y="2400"/>
              <a:ext cx="1680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33"/>
            <p:cNvSpPr>
              <a:spLocks noChangeShapeType="1"/>
            </p:cNvSpPr>
            <p:nvPr/>
          </p:nvSpPr>
          <p:spPr bwMode="auto">
            <a:xfrm>
              <a:off x="672" y="1968"/>
              <a:ext cx="1680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Box 151"/>
            <p:cNvSpPr txBox="1">
              <a:spLocks noChangeArrowheads="1"/>
            </p:cNvSpPr>
            <p:nvPr/>
          </p:nvSpPr>
          <p:spPr bwMode="auto">
            <a:xfrm>
              <a:off x="940" y="2697"/>
              <a:ext cx="1121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1pPr>
              <a:lvl2pPr marL="742950" indent="-28575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2pPr>
              <a:lvl3pPr marL="11430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3pPr>
              <a:lvl4pPr marL="16002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4pPr>
              <a:lvl5pPr marL="20574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9pPr>
            </a:lstStyle>
            <a:p>
              <a:r>
                <a:rPr lang="en-US" sz="1800"/>
                <a:t>Range Too Small</a:t>
              </a:r>
            </a:p>
          </p:txBody>
        </p:sp>
        <p:graphicFrame>
          <p:nvGraphicFramePr>
            <p:cNvPr id="20" name="Object 10"/>
            <p:cNvGraphicFramePr>
              <a:graphicFrameLocks noChangeAspect="1"/>
            </p:cNvGraphicFramePr>
            <p:nvPr/>
          </p:nvGraphicFramePr>
          <p:xfrm>
            <a:off x="408" y="2256"/>
            <a:ext cx="204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96" name="Equation" r:id="rId11" imgW="215619" imgH="215619" progId="Equation.3">
                    <p:embed/>
                  </p:oleObj>
                </mc:Choice>
                <mc:Fallback>
                  <p:oleObj name="Equation" r:id="rId11" imgW="215619" imgH="21561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8" y="2256"/>
                          <a:ext cx="204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1" name="Group 169"/>
          <p:cNvGrpSpPr>
            <a:grpSpLocks/>
          </p:cNvGrpSpPr>
          <p:nvPr/>
        </p:nvGrpSpPr>
        <p:grpSpPr bwMode="auto">
          <a:xfrm>
            <a:off x="5046663" y="2667000"/>
            <a:ext cx="3106737" cy="1665288"/>
            <a:chOff x="3179" y="1872"/>
            <a:chExt cx="1957" cy="1049"/>
          </a:xfrm>
        </p:grpSpPr>
        <p:sp>
          <p:nvSpPr>
            <p:cNvPr id="22" name="Line 62"/>
            <p:cNvSpPr>
              <a:spLocks noChangeShapeType="1"/>
            </p:cNvSpPr>
            <p:nvPr/>
          </p:nvSpPr>
          <p:spPr bwMode="auto">
            <a:xfrm flipV="1">
              <a:off x="3408" y="1872"/>
              <a:ext cx="0" cy="8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63"/>
            <p:cNvSpPr>
              <a:spLocks noChangeShapeType="1"/>
            </p:cNvSpPr>
            <p:nvPr/>
          </p:nvSpPr>
          <p:spPr bwMode="auto">
            <a:xfrm>
              <a:off x="3408" y="2708"/>
              <a:ext cx="16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64"/>
            <p:cNvSpPr>
              <a:spLocks/>
            </p:cNvSpPr>
            <p:nvPr/>
          </p:nvSpPr>
          <p:spPr bwMode="auto">
            <a:xfrm>
              <a:off x="3408" y="2256"/>
              <a:ext cx="1655" cy="48"/>
            </a:xfrm>
            <a:custGeom>
              <a:avLst/>
              <a:gdLst>
                <a:gd name="T0" fmla="*/ 0 w 4368"/>
                <a:gd name="T1" fmla="*/ 0 h 1632"/>
                <a:gd name="T2" fmla="*/ 2 w 4368"/>
                <a:gd name="T3" fmla="*/ 0 h 1632"/>
                <a:gd name="T4" fmla="*/ 5 w 4368"/>
                <a:gd name="T5" fmla="*/ 0 h 1632"/>
                <a:gd name="T6" fmla="*/ 9 w 4368"/>
                <a:gd name="T7" fmla="*/ 0 h 1632"/>
                <a:gd name="T8" fmla="*/ 12 w 4368"/>
                <a:gd name="T9" fmla="*/ 0 h 1632"/>
                <a:gd name="T10" fmla="*/ 13 w 4368"/>
                <a:gd name="T11" fmla="*/ 0 h 16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368"/>
                <a:gd name="T19" fmla="*/ 0 h 1632"/>
                <a:gd name="T20" fmla="*/ 4368 w 4368"/>
                <a:gd name="T21" fmla="*/ 1632 h 163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368" h="1632">
                  <a:moveTo>
                    <a:pt x="0" y="1592"/>
                  </a:moveTo>
                  <a:cubicBezTo>
                    <a:pt x="196" y="804"/>
                    <a:pt x="392" y="16"/>
                    <a:pt x="672" y="8"/>
                  </a:cubicBezTo>
                  <a:cubicBezTo>
                    <a:pt x="952" y="0"/>
                    <a:pt x="1304" y="1536"/>
                    <a:pt x="1680" y="1544"/>
                  </a:cubicBezTo>
                  <a:cubicBezTo>
                    <a:pt x="2056" y="1552"/>
                    <a:pt x="2552" y="72"/>
                    <a:pt x="2928" y="56"/>
                  </a:cubicBezTo>
                  <a:cubicBezTo>
                    <a:pt x="3304" y="40"/>
                    <a:pt x="3696" y="1264"/>
                    <a:pt x="3936" y="1448"/>
                  </a:cubicBezTo>
                  <a:cubicBezTo>
                    <a:pt x="4176" y="1632"/>
                    <a:pt x="4272" y="1396"/>
                    <a:pt x="4368" y="1160"/>
                  </a:cubicBezTo>
                </a:path>
              </a:pathLst>
            </a:custGeom>
            <a:noFill/>
            <a:ln w="9525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25" name="Object 5"/>
            <p:cNvGraphicFramePr>
              <a:graphicFrameLocks noChangeAspect="1"/>
            </p:cNvGraphicFramePr>
            <p:nvPr/>
          </p:nvGraphicFramePr>
          <p:xfrm>
            <a:off x="5009" y="2708"/>
            <a:ext cx="127" cy="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97" name="Equation" r:id="rId13" imgW="88746" imgH="152136" progId="Equation.3">
                    <p:embed/>
                  </p:oleObj>
                </mc:Choice>
                <mc:Fallback>
                  <p:oleObj name="Equation" r:id="rId13" imgW="88746" imgH="152136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09" y="2708"/>
                          <a:ext cx="127" cy="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Line 143"/>
            <p:cNvSpPr>
              <a:spLocks noChangeShapeType="1"/>
            </p:cNvSpPr>
            <p:nvPr/>
          </p:nvSpPr>
          <p:spPr bwMode="auto">
            <a:xfrm>
              <a:off x="3408" y="2400"/>
              <a:ext cx="1680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44"/>
            <p:cNvSpPr>
              <a:spLocks noChangeShapeType="1"/>
            </p:cNvSpPr>
            <p:nvPr/>
          </p:nvSpPr>
          <p:spPr bwMode="auto">
            <a:xfrm>
              <a:off x="3408" y="1968"/>
              <a:ext cx="1680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 Box 152"/>
            <p:cNvSpPr txBox="1">
              <a:spLocks noChangeArrowheads="1"/>
            </p:cNvSpPr>
            <p:nvPr/>
          </p:nvSpPr>
          <p:spPr bwMode="auto">
            <a:xfrm>
              <a:off x="3744" y="2688"/>
              <a:ext cx="992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1pPr>
              <a:lvl2pPr marL="742950" indent="-28575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2pPr>
              <a:lvl3pPr marL="11430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3pPr>
              <a:lvl4pPr marL="16002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4pPr>
              <a:lvl5pPr marL="20574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9pPr>
            </a:lstStyle>
            <a:p>
              <a:r>
                <a:rPr lang="en-US" sz="1800" dirty="0"/>
                <a:t>Range Too Big</a:t>
              </a:r>
            </a:p>
          </p:txBody>
        </p:sp>
        <p:graphicFrame>
          <p:nvGraphicFramePr>
            <p:cNvPr id="29" name="Object 6"/>
            <p:cNvGraphicFramePr>
              <a:graphicFrameLocks noChangeAspect="1"/>
            </p:cNvGraphicFramePr>
            <p:nvPr/>
          </p:nvGraphicFramePr>
          <p:xfrm>
            <a:off x="3179" y="1872"/>
            <a:ext cx="229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98" name="Equation" r:id="rId14" imgW="228501" imgH="215806" progId="Equation.3">
                    <p:embed/>
                  </p:oleObj>
                </mc:Choice>
                <mc:Fallback>
                  <p:oleObj name="Equation" r:id="rId14" imgW="228501" imgH="215806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79" y="1872"/>
                          <a:ext cx="229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Object 7"/>
            <p:cNvGraphicFramePr>
              <a:graphicFrameLocks noChangeAspect="1"/>
            </p:cNvGraphicFramePr>
            <p:nvPr/>
          </p:nvGraphicFramePr>
          <p:xfrm>
            <a:off x="3180" y="2256"/>
            <a:ext cx="204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199" name="Equation" r:id="rId15" imgW="215619" imgH="215619" progId="Equation.3">
                    <p:embed/>
                  </p:oleObj>
                </mc:Choice>
                <mc:Fallback>
                  <p:oleObj name="Equation" r:id="rId15" imgW="215619" imgH="21561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80" y="2256"/>
                          <a:ext cx="204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1" name="Group 170"/>
          <p:cNvGrpSpPr>
            <a:grpSpLocks/>
          </p:cNvGrpSpPr>
          <p:nvPr/>
        </p:nvGrpSpPr>
        <p:grpSpPr bwMode="auto">
          <a:xfrm>
            <a:off x="2913063" y="4572000"/>
            <a:ext cx="3106737" cy="1755775"/>
            <a:chOff x="1835" y="3024"/>
            <a:chExt cx="1957" cy="1106"/>
          </a:xfrm>
        </p:grpSpPr>
        <p:sp>
          <p:nvSpPr>
            <p:cNvPr id="32" name="Line 120"/>
            <p:cNvSpPr>
              <a:spLocks noChangeShapeType="1"/>
            </p:cNvSpPr>
            <p:nvPr/>
          </p:nvSpPr>
          <p:spPr bwMode="auto">
            <a:xfrm flipV="1">
              <a:off x="2064" y="3072"/>
              <a:ext cx="0" cy="8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121"/>
            <p:cNvSpPr>
              <a:spLocks noChangeShapeType="1"/>
            </p:cNvSpPr>
            <p:nvPr/>
          </p:nvSpPr>
          <p:spPr bwMode="auto">
            <a:xfrm>
              <a:off x="2064" y="3908"/>
              <a:ext cx="16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122"/>
            <p:cNvSpPr>
              <a:spLocks/>
            </p:cNvSpPr>
            <p:nvPr/>
          </p:nvSpPr>
          <p:spPr bwMode="auto">
            <a:xfrm>
              <a:off x="2064" y="3168"/>
              <a:ext cx="1655" cy="618"/>
            </a:xfrm>
            <a:custGeom>
              <a:avLst/>
              <a:gdLst>
                <a:gd name="T0" fmla="*/ 0 w 4368"/>
                <a:gd name="T1" fmla="*/ 5 h 1632"/>
                <a:gd name="T2" fmla="*/ 2 w 4368"/>
                <a:gd name="T3" fmla="*/ 0 h 1632"/>
                <a:gd name="T4" fmla="*/ 5 w 4368"/>
                <a:gd name="T5" fmla="*/ 5 h 1632"/>
                <a:gd name="T6" fmla="*/ 9 w 4368"/>
                <a:gd name="T7" fmla="*/ 0 h 1632"/>
                <a:gd name="T8" fmla="*/ 12 w 4368"/>
                <a:gd name="T9" fmla="*/ 4 h 1632"/>
                <a:gd name="T10" fmla="*/ 13 w 4368"/>
                <a:gd name="T11" fmla="*/ 3 h 16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368"/>
                <a:gd name="T19" fmla="*/ 0 h 1632"/>
                <a:gd name="T20" fmla="*/ 4368 w 4368"/>
                <a:gd name="T21" fmla="*/ 1632 h 163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368" h="1632">
                  <a:moveTo>
                    <a:pt x="0" y="1592"/>
                  </a:moveTo>
                  <a:cubicBezTo>
                    <a:pt x="196" y="804"/>
                    <a:pt x="392" y="16"/>
                    <a:pt x="672" y="8"/>
                  </a:cubicBezTo>
                  <a:cubicBezTo>
                    <a:pt x="952" y="0"/>
                    <a:pt x="1304" y="1536"/>
                    <a:pt x="1680" y="1544"/>
                  </a:cubicBezTo>
                  <a:cubicBezTo>
                    <a:pt x="2056" y="1552"/>
                    <a:pt x="2552" y="72"/>
                    <a:pt x="2928" y="56"/>
                  </a:cubicBezTo>
                  <a:cubicBezTo>
                    <a:pt x="3304" y="40"/>
                    <a:pt x="3696" y="1264"/>
                    <a:pt x="3936" y="1448"/>
                  </a:cubicBezTo>
                  <a:cubicBezTo>
                    <a:pt x="4176" y="1632"/>
                    <a:pt x="4272" y="1396"/>
                    <a:pt x="4368" y="1160"/>
                  </a:cubicBezTo>
                </a:path>
              </a:pathLst>
            </a:custGeom>
            <a:noFill/>
            <a:ln w="9525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35" name="Object 2"/>
            <p:cNvGraphicFramePr>
              <a:graphicFrameLocks noChangeAspect="1"/>
            </p:cNvGraphicFramePr>
            <p:nvPr/>
          </p:nvGraphicFramePr>
          <p:xfrm>
            <a:off x="3665" y="3908"/>
            <a:ext cx="127" cy="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00" name="Equation" r:id="rId16" imgW="88746" imgH="152136" progId="Equation.3">
                    <p:embed/>
                  </p:oleObj>
                </mc:Choice>
                <mc:Fallback>
                  <p:oleObj name="Equation" r:id="rId16" imgW="88746" imgH="152136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65" y="3908"/>
                          <a:ext cx="127" cy="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6" name="Line 145"/>
            <p:cNvSpPr>
              <a:spLocks noChangeShapeType="1"/>
            </p:cNvSpPr>
            <p:nvPr/>
          </p:nvSpPr>
          <p:spPr bwMode="auto">
            <a:xfrm>
              <a:off x="2064" y="3840"/>
              <a:ext cx="1680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146"/>
            <p:cNvSpPr>
              <a:spLocks noChangeShapeType="1"/>
            </p:cNvSpPr>
            <p:nvPr/>
          </p:nvSpPr>
          <p:spPr bwMode="auto">
            <a:xfrm>
              <a:off x="2064" y="3120"/>
              <a:ext cx="1680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 Box 153"/>
            <p:cNvSpPr txBox="1">
              <a:spLocks noChangeArrowheads="1"/>
            </p:cNvSpPr>
            <p:nvPr/>
          </p:nvSpPr>
          <p:spPr bwMode="auto">
            <a:xfrm>
              <a:off x="2496" y="3897"/>
              <a:ext cx="81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1pPr>
              <a:lvl2pPr marL="742950" indent="-28575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2pPr>
              <a:lvl3pPr marL="11430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3pPr>
              <a:lvl4pPr marL="16002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4pPr>
              <a:lvl5pPr marL="2057400" indent="-228600" eaLnBrk="0" hangingPunct="0"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600">
                  <a:solidFill>
                    <a:schemeClr val="tx1"/>
                  </a:solidFill>
                  <a:latin typeface="Times New Roman" pitchFamily="18" charset="0"/>
                  <a:ea typeface="MS PGothic" pitchFamily="34" charset="-128"/>
                </a:defRPr>
              </a:lvl9pPr>
            </a:lstStyle>
            <a:p>
              <a:r>
                <a:rPr lang="en-US" sz="1800"/>
                <a:t>Ideal Range</a:t>
              </a:r>
            </a:p>
          </p:txBody>
        </p:sp>
        <p:graphicFrame>
          <p:nvGraphicFramePr>
            <p:cNvPr id="39" name="Object 3"/>
            <p:cNvGraphicFramePr>
              <a:graphicFrameLocks noChangeAspect="1"/>
            </p:cNvGraphicFramePr>
            <p:nvPr/>
          </p:nvGraphicFramePr>
          <p:xfrm>
            <a:off x="1835" y="3024"/>
            <a:ext cx="229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01" name="Equation" r:id="rId17" imgW="228501" imgH="215806" progId="Equation.3">
                    <p:embed/>
                  </p:oleObj>
                </mc:Choice>
                <mc:Fallback>
                  <p:oleObj name="Equation" r:id="rId17" imgW="228501" imgH="215806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35" y="3024"/>
                          <a:ext cx="229" cy="21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0" name="Object 4"/>
            <p:cNvGraphicFramePr>
              <a:graphicFrameLocks noChangeAspect="1"/>
            </p:cNvGraphicFramePr>
            <p:nvPr/>
          </p:nvGraphicFramePr>
          <p:xfrm>
            <a:off x="1836" y="3732"/>
            <a:ext cx="204" cy="2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02" name="Equation" r:id="rId18" imgW="215619" imgH="215619" progId="Equation.3">
                    <p:embed/>
                  </p:oleObj>
                </mc:Choice>
                <mc:Fallback>
                  <p:oleObj name="Equation" r:id="rId18" imgW="215619" imgH="21561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36" y="3732"/>
                          <a:ext cx="204" cy="2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1" name="Freeform 31"/>
          <p:cNvSpPr>
            <a:spLocks/>
          </p:cNvSpPr>
          <p:nvPr/>
        </p:nvSpPr>
        <p:spPr bwMode="auto">
          <a:xfrm>
            <a:off x="1066800" y="2514600"/>
            <a:ext cx="2627313" cy="1677988"/>
          </a:xfrm>
          <a:custGeom>
            <a:avLst/>
            <a:gdLst>
              <a:gd name="T0" fmla="*/ 0 w 4368"/>
              <a:gd name="T1" fmla="*/ 2147483647 h 1632"/>
              <a:gd name="T2" fmla="*/ 2147483647 w 4368"/>
              <a:gd name="T3" fmla="*/ 2147483647 h 1632"/>
              <a:gd name="T4" fmla="*/ 2147483647 w 4368"/>
              <a:gd name="T5" fmla="*/ 2147483647 h 1632"/>
              <a:gd name="T6" fmla="*/ 2147483647 w 4368"/>
              <a:gd name="T7" fmla="*/ 2147483647 h 1632"/>
              <a:gd name="T8" fmla="*/ 2147483647 w 4368"/>
              <a:gd name="T9" fmla="*/ 2147483647 h 1632"/>
              <a:gd name="T10" fmla="*/ 2147483647 w 4368"/>
              <a:gd name="T11" fmla="*/ 2147483647 h 163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368"/>
              <a:gd name="T19" fmla="*/ 0 h 1632"/>
              <a:gd name="T20" fmla="*/ 4368 w 4368"/>
              <a:gd name="T21" fmla="*/ 1632 h 1632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4368" h="1632">
                <a:moveTo>
                  <a:pt x="0" y="1592"/>
                </a:moveTo>
                <a:cubicBezTo>
                  <a:pt x="196" y="804"/>
                  <a:pt x="392" y="16"/>
                  <a:pt x="672" y="8"/>
                </a:cubicBezTo>
                <a:cubicBezTo>
                  <a:pt x="952" y="0"/>
                  <a:pt x="1304" y="1536"/>
                  <a:pt x="1680" y="1544"/>
                </a:cubicBezTo>
                <a:cubicBezTo>
                  <a:pt x="2056" y="1552"/>
                  <a:pt x="2552" y="72"/>
                  <a:pt x="2928" y="56"/>
                </a:cubicBezTo>
                <a:cubicBezTo>
                  <a:pt x="3304" y="40"/>
                  <a:pt x="3696" y="1264"/>
                  <a:pt x="3936" y="1448"/>
                </a:cubicBezTo>
                <a:cubicBezTo>
                  <a:pt x="4176" y="1632"/>
                  <a:pt x="4272" y="1396"/>
                  <a:pt x="4368" y="1160"/>
                </a:cubicBezTo>
              </a:path>
            </a:pathLst>
          </a:custGeom>
          <a:noFill/>
          <a:ln w="9525">
            <a:solidFill>
              <a:srgbClr val="33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custDataLst>
      <p:tags r:id="rId3"/>
    </p:custDataLst>
    <p:extLst>
      <p:ext uri="{BB962C8B-B14F-4D97-AF65-F5344CB8AC3E}">
        <p14:creationId xmlns:p14="http://schemas.microsoft.com/office/powerpoint/2010/main" val="4559770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b-NO" sz="3200" dirty="0">
                <a:latin typeface="+mj-lt"/>
                <a:cs typeface="B Titr" panose="00000700000000000000" pitchFamily="2" charset="-78"/>
              </a:rPr>
              <a:t>Choosing the horizontal granularity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11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6047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Resolution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Number of discrete values that represent a range of analog values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12-bit </a:t>
            </a:r>
            <a:r>
              <a:rPr lang="en-US" sz="2000" b="1" dirty="0"/>
              <a:t>ADC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4096 values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Range / 4096 = Step</a:t>
            </a:r>
          </a:p>
          <a:p>
            <a:pPr>
              <a:lnSpc>
                <a:spcPct val="150000"/>
              </a:lnSpc>
            </a:pPr>
            <a:r>
              <a:rPr lang="en-US" sz="2000" b="1" dirty="0" smtClean="0">
                <a:solidFill>
                  <a:srgbClr val="FF0000"/>
                </a:solidFill>
              </a:rPr>
              <a:t>	Larger </a:t>
            </a:r>
            <a:r>
              <a:rPr lang="en-US" sz="2000" b="1" dirty="0">
                <a:solidFill>
                  <a:srgbClr val="FF0000"/>
                </a:solidFill>
              </a:rPr>
              <a:t>range </a:t>
            </a:r>
            <a:r>
              <a:rPr lang="en-US" sz="2000" b="1" dirty="0" smtClean="0">
                <a:solidFill>
                  <a:srgbClr val="FF0000"/>
                </a:solidFill>
                <a:sym typeface="Wingdings" pitchFamily="2" charset="2"/>
              </a:rPr>
              <a:t></a:t>
            </a:r>
            <a:r>
              <a:rPr lang="en-US" sz="2000" b="1" dirty="0" smtClean="0">
                <a:solidFill>
                  <a:srgbClr val="FF0000"/>
                </a:solidFill>
              </a:rPr>
              <a:t>  </a:t>
            </a:r>
            <a:r>
              <a:rPr lang="en-US" sz="2000" b="1" dirty="0">
                <a:solidFill>
                  <a:srgbClr val="FF0000"/>
                </a:solidFill>
              </a:rPr>
              <a:t>less information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Quantization </a:t>
            </a:r>
            <a:r>
              <a:rPr lang="en-US" sz="2000" b="1" dirty="0"/>
              <a:t>Error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How far off discrete value is </a:t>
            </a:r>
            <a:r>
              <a:rPr lang="en-US" sz="2000" b="1" dirty="0" smtClean="0"/>
              <a:t>	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	</a:t>
            </a:r>
            <a:r>
              <a:rPr lang="en-US" sz="2000" b="1" dirty="0" smtClean="0"/>
              <a:t>from </a:t>
            </a:r>
            <a:r>
              <a:rPr lang="en-US" sz="2000" b="1" dirty="0"/>
              <a:t>actual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½ LSB </a:t>
            </a:r>
            <a:r>
              <a:rPr lang="en-US" sz="2000" b="1" dirty="0">
                <a:sym typeface="Wingdings" pitchFamily="2" charset="2"/>
              </a:rPr>
              <a:t></a:t>
            </a:r>
            <a:r>
              <a:rPr lang="en-US" sz="2000" b="1" dirty="0" smtClean="0"/>
              <a:t> </a:t>
            </a:r>
            <a:r>
              <a:rPr lang="en-US" sz="2000" b="1" dirty="0"/>
              <a:t>Range / 8192</a:t>
            </a:r>
          </a:p>
          <a:p>
            <a:pPr>
              <a:lnSpc>
                <a:spcPct val="150000"/>
              </a:lnSpc>
            </a:pPr>
            <a:r>
              <a:rPr lang="en-US" sz="2000" b="1" dirty="0" smtClean="0">
                <a:solidFill>
                  <a:srgbClr val="FF0000"/>
                </a:solidFill>
              </a:rPr>
              <a:t>	Larger </a:t>
            </a:r>
            <a:r>
              <a:rPr lang="en-US" sz="2000" b="1" dirty="0">
                <a:solidFill>
                  <a:srgbClr val="FF0000"/>
                </a:solidFill>
              </a:rPr>
              <a:t>range </a:t>
            </a:r>
            <a:r>
              <a:rPr lang="en-US" sz="2000" b="1" dirty="0">
                <a:solidFill>
                  <a:srgbClr val="FF0000"/>
                </a:solidFill>
                <a:sym typeface="Wingdings" pitchFamily="2" charset="2"/>
              </a:rPr>
              <a:t></a:t>
            </a:r>
            <a:r>
              <a:rPr lang="en-US" sz="2000" b="1" dirty="0" smtClean="0">
                <a:solidFill>
                  <a:srgbClr val="FF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larger error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pic>
        <p:nvPicPr>
          <p:cNvPr id="41" name="Picture 4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0242" y="2060351"/>
            <a:ext cx="3813758" cy="4161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3705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b-NO" sz="3200" dirty="0">
                <a:latin typeface="+mj-lt"/>
                <a:cs typeface="B Titr" panose="00000700000000000000" pitchFamily="2" charset="-78"/>
              </a:rPr>
              <a:t>Choosing the sample rate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12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What sample rate do we need?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Too little: we can’t reconstruct the signal we care about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Too much: waste computation, energy, resources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</p:txBody>
      </p:sp>
      <p:sp>
        <p:nvSpPr>
          <p:cNvPr id="4" name="Rectangle 3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  <p:sp>
        <p:nvSpPr>
          <p:cNvPr id="10" name="Line 42"/>
          <p:cNvSpPr>
            <a:spLocks noChangeShapeType="1"/>
          </p:cNvSpPr>
          <p:nvPr/>
        </p:nvSpPr>
        <p:spPr bwMode="auto">
          <a:xfrm flipV="1">
            <a:off x="1447800" y="4724400"/>
            <a:ext cx="0" cy="11430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48"/>
          <p:cNvSpPr>
            <a:spLocks noChangeShapeType="1"/>
          </p:cNvSpPr>
          <p:nvPr/>
        </p:nvSpPr>
        <p:spPr bwMode="auto">
          <a:xfrm flipV="1">
            <a:off x="3276600" y="4876800"/>
            <a:ext cx="0" cy="9906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Line 54"/>
          <p:cNvSpPr>
            <a:spLocks noChangeShapeType="1"/>
          </p:cNvSpPr>
          <p:nvPr/>
        </p:nvSpPr>
        <p:spPr bwMode="auto">
          <a:xfrm flipV="1">
            <a:off x="5105400" y="4038600"/>
            <a:ext cx="0" cy="18288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60"/>
          <p:cNvSpPr>
            <a:spLocks noChangeShapeType="1"/>
          </p:cNvSpPr>
          <p:nvPr/>
        </p:nvSpPr>
        <p:spPr bwMode="auto">
          <a:xfrm flipV="1">
            <a:off x="6934200" y="4648200"/>
            <a:ext cx="0" cy="12192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16" name="Object 2"/>
          <p:cNvGraphicFramePr>
            <a:graphicFrameLocks noGrp="1" noChangeAspect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04990585"/>
              </p:ext>
            </p:extLst>
          </p:nvPr>
        </p:nvGraphicFramePr>
        <p:xfrm>
          <a:off x="5105400" y="4953000"/>
          <a:ext cx="1676400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25" name="Equation" r:id="rId6" imgW="634725" imgH="241195" progId="Equation.3">
                  <p:embed/>
                </p:oleObj>
              </mc:Choice>
              <mc:Fallback>
                <p:oleObj name="Equation" r:id="rId6" imgW="634725" imgH="241195" progId="Equation.3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4953000"/>
                        <a:ext cx="1676400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C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oup 65"/>
          <p:cNvGrpSpPr>
            <a:grpSpLocks/>
          </p:cNvGrpSpPr>
          <p:nvPr/>
        </p:nvGrpSpPr>
        <p:grpSpPr bwMode="auto">
          <a:xfrm>
            <a:off x="1219200" y="2362200"/>
            <a:ext cx="7239000" cy="3860800"/>
            <a:chOff x="768" y="1440"/>
            <a:chExt cx="4560" cy="2432"/>
          </a:xfrm>
        </p:grpSpPr>
        <p:sp>
          <p:nvSpPr>
            <p:cNvPr id="18" name="Line 66"/>
            <p:cNvSpPr>
              <a:spLocks noChangeShapeType="1"/>
            </p:cNvSpPr>
            <p:nvPr/>
          </p:nvSpPr>
          <p:spPr bwMode="auto">
            <a:xfrm flipV="1">
              <a:off x="768" y="1440"/>
              <a:ext cx="0" cy="22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67"/>
            <p:cNvSpPr>
              <a:spLocks noChangeShapeType="1"/>
            </p:cNvSpPr>
            <p:nvPr/>
          </p:nvSpPr>
          <p:spPr bwMode="auto">
            <a:xfrm>
              <a:off x="768" y="3648"/>
              <a:ext cx="43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68"/>
            <p:cNvSpPr>
              <a:spLocks/>
            </p:cNvSpPr>
            <p:nvPr/>
          </p:nvSpPr>
          <p:spPr bwMode="auto">
            <a:xfrm>
              <a:off x="768" y="1912"/>
              <a:ext cx="4368" cy="1632"/>
            </a:xfrm>
            <a:custGeom>
              <a:avLst/>
              <a:gdLst>
                <a:gd name="T0" fmla="*/ 0 w 4368"/>
                <a:gd name="T1" fmla="*/ 1592 h 1632"/>
                <a:gd name="T2" fmla="*/ 672 w 4368"/>
                <a:gd name="T3" fmla="*/ 8 h 1632"/>
                <a:gd name="T4" fmla="*/ 1680 w 4368"/>
                <a:gd name="T5" fmla="*/ 1544 h 1632"/>
                <a:gd name="T6" fmla="*/ 2928 w 4368"/>
                <a:gd name="T7" fmla="*/ 56 h 1632"/>
                <a:gd name="T8" fmla="*/ 3936 w 4368"/>
                <a:gd name="T9" fmla="*/ 1448 h 1632"/>
                <a:gd name="T10" fmla="*/ 4368 w 4368"/>
                <a:gd name="T11" fmla="*/ 1160 h 16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368"/>
                <a:gd name="T19" fmla="*/ 0 h 1632"/>
                <a:gd name="T20" fmla="*/ 4368 w 4368"/>
                <a:gd name="T21" fmla="*/ 1632 h 163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368" h="1632">
                  <a:moveTo>
                    <a:pt x="0" y="1592"/>
                  </a:moveTo>
                  <a:cubicBezTo>
                    <a:pt x="196" y="804"/>
                    <a:pt x="392" y="16"/>
                    <a:pt x="672" y="8"/>
                  </a:cubicBezTo>
                  <a:cubicBezTo>
                    <a:pt x="952" y="0"/>
                    <a:pt x="1304" y="1536"/>
                    <a:pt x="1680" y="1544"/>
                  </a:cubicBezTo>
                  <a:cubicBezTo>
                    <a:pt x="2056" y="1552"/>
                    <a:pt x="2552" y="72"/>
                    <a:pt x="2928" y="56"/>
                  </a:cubicBezTo>
                  <a:cubicBezTo>
                    <a:pt x="3304" y="40"/>
                    <a:pt x="3696" y="1264"/>
                    <a:pt x="3936" y="1448"/>
                  </a:cubicBezTo>
                  <a:cubicBezTo>
                    <a:pt x="4176" y="1632"/>
                    <a:pt x="4272" y="1396"/>
                    <a:pt x="4368" y="1160"/>
                  </a:cubicBezTo>
                </a:path>
              </a:pathLst>
            </a:custGeom>
            <a:noFill/>
            <a:ln w="9525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21" name="Object 3"/>
            <p:cNvGraphicFramePr>
              <a:graphicFrameLocks noChangeAspect="1"/>
            </p:cNvGraphicFramePr>
            <p:nvPr/>
          </p:nvGraphicFramePr>
          <p:xfrm>
            <a:off x="4272" y="2208"/>
            <a:ext cx="528" cy="3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6" name="Equation" r:id="rId8" imgW="342751" imgH="203112" progId="Equation.3">
                    <p:embed/>
                  </p:oleObj>
                </mc:Choice>
                <mc:Fallback>
                  <p:oleObj name="Equation" r:id="rId8" imgW="342751" imgH="203112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72" y="2208"/>
                          <a:ext cx="528" cy="3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Object 4"/>
            <p:cNvGraphicFramePr>
              <a:graphicFrameLocks noChangeAspect="1"/>
            </p:cNvGraphicFramePr>
            <p:nvPr/>
          </p:nvGraphicFramePr>
          <p:xfrm>
            <a:off x="4992" y="3648"/>
            <a:ext cx="336" cy="22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7" name="Equation" r:id="rId10" imgW="88746" imgH="152136" progId="Equation.3">
                    <p:embed/>
                  </p:oleObj>
                </mc:Choice>
                <mc:Fallback>
                  <p:oleObj name="Equation" r:id="rId10" imgW="88746" imgH="152136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92" y="3648"/>
                          <a:ext cx="336" cy="22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3" name="Line 71"/>
          <p:cNvSpPr>
            <a:spLocks noChangeShapeType="1"/>
          </p:cNvSpPr>
          <p:nvPr/>
        </p:nvSpPr>
        <p:spPr bwMode="auto">
          <a:xfrm>
            <a:off x="1447800" y="4724400"/>
            <a:ext cx="1828800" cy="1524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" name="Line 72"/>
          <p:cNvSpPr>
            <a:spLocks noChangeShapeType="1"/>
          </p:cNvSpPr>
          <p:nvPr/>
        </p:nvSpPr>
        <p:spPr bwMode="auto">
          <a:xfrm flipV="1">
            <a:off x="3276600" y="4038600"/>
            <a:ext cx="1828800" cy="8382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" name="Line 73"/>
          <p:cNvSpPr>
            <a:spLocks noChangeShapeType="1"/>
          </p:cNvSpPr>
          <p:nvPr/>
        </p:nvSpPr>
        <p:spPr bwMode="auto">
          <a:xfrm>
            <a:off x="5105400" y="4038600"/>
            <a:ext cx="1828800" cy="6096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custDataLst>
      <p:tags r:id="rId3"/>
    </p:custDataLst>
    <p:extLst>
      <p:ext uri="{BB962C8B-B14F-4D97-AF65-F5344CB8AC3E}">
        <p14:creationId xmlns:p14="http://schemas.microsoft.com/office/powerpoint/2010/main" val="4614636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Conversion: ADC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13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Converting between voltages, </a:t>
            </a:r>
            <a:r>
              <a:rPr lang="en-US" sz="2000" b="1" dirty="0" smtClean="0"/>
              <a:t>ADC </a:t>
            </a:r>
            <a:r>
              <a:rPr lang="en-US" sz="2000" b="1" dirty="0"/>
              <a:t>counts, and engineering </a:t>
            </a:r>
            <a:r>
              <a:rPr lang="en-US" sz="2000" b="1" dirty="0" smtClean="0"/>
              <a:t>units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Converting: ADC counts </a:t>
            </a:r>
            <a:r>
              <a:rPr lang="en-US" sz="2000" b="1" dirty="0" smtClean="0">
                <a:sym typeface="Wingdings" pitchFamily="2" charset="2"/>
              </a:rPr>
              <a:t></a:t>
            </a:r>
            <a:r>
              <a:rPr lang="en-US" sz="2000" b="1" dirty="0" smtClean="0"/>
              <a:t> Voltage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Converting: </a:t>
            </a:r>
            <a:r>
              <a:rPr lang="en-US" sz="2000" b="1" dirty="0" smtClean="0"/>
              <a:t>Voltage </a:t>
            </a:r>
            <a:r>
              <a:rPr lang="en-US" sz="2000" b="1" dirty="0" smtClean="0">
                <a:sym typeface="Wingdings" pitchFamily="2" charset="2"/>
              </a:rPr>
              <a:t> </a:t>
            </a:r>
            <a:r>
              <a:rPr lang="en-US" sz="2000" b="1" dirty="0" smtClean="0"/>
              <a:t>Engineering </a:t>
            </a:r>
            <a:r>
              <a:rPr lang="en-US" sz="2000" b="1" dirty="0"/>
              <a:t>Units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</p:txBody>
      </p:sp>
      <p:graphicFrame>
        <p:nvGraphicFramePr>
          <p:cNvPr id="26" name="Object 2"/>
          <p:cNvGraphicFramePr>
            <a:graphicFrameLocks noGrp="1" noChangeAspect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2126294762"/>
              </p:ext>
            </p:extLst>
          </p:nvPr>
        </p:nvGraphicFramePr>
        <p:xfrm>
          <a:off x="3522662" y="2971800"/>
          <a:ext cx="539750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2" name="Equation" r:id="rId6" imgW="355446" imgH="228501" progId="Equation.3">
                  <p:embed/>
                </p:oleObj>
              </mc:Choice>
              <mc:Fallback>
                <p:oleObj name="Equation" r:id="rId6" imgW="355446" imgH="228501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22662" y="2971800"/>
                        <a:ext cx="539750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Line 10"/>
          <p:cNvSpPr>
            <a:spLocks noChangeShapeType="1"/>
          </p:cNvSpPr>
          <p:nvPr/>
        </p:nvSpPr>
        <p:spPr bwMode="auto">
          <a:xfrm flipV="1">
            <a:off x="2057400" y="2286000"/>
            <a:ext cx="0" cy="1327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Line 11"/>
          <p:cNvSpPr>
            <a:spLocks noChangeShapeType="1"/>
          </p:cNvSpPr>
          <p:nvPr/>
        </p:nvSpPr>
        <p:spPr bwMode="auto">
          <a:xfrm>
            <a:off x="2057400" y="3613150"/>
            <a:ext cx="25987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" name="Freeform 12"/>
          <p:cNvSpPr>
            <a:spLocks/>
          </p:cNvSpPr>
          <p:nvPr/>
        </p:nvSpPr>
        <p:spPr bwMode="auto">
          <a:xfrm>
            <a:off x="2057400" y="2590800"/>
            <a:ext cx="2627312" cy="676275"/>
          </a:xfrm>
          <a:custGeom>
            <a:avLst/>
            <a:gdLst>
              <a:gd name="T0" fmla="*/ 0 w 4368"/>
              <a:gd name="T1" fmla="*/ 2147483647 h 1632"/>
              <a:gd name="T2" fmla="*/ 2147483647 w 4368"/>
              <a:gd name="T3" fmla="*/ 2147483647 h 1632"/>
              <a:gd name="T4" fmla="*/ 2147483647 w 4368"/>
              <a:gd name="T5" fmla="*/ 2147483647 h 1632"/>
              <a:gd name="T6" fmla="*/ 2147483647 w 4368"/>
              <a:gd name="T7" fmla="*/ 2147483647 h 1632"/>
              <a:gd name="T8" fmla="*/ 2147483647 w 4368"/>
              <a:gd name="T9" fmla="*/ 2147483647 h 1632"/>
              <a:gd name="T10" fmla="*/ 2147483647 w 4368"/>
              <a:gd name="T11" fmla="*/ 2147483647 h 163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368"/>
              <a:gd name="T19" fmla="*/ 0 h 1632"/>
              <a:gd name="T20" fmla="*/ 4368 w 4368"/>
              <a:gd name="T21" fmla="*/ 1632 h 1632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4368" h="1632">
                <a:moveTo>
                  <a:pt x="0" y="1592"/>
                </a:moveTo>
                <a:cubicBezTo>
                  <a:pt x="196" y="804"/>
                  <a:pt x="392" y="16"/>
                  <a:pt x="672" y="8"/>
                </a:cubicBezTo>
                <a:cubicBezTo>
                  <a:pt x="952" y="0"/>
                  <a:pt x="1304" y="1536"/>
                  <a:pt x="1680" y="1544"/>
                </a:cubicBezTo>
                <a:cubicBezTo>
                  <a:pt x="2056" y="1552"/>
                  <a:pt x="2552" y="72"/>
                  <a:pt x="2928" y="56"/>
                </a:cubicBezTo>
                <a:cubicBezTo>
                  <a:pt x="3304" y="40"/>
                  <a:pt x="3696" y="1264"/>
                  <a:pt x="3936" y="1448"/>
                </a:cubicBezTo>
                <a:cubicBezTo>
                  <a:pt x="4176" y="1632"/>
                  <a:pt x="4272" y="1396"/>
                  <a:pt x="4368" y="1160"/>
                </a:cubicBezTo>
              </a:path>
            </a:pathLst>
          </a:custGeom>
          <a:noFill/>
          <a:ln w="9525">
            <a:solidFill>
              <a:srgbClr val="33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3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9499276"/>
              </p:ext>
            </p:extLst>
          </p:nvPr>
        </p:nvGraphicFramePr>
        <p:xfrm>
          <a:off x="4598987" y="3613150"/>
          <a:ext cx="201613" cy="134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3" name="Equation" r:id="rId8" imgW="88746" imgH="152136" progId="Equation.3">
                  <p:embed/>
                </p:oleObj>
              </mc:Choice>
              <mc:Fallback>
                <p:oleObj name="Equation" r:id="rId8" imgW="88746" imgH="152136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98987" y="3613150"/>
                        <a:ext cx="201613" cy="134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Line 14"/>
          <p:cNvSpPr>
            <a:spLocks noChangeShapeType="1"/>
          </p:cNvSpPr>
          <p:nvPr/>
        </p:nvSpPr>
        <p:spPr bwMode="auto">
          <a:xfrm>
            <a:off x="2057400" y="3429000"/>
            <a:ext cx="2667000" cy="0"/>
          </a:xfrm>
          <a:prstGeom prst="line">
            <a:avLst/>
          </a:prstGeom>
          <a:noFill/>
          <a:ln w="9525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2" name="Line 15"/>
          <p:cNvSpPr>
            <a:spLocks noChangeShapeType="1"/>
          </p:cNvSpPr>
          <p:nvPr/>
        </p:nvSpPr>
        <p:spPr bwMode="auto">
          <a:xfrm>
            <a:off x="2057400" y="2514600"/>
            <a:ext cx="2667000" cy="0"/>
          </a:xfrm>
          <a:prstGeom prst="line">
            <a:avLst/>
          </a:prstGeom>
          <a:noFill/>
          <a:ln w="9525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33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9892492"/>
              </p:ext>
            </p:extLst>
          </p:nvPr>
        </p:nvGraphicFramePr>
        <p:xfrm>
          <a:off x="1693862" y="2324100"/>
          <a:ext cx="363538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4" name="Equation" r:id="rId10" imgW="228501" imgH="215806" progId="Equation.3">
                  <p:embed/>
                </p:oleObj>
              </mc:Choice>
              <mc:Fallback>
                <p:oleObj name="Equation" r:id="rId10" imgW="228501" imgH="215806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3862" y="2324100"/>
                        <a:ext cx="363538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4740677"/>
              </p:ext>
            </p:extLst>
          </p:nvPr>
        </p:nvGraphicFramePr>
        <p:xfrm>
          <a:off x="1695450" y="3257550"/>
          <a:ext cx="3238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5" name="Equation" r:id="rId12" imgW="215619" imgH="215619" progId="Equation.3">
                  <p:embed/>
                </p:oleObj>
              </mc:Choice>
              <mc:Fallback>
                <p:oleObj name="Equation" r:id="rId12" imgW="215619" imgH="215619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5450" y="3257550"/>
                        <a:ext cx="3238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Line 21"/>
          <p:cNvSpPr>
            <a:spLocks noChangeShapeType="1"/>
          </p:cNvSpPr>
          <p:nvPr/>
        </p:nvSpPr>
        <p:spPr bwMode="auto">
          <a:xfrm flipV="1">
            <a:off x="3522662" y="28194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36" name="Object 7"/>
          <p:cNvGraphicFramePr>
            <a:graphicFrameLocks noGrp="1" noChangeAspect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2506180742"/>
              </p:ext>
            </p:extLst>
          </p:nvPr>
        </p:nvGraphicFramePr>
        <p:xfrm>
          <a:off x="1693862" y="2774950"/>
          <a:ext cx="292100" cy="34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6" name="Equation" r:id="rId14" imgW="190500" imgH="228600" progId="Equation.3">
                  <p:embed/>
                </p:oleObj>
              </mc:Choice>
              <mc:Fallback>
                <p:oleObj name="Equation" r:id="rId14" imgW="190500" imgH="2286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3862" y="2774950"/>
                        <a:ext cx="292100" cy="349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5334000" y="2286000"/>
          <a:ext cx="2743200" cy="1484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7" name="Equation" r:id="rId16" imgW="1549400" imgH="838200" progId="Equation.3">
                  <p:embed/>
                </p:oleObj>
              </mc:Choice>
              <mc:Fallback>
                <p:oleObj name="Equation" r:id="rId16" imgW="1549400" imgH="8382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2286000"/>
                        <a:ext cx="2743200" cy="1484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594255"/>
              </p:ext>
            </p:extLst>
          </p:nvPr>
        </p:nvGraphicFramePr>
        <p:xfrm>
          <a:off x="2743200" y="4995863"/>
          <a:ext cx="3581400" cy="1023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8" name="Equation" r:id="rId18" imgW="2222500" imgH="635000" progId="Equation.3">
                  <p:embed/>
                </p:oleObj>
              </mc:Choice>
              <mc:Fallback>
                <p:oleObj name="Equation" r:id="rId18" imgW="2222500" imgH="6350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00" y="4995863"/>
                        <a:ext cx="3581400" cy="1023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Rectangle 36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</p:spTree>
    <p:custDataLst>
      <p:tags r:id="rId3"/>
    </p:custDataLst>
    <p:extLst>
      <p:ext uri="{BB962C8B-B14F-4D97-AF65-F5344CB8AC3E}">
        <p14:creationId xmlns:p14="http://schemas.microsoft.com/office/powerpoint/2010/main" val="10141883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Conversion: DAC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14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DAC </a:t>
            </a:r>
            <a:r>
              <a:rPr lang="en-US" sz="2000" b="1" dirty="0" smtClean="0"/>
              <a:t>1</a:t>
            </a:r>
            <a:r>
              <a:rPr lang="en-US" sz="2000" b="1" dirty="0"/>
              <a:t>:  Voltage Divider</a:t>
            </a: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7787" y="1447800"/>
            <a:ext cx="5195758" cy="462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5" name="Rectangle 124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</p:spTree>
    <p:extLst>
      <p:ext uri="{BB962C8B-B14F-4D97-AF65-F5344CB8AC3E}">
        <p14:creationId xmlns:p14="http://schemas.microsoft.com/office/powerpoint/2010/main" val="1254658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Conversion: DAC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15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3276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DAC </a:t>
            </a:r>
            <a:r>
              <a:rPr lang="en-US" sz="2000" b="1" dirty="0" smtClean="0"/>
              <a:t>2</a:t>
            </a:r>
            <a:r>
              <a:rPr lang="en-US" sz="2000" b="1" dirty="0"/>
              <a:t>:  R/2R Ladder </a:t>
            </a: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0487" y="1676400"/>
            <a:ext cx="6651625" cy="4608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Rectangle 8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EECS 373 Design of Microprocessor-Based Systems</a:t>
            </a:r>
          </a:p>
        </p:txBody>
      </p:sp>
    </p:spTree>
    <p:extLst>
      <p:ext uri="{BB962C8B-B14F-4D97-AF65-F5344CB8AC3E}">
        <p14:creationId xmlns:p14="http://schemas.microsoft.com/office/powerpoint/2010/main" val="600468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ADC in SAM3X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16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A </a:t>
            </a:r>
            <a:r>
              <a:rPr lang="en-US" sz="2000" b="1" dirty="0"/>
              <a:t>16-to-1 analog </a:t>
            </a:r>
            <a:r>
              <a:rPr lang="en-US" sz="2000" b="1" dirty="0" smtClean="0"/>
              <a:t>multiplexer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Making </a:t>
            </a:r>
            <a:r>
              <a:rPr lang="en-US" sz="2000" b="1" dirty="0"/>
              <a:t>possible the </a:t>
            </a:r>
            <a:r>
              <a:rPr lang="en-US" sz="2000" b="1" dirty="0" smtClean="0"/>
              <a:t>analog-to-digital conversions </a:t>
            </a:r>
            <a:r>
              <a:rPr lang="en-US" sz="2000" b="1" dirty="0"/>
              <a:t>of 16 analog </a:t>
            </a:r>
            <a:r>
              <a:rPr lang="en-US" sz="2000" b="1" dirty="0" smtClean="0"/>
              <a:t>lines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The conversions extend from 0V to </a:t>
            </a:r>
            <a:r>
              <a:rPr lang="en-US" sz="2000" b="1" dirty="0" smtClean="0"/>
              <a:t>ADVREF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Supports </a:t>
            </a:r>
            <a:r>
              <a:rPr lang="en-US" sz="2000" b="1" dirty="0"/>
              <a:t>an 10-bit or </a:t>
            </a:r>
            <a:r>
              <a:rPr lang="en-US" sz="2000" b="1" dirty="0" smtClean="0"/>
              <a:t>12-bit resolution mode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Conversion </a:t>
            </a:r>
            <a:r>
              <a:rPr lang="en-US" sz="2000" b="1" dirty="0"/>
              <a:t>results are reported in a common register for all </a:t>
            </a:r>
            <a:r>
              <a:rPr lang="en-US" sz="2000" b="1" dirty="0" smtClean="0"/>
              <a:t>channels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As </a:t>
            </a:r>
            <a:r>
              <a:rPr lang="en-US" sz="2000" b="1" dirty="0"/>
              <a:t>well as in </a:t>
            </a:r>
            <a:r>
              <a:rPr lang="en-US" sz="2000" b="1" dirty="0" smtClean="0"/>
              <a:t>a channel-dedicated register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1 MHz Conversion </a:t>
            </a:r>
            <a:r>
              <a:rPr lang="en-US" sz="2000" b="1" dirty="0" smtClean="0"/>
              <a:t>Rate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Individual Enable and Disable of Each Channel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/>
          </a:p>
        </p:txBody>
      </p:sp>
      <p:sp>
        <p:nvSpPr>
          <p:cNvPr id="9" name="Rectangle 8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Atmel | SMART ARM-based MCU DATASHEET, SAM3X / SAM3A Series, Atmel-11057C-ATARM-SAM3X-SAM3A-Datasheet_23-Mar-15</a:t>
            </a: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8423556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ADC in SAM3X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17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Analog-to-Digital Converter Block </a:t>
            </a:r>
            <a:r>
              <a:rPr lang="en-US" sz="2000" b="1" dirty="0" smtClean="0"/>
              <a:t>Diagram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The temperature sensor is connected to Channel 15 of the ADC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Atmel | SMART ARM-based MCU DATASHEET, SAM3X / SAM3A Series, Atmel-11057C-ATARM-SAM3X-SAM3A-Datasheet_23-Mar-15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4"/>
          <a:stretch/>
        </p:blipFill>
        <p:spPr bwMode="auto">
          <a:xfrm>
            <a:off x="190500" y="2496422"/>
            <a:ext cx="8724900" cy="3270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25341926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+mj-lt"/>
                <a:cs typeface="B Titr" panose="00000700000000000000" pitchFamily="2" charset="-78"/>
              </a:rPr>
              <a:t>DAC in SAM3X</a:t>
            </a:r>
            <a:endParaRPr lang="en-US" sz="3200" dirty="0">
              <a:latin typeface="+mj-lt"/>
              <a:cs typeface="B Titr" panose="00000700000000000000" pitchFamily="2" charset="-7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18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1066800"/>
            <a:ext cx="8458200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/>
            </a:r>
            <a:br>
              <a:rPr lang="en-US" sz="2000" dirty="0"/>
            </a:br>
            <a:r>
              <a:rPr lang="en-US" sz="2000" dirty="0"/>
              <a:t/>
            </a:r>
            <a:br>
              <a:rPr lang="en-US" sz="2000" dirty="0"/>
            </a:br>
            <a:endParaRPr lang="en-US" sz="2000" b="1" dirty="0" smtClean="0">
              <a:solidFill>
                <a:srgbClr val="00B05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6800"/>
            <a:ext cx="845820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Digital-to-Analog Converter Controller (</a:t>
            </a:r>
            <a:r>
              <a:rPr lang="en-US" sz="2000" b="1" dirty="0" smtClean="0"/>
              <a:t>DACC)</a:t>
            </a:r>
          </a:p>
        </p:txBody>
      </p:sp>
      <p:sp>
        <p:nvSpPr>
          <p:cNvPr id="9" name="Rectangle 8"/>
          <p:cNvSpPr/>
          <p:nvPr/>
        </p:nvSpPr>
        <p:spPr>
          <a:xfrm>
            <a:off x="304800" y="6091535"/>
            <a:ext cx="83058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Atmel | SMART ARM-based MCU DATASHEET, SAM3X / SAM3A Series, Atmel-11057C-ATARM-SAM3X-SAM3A-Datasheet_23-Mar-15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1781611"/>
            <a:ext cx="5084363" cy="4206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219271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10360" y="6400224"/>
            <a:ext cx="543128" cy="365125"/>
          </a:xfrm>
        </p:spPr>
        <p:txBody>
          <a:bodyPr/>
          <a:lstStyle/>
          <a:p>
            <a:pPr rtl="1"/>
            <a:fld id="{B6F15528-21DE-4FAA-801E-634DDDAF4B2B}" type="slidenum">
              <a:rPr lang="en-US" smtClean="0">
                <a:latin typeface="+mj-lt"/>
              </a:rPr>
              <a:pPr rtl="1"/>
              <a:t>19</a:t>
            </a:fld>
            <a:endParaRPr lang="en-US" dirty="0">
              <a:latin typeface="+mj-lt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90600" y="6412468"/>
            <a:ext cx="6858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en-US" sz="1400" dirty="0" smtClean="0">
                <a:cs typeface="B Titr" panose="00000700000000000000" pitchFamily="2" charset="-78"/>
              </a:rPr>
              <a:t>Microprocessors and Assembly Language, Fall 2024, AUT, Tehran, Iran </a:t>
            </a:r>
            <a:endParaRPr lang="en-US" sz="1400" dirty="0">
              <a:cs typeface="B Titr" panose="00000700000000000000" pitchFamily="2" charset="-7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04800" y="2482570"/>
            <a:ext cx="8458200" cy="92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4000" b="1" dirty="0" smtClean="0"/>
              <a:t>The End!</a:t>
            </a:r>
            <a:endParaRPr lang="en-US" sz="3200" b="1" dirty="0" smtClean="0"/>
          </a:p>
        </p:txBody>
      </p:sp>
    </p:spTree>
    <p:extLst>
      <p:ext uri="{BB962C8B-B14F-4D97-AF65-F5344CB8AC3E}">
        <p14:creationId xmlns:p14="http://schemas.microsoft.com/office/powerpoint/2010/main" val="2825356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6.7|10.3|30|12.4|61.6|40.3|1|1.4|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0.3|105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9.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4.2|17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9|40.3|15.9|8.5|28.7|113|22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2.5"/>
</p:tagLst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Aspect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spect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270000"/>
              </a:schemeClr>
            </a:gs>
            <a:gs pos="25000">
              <a:schemeClr val="phClr">
                <a:tint val="60000"/>
                <a:satMod val="300000"/>
              </a:schemeClr>
            </a:gs>
            <a:gs pos="100000">
              <a:schemeClr val="phClr">
                <a:tint val="29000"/>
                <a:satMod val="40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5000"/>
                <a:satMod val="155000"/>
              </a:schemeClr>
            </a:gs>
            <a:gs pos="60000">
              <a:schemeClr val="phClr">
                <a:shade val="95000"/>
                <a:satMod val="150000"/>
              </a:schemeClr>
            </a:gs>
            <a:gs pos="100000">
              <a:schemeClr val="phClr">
                <a:tint val="87000"/>
                <a:satMod val="2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atMod val="150000"/>
            </a:schemeClr>
          </a:solidFill>
          <a:prstDash val="solid"/>
        </a:ln>
        <a:ln w="425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2000000"/>
            </a:lightRig>
          </a:scene3d>
          <a:sp3d prstMaterial="powder">
            <a:bevelT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35000"/>
                <a:satMod val="150000"/>
              </a:schemeClr>
            </a:gs>
            <a:gs pos="45000">
              <a:schemeClr val="phClr">
                <a:shade val="68000"/>
                <a:satMod val="15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0"/>
        </a:gradFill>
        <a:blipFill>
          <a:blip xmlns:r="http://schemas.openxmlformats.org/officeDocument/2006/relationships" r:embed="rId1">
            <a:duotone>
              <a:schemeClr val="phClr">
                <a:shade val="800"/>
                <a:satMod val="150000"/>
              </a:schemeClr>
              <a:schemeClr val="phClr">
                <a:tint val="80000"/>
                <a:satMod val="150000"/>
              </a:schemeClr>
            </a:duotone>
          </a:blip>
          <a:tile tx="0" ty="0" sx="75000" sy="75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39551</TotalTime>
  <Words>861</Words>
  <Application>Microsoft Office PowerPoint</Application>
  <PresentationFormat>On-screen Show (4:3)</PresentationFormat>
  <Paragraphs>204</Paragraphs>
  <Slides>19</Slides>
  <Notes>1</Notes>
  <HiddenSlides>0</HiddenSlides>
  <MMClips>0</MMClips>
  <ScaleCrop>false</ScaleCrop>
  <HeadingPairs>
    <vt:vector size="6" baseType="variant"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Office Theme</vt:lpstr>
      <vt:lpstr>Aspect</vt:lpstr>
      <vt:lpstr>Equation</vt:lpstr>
      <vt:lpstr>Microprocessors and Assembly Language  Fall 2024</vt:lpstr>
      <vt:lpstr>Copyright Notice</vt:lpstr>
      <vt:lpstr>PowerPoint Presentation</vt:lpstr>
      <vt:lpstr>We live in an analog world</vt:lpstr>
      <vt:lpstr>Transducers</vt:lpstr>
      <vt:lpstr>An Example: Photocell</vt:lpstr>
      <vt:lpstr>Many other common sensors </vt:lpstr>
      <vt:lpstr>Going from Analog to Digital</vt:lpstr>
      <vt:lpstr>Representing an analog signal digitally</vt:lpstr>
      <vt:lpstr>Choosing the horizontal range</vt:lpstr>
      <vt:lpstr>Choosing the horizontal granularity</vt:lpstr>
      <vt:lpstr>Choosing the sample rate</vt:lpstr>
      <vt:lpstr>Conversion: ADC</vt:lpstr>
      <vt:lpstr>Conversion: DAC</vt:lpstr>
      <vt:lpstr>Conversion: DAC</vt:lpstr>
      <vt:lpstr>ADC in SAM3X</vt:lpstr>
      <vt:lpstr>ADC in SAM3X</vt:lpstr>
      <vt:lpstr>DAC in SAM3X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MMSPM</dc:title>
  <dc:creator>FT_DSL</dc:creator>
  <cp:lastModifiedBy>Hamed</cp:lastModifiedBy>
  <cp:revision>829</cp:revision>
  <cp:lastPrinted>2017-02-07T08:08:08Z</cp:lastPrinted>
  <dcterms:created xsi:type="dcterms:W3CDTF">2006-08-16T00:00:00Z</dcterms:created>
  <dcterms:modified xsi:type="dcterms:W3CDTF">2024-08-19T11:34:51Z</dcterms:modified>
</cp:coreProperties>
</file>