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wmv" ContentType="video/x-ms-wmv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Override1.xml" ContentType="application/vnd.openxmlformats-officedocument.themeOverride+xml"/>
  <Override PartName="/ppt/tags/tag1.xml" ContentType="application/vnd.openxmlformats-officedocument.presentationml.tags+xml"/>
  <Override PartName="/ppt/theme/themeOverride2.xml" ContentType="application/vnd.openxmlformats-officedocument.themeOverride+xml"/>
  <Override PartName="/ppt/tags/tag2.xml" ContentType="application/vnd.openxmlformats-officedocument.presentationml.tags+xml"/>
  <Override PartName="/ppt/theme/themeOverride3.xml" ContentType="application/vnd.openxmlformats-officedocument.themeOverride+xml"/>
  <Override PartName="/ppt/tags/tag3.xml" ContentType="application/vnd.openxmlformats-officedocument.presentationml.tags+xml"/>
  <Override PartName="/ppt/theme/themeOverride4.xml" ContentType="application/vnd.openxmlformats-officedocument.themeOverride+xml"/>
  <Override PartName="/ppt/tags/tag4.xml" ContentType="application/vnd.openxmlformats-officedocument.presentationml.tags+xml"/>
  <Override PartName="/ppt/theme/themeOverride5.xml" ContentType="application/vnd.openxmlformats-officedocument.themeOverride+xml"/>
  <Override PartName="/ppt/tags/tag5.xml" ContentType="application/vnd.openxmlformats-officedocument.presentationml.tags+xml"/>
  <Override PartName="/ppt/theme/themeOverride6.xml" ContentType="application/vnd.openxmlformats-officedocument.themeOverride+xml"/>
  <Override PartName="/ppt/tags/tag6.xml" ContentType="application/vnd.openxmlformats-officedocument.presentationml.tags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2" r:id="rId2"/>
  </p:sldMasterIdLst>
  <p:notesMasterIdLst>
    <p:notesMasterId r:id="rId13"/>
  </p:notesMasterIdLst>
  <p:handoutMasterIdLst>
    <p:handoutMasterId r:id="rId14"/>
  </p:handoutMasterIdLst>
  <p:sldIdLst>
    <p:sldId id="290" r:id="rId3"/>
    <p:sldId id="258" r:id="rId4"/>
    <p:sldId id="386" r:id="rId5"/>
    <p:sldId id="446" r:id="rId6"/>
    <p:sldId id="447" r:id="rId7"/>
    <p:sldId id="448" r:id="rId8"/>
    <p:sldId id="449" r:id="rId9"/>
    <p:sldId id="450" r:id="rId10"/>
    <p:sldId id="451" r:id="rId11"/>
    <p:sldId id="415" r:id="rId12"/>
  </p:sldIdLst>
  <p:sldSz cx="9144000" cy="6858000" type="screen4x3"/>
  <p:notesSz cx="9296400" cy="701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=""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2208">
          <p15:clr>
            <a:srgbClr val="A4A3A4"/>
          </p15:clr>
        </p15:guide>
        <p15:guide id="4" pos="292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5CB5"/>
    <a:srgbClr val="0530BB"/>
    <a:srgbClr val="034ABD"/>
    <a:srgbClr val="130868"/>
    <a:srgbClr val="210DB3"/>
    <a:srgbClr val="106F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63" autoAdjust="0"/>
    <p:restoredTop sz="91826" autoAdjust="0"/>
  </p:normalViewPr>
  <p:slideViewPr>
    <p:cSldViewPr>
      <p:cViewPr varScale="1">
        <p:scale>
          <a:sx n="107" d="100"/>
          <a:sy n="107" d="100"/>
        </p:scale>
        <p:origin x="-173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4" d="100"/>
          <a:sy n="74" d="100"/>
        </p:scale>
        <p:origin x="1026" y="60"/>
      </p:cViewPr>
      <p:guideLst>
        <p:guide orient="horz" pos="2880"/>
        <p:guide orient="horz" pos="2208"/>
        <p:guide pos="2160"/>
        <p:guide pos="292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265809" y="0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3A2C78E-1418-4D80-911C-2F94FB99BDBC}" type="datetimeFigureOut">
              <a:rPr lang="en-US" smtClean="0"/>
              <a:t>8/19/2024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658664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265809" y="6658664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804ED39F-E263-4FB0-A586-54AF6DEA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0500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65809" y="0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1479DE93-9629-4701-8E4D-06B6CC932194}" type="datetimeFigureOut">
              <a:rPr lang="en-US" smtClean="0"/>
              <a:t>8/19/2024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95600" y="525463"/>
            <a:ext cx="3505200" cy="2628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29640" y="3329940"/>
            <a:ext cx="7437120" cy="31546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4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65809" y="6658664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CADB150-CC80-4D38-9C9E-4D16188A4F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57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 b="1">
                <a:latin typeface="Times New Roman" pitchFamily="18" charset="0"/>
                <a:cs typeface="Times New Roman" pitchFamily="18" charset="0"/>
              </a:defRPr>
            </a:lvl1pPr>
          </a:lstStyle>
          <a:p>
            <a:fld id="{40281FD0-B2DB-4ECA-ADAD-7146D3D1D0F9}" type="datetime1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latin typeface="Times New Roman" pitchFamily="18" charset="0"/>
                <a:cs typeface="Times New Roman" pitchFamily="18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38200"/>
          </a:xfrm>
        </p:spPr>
        <p:txBody>
          <a:bodyPr>
            <a:normAutofit/>
          </a:bodyPr>
          <a:lstStyle>
            <a:lvl1pPr algn="l">
              <a:defRPr sz="3600" b="1">
                <a:latin typeface="Times New Roman" pitchFamily="18" charset="0"/>
                <a:cs typeface="Times New Roman" pitchFamily="18" charset="0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1"/>
            <a:ext cx="8229600" cy="4525963"/>
          </a:xfrm>
        </p:spPr>
        <p:txBody>
          <a:bodyPr/>
          <a:lstStyle>
            <a:lvl1pPr>
              <a:defRPr>
                <a:latin typeface="Times New Roman" pitchFamily="18" charset="0"/>
                <a:cs typeface="Times New Roman" pitchFamily="18" charset="0"/>
              </a:defRPr>
            </a:lvl1pPr>
            <a:lvl2pPr>
              <a:defRPr>
                <a:latin typeface="Times New Roman" pitchFamily="18" charset="0"/>
                <a:cs typeface="Times New Roman" pitchFamily="18" charset="0"/>
              </a:defRPr>
            </a:lvl2pPr>
            <a:lvl3pPr>
              <a:defRPr>
                <a:latin typeface="Times New Roman" pitchFamily="18" charset="0"/>
                <a:cs typeface="Times New Roman" pitchFamily="18" charset="0"/>
              </a:defRPr>
            </a:lvl3pPr>
            <a:lvl4pPr>
              <a:defRPr>
                <a:latin typeface="Times New Roman" pitchFamily="18" charset="0"/>
                <a:cs typeface="Times New Roman" pitchFamily="18" charset="0"/>
              </a:defRPr>
            </a:lvl4pPr>
            <a:lvl5pPr>
              <a:defRPr>
                <a:latin typeface="Times New Roman" pitchFamily="18" charset="0"/>
                <a:cs typeface="Times New Roman" pitchFamily="18" charset="0"/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81100" y="6406402"/>
            <a:ext cx="67818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rtl="1"/>
            <a:r>
              <a:rPr lang="en-US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100" dirty="0"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92100" y="6419101"/>
            <a:ext cx="543128" cy="365125"/>
          </a:xfrm>
        </p:spPr>
        <p:txBody>
          <a:bodyPr lIns="0" tIns="0" rIns="0" bIns="0"/>
          <a:lstStyle>
            <a:lvl1pPr algn="ctr" rtl="0">
              <a:defRPr sz="1400" b="1" baseline="0">
                <a:solidFill>
                  <a:schemeClr val="tx1"/>
                </a:solidFill>
                <a:latin typeface="+mn-lt"/>
                <a:cs typeface="الشهيد محمد الدره" pitchFamily="2" charset="-78"/>
              </a:defRPr>
            </a:lvl1pPr>
          </a:lstStyle>
          <a:p>
            <a:pPr rtl="1"/>
            <a:fld id="{E9D5068C-74C1-4D4E-ACBE-89391498AE93}" type="slidenum">
              <a:rPr lang="en-US" smtClean="0"/>
              <a:pPr rtl="1"/>
              <a:t>‹#›</a:t>
            </a:fld>
            <a:endParaRPr lang="en-US" dirty="0">
              <a:cs typeface="B Nazanin" panose="00000400000000000000" pitchFamily="2" charset="-7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4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E2AE1-CBD5-460D-A0C9-6147C2D4C470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FB3A9-0A90-4E79-85FA-03828B308331}" type="datetime1">
              <a:rPr lang="en-US" smtClean="0"/>
              <a:t>8/19/2024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B4FA-0F9A-436F-AA41-B89FAC163798}" type="datetime1">
              <a:rPr lang="en-US" smtClean="0"/>
              <a:t>8/19/2024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C8B55-203E-4F94-AE03-50CFB6BD790A}" type="datetime1">
              <a:rPr lang="en-US" smtClean="0"/>
              <a:t>8/19/2024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1"/>
            <a:ext cx="511175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1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536A8-DE7E-4A16-B194-971EA3CF9026}" type="datetime1">
              <a:rPr lang="en-US" smtClean="0"/>
              <a:t>8/19/2024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1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9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96671-0698-4B48-8CC8-45A9BDA6F14F}" type="datetime1">
              <a:rPr lang="en-US" smtClean="0"/>
              <a:t>8/19/2024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AF6BC-C327-4940-9830-49E66FCBC3F0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95183-C90F-4867-BE66-12679E27E67F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/>
          <p:cNvSpPr/>
          <p:nvPr/>
        </p:nvSpPr>
        <p:spPr>
          <a:xfrm>
            <a:off x="304802" y="329185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2000" cap="rnd" cmpd="sng" algn="ctr">
            <a:solidFill>
              <a:srgbClr val="302F2C">
                <a:tint val="65000"/>
                <a:satMod val="120000"/>
              </a:srgbClr>
            </a:solidFill>
            <a:prstDash val="solid"/>
          </a:ln>
          <a:effectLst>
            <a:outerShdw blurRad="76200" dist="50800" dir="5400000" algn="tl" rotWithShape="0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Rounded Rectangle 9"/>
          <p:cNvSpPr/>
          <p:nvPr/>
        </p:nvSpPr>
        <p:spPr>
          <a:xfrm>
            <a:off x="418597" y="434162"/>
            <a:ext cx="8306809" cy="3108960"/>
          </a:xfrm>
          <a:prstGeom prst="roundRect">
            <a:avLst>
              <a:gd name="adj" fmla="val 4578"/>
            </a:avLst>
          </a:prstGeom>
          <a:gradFill rotWithShape="1">
            <a:gsLst>
              <a:gs pos="0">
                <a:schemeClr val="bg1">
                  <a:tint val="75000"/>
                  <a:satMod val="150000"/>
                </a:schemeClr>
              </a:gs>
              <a:gs pos="55000">
                <a:schemeClr val="bg1">
                  <a:shade val="75000"/>
                  <a:satMod val="100000"/>
                </a:schemeClr>
              </a:gs>
              <a:gs pos="100000">
                <a:schemeClr val="bg1">
                  <a:shade val="35000"/>
                  <a:satMod val="100000"/>
                </a:schemeClr>
              </a:gs>
            </a:gsLst>
            <a:path path="circle">
              <a:fillToRect l="50000" t="175000" r="50000" b="-75000"/>
            </a:path>
          </a:gradFill>
          <a:ln w="889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722376" y="1820206"/>
            <a:ext cx="7772400" cy="1828800"/>
          </a:xfrm>
        </p:spPr>
        <p:txBody>
          <a:bodyPr lIns="45720" rIns="45720" bIns="45720"/>
          <a:lstStyle>
            <a:lvl1pPr algn="r">
              <a:defRPr sz="4500" b="1">
                <a:solidFill>
                  <a:schemeClr val="accent1">
                    <a:tint val="88000"/>
                    <a:satMod val="150000"/>
                  </a:schemeClr>
                </a:solidFill>
                <a:effectLst>
                  <a:outerShdw blurRad="53975" dist="22860" dir="5400000" algn="tl" rotWithShape="0">
                    <a:srgbClr val="000000">
                      <a:alpha val="5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0" name="Subtitle 19"/>
          <p:cNvSpPr>
            <a:spLocks noGrp="1"/>
          </p:cNvSpPr>
          <p:nvPr>
            <p:ph type="subTitle" idx="1"/>
          </p:nvPr>
        </p:nvSpPr>
        <p:spPr>
          <a:xfrm>
            <a:off x="722376" y="3685032"/>
            <a:ext cx="7772400" cy="914400"/>
          </a:xfrm>
        </p:spPr>
        <p:txBody>
          <a:bodyPr lIns="182880" tIns="0"/>
          <a:lstStyle>
            <a:lvl1pPr marL="36576" indent="0" algn="r">
              <a:spcBef>
                <a:spcPts val="0"/>
              </a:spcBef>
              <a:buNone/>
              <a:defRPr sz="2000">
                <a:solidFill>
                  <a:schemeClr val="bg2">
                    <a:shade val="2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19" name="Date Placeholder 1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F6A59B0B-27CB-4279-84EE-13F34D832C20}" type="datetime1">
              <a:rPr lang="en-US" smtClean="0"/>
              <a:t>8/19/2024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4983480"/>
            <a:ext cx="8183880" cy="1051560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530352"/>
            <a:ext cx="8183880" cy="4187952"/>
          </a:xfrm>
        </p:spPr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87946A9-DE9C-4C0F-8CC5-C706728E934F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304802" y="329185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2000" cap="rnd" cmpd="sng" algn="ctr">
            <a:solidFill>
              <a:srgbClr val="302F2C">
                <a:tint val="65000"/>
                <a:satMod val="120000"/>
              </a:srgbClr>
            </a:solidFill>
            <a:prstDash val="solid"/>
          </a:ln>
          <a:effectLst>
            <a:outerShdw blurRad="76200" dist="50800" dir="5400000" algn="tl" rotWithShape="0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Rounded Rectangle 10"/>
          <p:cNvSpPr/>
          <p:nvPr/>
        </p:nvSpPr>
        <p:spPr>
          <a:xfrm>
            <a:off x="418597" y="434163"/>
            <a:ext cx="8306809" cy="4341329"/>
          </a:xfrm>
          <a:prstGeom prst="roundRect">
            <a:avLst>
              <a:gd name="adj" fmla="val 2127"/>
            </a:avLst>
          </a:prstGeom>
          <a:gradFill rotWithShape="1">
            <a:gsLst>
              <a:gs pos="0">
                <a:schemeClr val="bg1">
                  <a:tint val="75000"/>
                  <a:satMod val="150000"/>
                </a:schemeClr>
              </a:gs>
              <a:gs pos="55000">
                <a:schemeClr val="bg1">
                  <a:shade val="75000"/>
                  <a:satMod val="100000"/>
                </a:schemeClr>
              </a:gs>
              <a:gs pos="100000">
                <a:schemeClr val="bg1">
                  <a:shade val="35000"/>
                  <a:satMod val="100000"/>
                </a:schemeClr>
              </a:gs>
            </a:gsLst>
            <a:path path="circle">
              <a:fillToRect l="50000" t="175000" r="50000" b="-75000"/>
            </a:path>
          </a:gradFill>
          <a:ln w="889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344" y="4928616"/>
            <a:ext cx="8183880" cy="676656"/>
          </a:xfrm>
        </p:spPr>
        <p:txBody>
          <a:bodyPr lIns="91440" bIns="0" anchor="b"/>
          <a:lstStyle>
            <a:lvl1pPr algn="l">
              <a:buNone/>
              <a:defRPr sz="3600" b="0" cap="none" baseline="0">
                <a:solidFill>
                  <a:schemeClr val="bg2">
                    <a:shade val="25000"/>
                  </a:schemeClr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344" y="5624484"/>
            <a:ext cx="8183880" cy="420624"/>
          </a:xfrm>
        </p:spPr>
        <p:txBody>
          <a:bodyPr lIns="118872" tIns="0" anchor="t"/>
          <a:lstStyle>
            <a:lvl1pPr marL="0" marR="36576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accent1">
                    <a:shade val="50000"/>
                    <a:satMod val="110000"/>
                  </a:schemeClr>
                </a:solidFill>
                <a:effectLst/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8237A1E-E215-416E-8D25-5F336D5B557C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2" y="530352"/>
            <a:ext cx="3931920" cy="4389120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5360" y="530352"/>
            <a:ext cx="3931920" cy="4389120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3FD8B5B-8A46-412C-A2D2-8F2B1B2EC62B}" type="datetime1">
              <a:rPr lang="en-US" smtClean="0"/>
              <a:t>8/19/2024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4983480"/>
            <a:ext cx="8183880" cy="1051560"/>
          </a:xfrm>
        </p:spPr>
        <p:txBody>
          <a:bodyPr anchor="b"/>
          <a:lstStyle>
            <a:lvl1pPr>
              <a:defRPr b="1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224" y="579438"/>
            <a:ext cx="3931920" cy="792162"/>
          </a:xfrm>
        </p:spPr>
        <p:txBody>
          <a:bodyPr lIns="146304" anchor="ctr"/>
          <a:lstStyle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52169" y="579438"/>
            <a:ext cx="3931920" cy="792162"/>
          </a:xfrm>
        </p:spPr>
        <p:txBody>
          <a:bodyPr lIns="137160" anchor="ctr"/>
          <a:lstStyle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607224" y="1447800"/>
            <a:ext cx="3931920" cy="3489960"/>
          </a:xfrm>
        </p:spPr>
        <p:txBody>
          <a:bodyPr anchor="t"/>
          <a:lstStyle>
            <a:lvl1pPr algn="l">
              <a:defRPr sz="2400"/>
            </a:lvl1pPr>
            <a:lvl2pPr algn="l">
              <a:defRPr sz="2000"/>
            </a:lvl2pPr>
            <a:lvl3pPr algn="l">
              <a:defRPr sz="1800"/>
            </a:lvl3pPr>
            <a:lvl4pPr algn="l">
              <a:defRPr sz="1600"/>
            </a:lvl4pPr>
            <a:lvl5pPr algn="l"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2169" y="1447800"/>
            <a:ext cx="3931920" cy="3489960"/>
          </a:xfrm>
        </p:spPr>
        <p:txBody>
          <a:bodyPr anchor="t"/>
          <a:lstStyle>
            <a:lvl1pPr algn="l">
              <a:defRPr sz="2400"/>
            </a:lvl1pPr>
            <a:lvl2pPr algn="l">
              <a:defRPr sz="2000"/>
            </a:lvl2pPr>
            <a:lvl3pPr algn="l">
              <a:defRPr sz="1800"/>
            </a:lvl3pPr>
            <a:lvl4pPr algn="l">
              <a:defRPr sz="1600"/>
            </a:lvl4pPr>
            <a:lvl5pPr algn="l"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3D72D1A0-E9CE-4C54-8D41-8DBB9F509117}" type="datetime1">
              <a:rPr lang="en-US" smtClean="0"/>
              <a:t>8/19/2024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384E1B4-9FAF-4C2A-A5AC-8C7F175CBD59}" type="datetime1">
              <a:rPr lang="en-US" smtClean="0"/>
              <a:t>8/19/2024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304802" y="329185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2000" cap="rnd" cmpd="sng" algn="ctr">
            <a:solidFill>
              <a:srgbClr val="302F2C">
                <a:tint val="65000"/>
                <a:satMod val="120000"/>
              </a:srgbClr>
            </a:solidFill>
            <a:prstDash val="solid"/>
          </a:ln>
          <a:effectLst>
            <a:outerShdw blurRad="76200" dist="50800" dir="5400000" algn="tl" rotWithShape="0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2306DEF-8BC5-4D1A-A84F-BC32AA802BDD}" type="datetime1">
              <a:rPr lang="en-US" smtClean="0"/>
              <a:t>8/19/2024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38784" y="533400"/>
            <a:ext cx="2971800" cy="914400"/>
          </a:xfrm>
        </p:spPr>
        <p:txBody>
          <a:bodyPr anchor="b"/>
          <a:lstStyle>
            <a:lvl1pPr algn="l">
              <a:buNone/>
              <a:defRPr sz="2200" b="1">
                <a:solidFill>
                  <a:schemeClr val="accent1"/>
                </a:solidFill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5538847" y="1447803"/>
            <a:ext cx="2971800" cy="4206112"/>
          </a:xfrm>
        </p:spPr>
        <p:txBody>
          <a:bodyPr lIns="91440"/>
          <a:lstStyle>
            <a:lvl1pPr marL="18288" marR="18288" indent="0"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buNone/>
              <a:defRPr sz="1200">
                <a:solidFill>
                  <a:schemeClr val="tx1"/>
                </a:solidFill>
              </a:defRPr>
            </a:lvl2pPr>
            <a:lvl3pPr>
              <a:buNone/>
              <a:defRPr sz="1000">
                <a:solidFill>
                  <a:schemeClr val="tx1"/>
                </a:solidFill>
              </a:defRPr>
            </a:lvl3pPr>
            <a:lvl4pPr>
              <a:buNone/>
              <a:defRPr sz="900">
                <a:solidFill>
                  <a:schemeClr val="tx1"/>
                </a:solidFill>
              </a:defRPr>
            </a:lvl4pPr>
            <a:lvl5pPr>
              <a:buNone/>
              <a:defRPr sz="900">
                <a:solidFill>
                  <a:schemeClr val="tx1"/>
                </a:solidFill>
              </a:defRPr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761374" y="930145"/>
            <a:ext cx="4626159" cy="4724402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6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buNone/>
              <a:defRPr/>
            </a:lvl6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628B8A3B-8A96-493A-9055-E95E174A1B57}" type="datetime1">
              <a:rPr lang="en-US" smtClean="0"/>
              <a:t>8/19/2024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/>
          <p:cNvSpPr/>
          <p:nvPr/>
        </p:nvSpPr>
        <p:spPr>
          <a:xfrm>
            <a:off x="304802" y="329185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2000" cap="rnd" cmpd="sng" algn="ctr">
            <a:solidFill>
              <a:srgbClr val="302F2C">
                <a:tint val="65000"/>
                <a:satMod val="120000"/>
              </a:srgbClr>
            </a:solidFill>
            <a:prstDash val="solid"/>
          </a:ln>
          <a:effectLst>
            <a:outerShdw blurRad="76200" dist="50800" dir="5400000" algn="tl" rotWithShape="0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Round Single Corner Rectangle 10"/>
          <p:cNvSpPr/>
          <p:nvPr/>
        </p:nvSpPr>
        <p:spPr>
          <a:xfrm>
            <a:off x="6400800" y="434162"/>
            <a:ext cx="2324605" cy="4343400"/>
          </a:xfrm>
          <a:prstGeom prst="round1Rect">
            <a:avLst>
              <a:gd name="adj" fmla="val 2748"/>
            </a:avLst>
          </a:prstGeom>
          <a:solidFill>
            <a:srgbClr val="1C1C1C"/>
          </a:solidFill>
          <a:ln w="889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12056"/>
            <a:ext cx="8229600" cy="1051560"/>
          </a:xfrm>
        </p:spPr>
        <p:txBody>
          <a:bodyPr anchor="t"/>
          <a:lstStyle>
            <a:lvl1pPr algn="l">
              <a:buNone/>
              <a:defRPr sz="3600" b="0">
                <a:solidFill>
                  <a:schemeClr val="bg2">
                    <a:shade val="25000"/>
                  </a:schemeClr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White">
          <a:xfrm>
            <a:off x="6462712" y="533401"/>
            <a:ext cx="2240280" cy="4211480"/>
          </a:xfrm>
        </p:spPr>
        <p:txBody>
          <a:bodyPr lIns="91440"/>
          <a:lstStyle>
            <a:lvl1pPr marL="45720" indent="0" algn="l">
              <a:spcBef>
                <a:spcPts val="0"/>
              </a:spcBef>
              <a:buNone/>
              <a:defRPr sz="1400">
                <a:solidFill>
                  <a:srgbClr val="FFFFFF"/>
                </a:solidFill>
              </a:defRPr>
            </a:lvl1pPr>
            <a:lvl2pPr>
              <a:defRPr sz="12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  <a:lvl4pPr>
              <a:defRPr sz="900">
                <a:solidFill>
                  <a:srgbClr val="FFFFFF"/>
                </a:solidFill>
              </a:defRPr>
            </a:lvl4pPr>
            <a:lvl5pPr>
              <a:defRPr sz="900">
                <a:solidFill>
                  <a:srgbClr val="FFFFFF"/>
                </a:solidFill>
              </a:defRPr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93F6010-06C4-4772-A873-F0169484628B}" type="datetime1">
              <a:rPr lang="en-US" smtClean="0"/>
              <a:t>8/19/2024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21480" y="435768"/>
            <a:ext cx="5925312" cy="4343400"/>
          </a:xfrm>
          <a:prstGeom prst="snipRoundRect">
            <a:avLst>
              <a:gd name="adj1" fmla="val 1040"/>
              <a:gd name="adj2" fmla="val 0"/>
            </a:avLst>
          </a:prstGeom>
          <a:solidFill>
            <a:schemeClr val="bg2">
              <a:shade val="1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4983480"/>
            <a:ext cx="8183880" cy="1051560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2920" y="530352"/>
            <a:ext cx="8183880" cy="4187952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D38C875-1C6F-4BBA-A49D-A655DE5157F6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533405"/>
            <a:ext cx="1981200" cy="5257799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533403"/>
            <a:ext cx="5943600" cy="525780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5A7C28B-237A-4A16-A330-F744D93506D6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FAABE3-8527-4979-BA7D-5506EF11427A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304802" y="329185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2000" cap="rnd" cmpd="sng" algn="ctr">
            <a:solidFill>
              <a:srgbClr val="302F2C">
                <a:tint val="65000"/>
                <a:satMod val="120000"/>
              </a:srgbClr>
            </a:solidFill>
            <a:prstDash val="solid"/>
          </a:ln>
          <a:effectLst>
            <a:outerShdw blurRad="76200" dist="50800" dir="5400000" algn="tl" rotWithShape="0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Rounded Rectangle 8"/>
          <p:cNvSpPr/>
          <p:nvPr/>
        </p:nvSpPr>
        <p:spPr>
          <a:xfrm>
            <a:off x="418597" y="434162"/>
            <a:ext cx="8306809" cy="5486400"/>
          </a:xfrm>
          <a:prstGeom prst="roundRect">
            <a:avLst>
              <a:gd name="adj" fmla="val 2127"/>
            </a:avLst>
          </a:prstGeom>
          <a:gradFill rotWithShape="1">
            <a:gsLst>
              <a:gs pos="0">
                <a:schemeClr val="bg1">
                  <a:tint val="75000"/>
                  <a:satMod val="150000"/>
                </a:schemeClr>
              </a:gs>
              <a:gs pos="55000">
                <a:schemeClr val="bg1">
                  <a:shade val="75000"/>
                  <a:satMod val="100000"/>
                </a:schemeClr>
              </a:gs>
              <a:gs pos="100000">
                <a:schemeClr val="bg1">
                  <a:shade val="35000"/>
                  <a:satMod val="100000"/>
                </a:schemeClr>
              </a:gs>
            </a:gsLst>
            <a:path path="circle">
              <a:fillToRect l="50000" t="175000" r="50000" b="-75000"/>
            </a:path>
          </a:gradFill>
          <a:ln w="889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3" name="Title Placeholder 12"/>
          <p:cNvSpPr>
            <a:spLocks noGrp="1"/>
          </p:cNvSpPr>
          <p:nvPr>
            <p:ph type="title"/>
          </p:nvPr>
        </p:nvSpPr>
        <p:spPr>
          <a:xfrm>
            <a:off x="502920" y="4985590"/>
            <a:ext cx="8183880" cy="1051560"/>
          </a:xfrm>
          <a:prstGeom prst="rect">
            <a:avLst/>
          </a:prstGeom>
        </p:spPr>
        <p:txBody>
          <a:bodyPr vert="horz" anchor="b">
            <a:normAutofit/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02920" y="530352"/>
            <a:ext cx="8183880" cy="4187952"/>
          </a:xfrm>
          <a:prstGeom prst="rect">
            <a:avLst/>
          </a:prstGeom>
        </p:spPr>
        <p:txBody>
          <a:bodyPr vert="horz" lIns="182880" tIns="91440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2"/>
          </p:nvPr>
        </p:nvSpPr>
        <p:spPr>
          <a:xfrm>
            <a:off x="3776328" y="6111876"/>
            <a:ext cx="228600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bg2">
                    <a:shade val="50000"/>
                  </a:schemeClr>
                </a:solidFill>
              </a:defRPr>
            </a:lvl1pPr>
            <a:extLst/>
          </a:lstStyle>
          <a:p>
            <a:fld id="{A27B6C89-3F9A-4856-B9C8-0FA30DF0136D}" type="datetime1">
              <a:rPr lang="en-US" smtClean="0"/>
              <a:t>8/19/2024</a:t>
            </a:fld>
            <a:endParaRPr lang="en-US"/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3"/>
          </p:nvPr>
        </p:nvSpPr>
        <p:spPr>
          <a:xfrm>
            <a:off x="6062328" y="6111876"/>
            <a:ext cx="2286000" cy="365125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bg2">
                    <a:shade val="50000"/>
                  </a:schemeClr>
                </a:solidFill>
              </a:defRPr>
            </a:lvl1pPr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348328" y="6111876"/>
            <a:ext cx="45720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bg2">
                    <a:shade val="50000"/>
                  </a:schemeClr>
                </a:solidFill>
              </a:defRPr>
            </a:lvl1pPr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dt="0"/>
  <p:txStyles>
    <p:titleStyle>
      <a:lvl1pPr algn="l" rtl="0" eaLnBrk="1" latinLnBrk="0" hangingPunct="1">
        <a:spcBef>
          <a:spcPct val="0"/>
        </a:spcBef>
        <a:buNone/>
        <a:defRPr kumimoji="0" sz="3600" b="1" kern="1200">
          <a:solidFill>
            <a:schemeClr val="accent1">
              <a:tint val="88000"/>
              <a:satMod val="150000"/>
            </a:schemeClr>
          </a:solidFill>
          <a:effectLst>
            <a:outerShdw blurRad="53975" dist="22860" dir="5400000" algn="tl" rotWithShape="0">
              <a:srgbClr val="000000">
                <a:alpha val="5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265176" indent="-265176" algn="l" rtl="0" eaLnBrk="1" latinLnBrk="0" hangingPunct="1">
        <a:spcBef>
          <a:spcPts val="250"/>
        </a:spcBef>
        <a:buClr>
          <a:schemeClr val="accent1"/>
        </a:buClr>
        <a:buSzPct val="80000"/>
        <a:buFont typeface="Wingdings 2"/>
        <a:buChar char=""/>
        <a:defRPr kumimoji="0" sz="2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48640" indent="-201168" algn="l" rtl="0" eaLnBrk="1" latinLnBrk="0" hangingPunct="1">
        <a:spcBef>
          <a:spcPts val="250"/>
        </a:spcBef>
        <a:buClr>
          <a:schemeClr val="accent1"/>
        </a:buClr>
        <a:buSzPct val="100000"/>
        <a:buFont typeface="Verdana"/>
        <a:buChar char="◦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786384" indent="-182880" algn="l" rtl="0" eaLnBrk="1" latinLnBrk="0" hangingPunct="1">
        <a:spcBef>
          <a:spcPts val="250"/>
        </a:spcBef>
        <a:buClr>
          <a:schemeClr val="accent2">
            <a:tint val="85000"/>
            <a:satMod val="285000"/>
          </a:schemeClr>
        </a:buClr>
        <a:buSzPct val="100000"/>
        <a:buFont typeface="Wingdings 2"/>
        <a:buChar char="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024128" indent="-182880" algn="l" rtl="0" eaLnBrk="1" latinLnBrk="0" hangingPunct="1">
        <a:spcBef>
          <a:spcPts val="230"/>
        </a:spcBef>
        <a:buClr>
          <a:schemeClr val="accent2">
            <a:tint val="85000"/>
            <a:satMod val="285000"/>
          </a:schemeClr>
        </a:buClr>
        <a:buSzPct val="112000"/>
        <a:buFont typeface="Verdana"/>
        <a:buChar char="◦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rtl="0" eaLnBrk="1" latinLnBrk="0" hangingPunct="1">
        <a:spcBef>
          <a:spcPts val="250"/>
        </a:spcBef>
        <a:buClr>
          <a:schemeClr val="accent3">
            <a:tint val="85000"/>
            <a:satMod val="275000"/>
          </a:schemeClr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490472" indent="-182880" algn="l" rtl="0" eaLnBrk="1" latinLnBrk="0" hangingPunct="1">
        <a:spcBef>
          <a:spcPts val="250"/>
        </a:spcBef>
        <a:buClr>
          <a:schemeClr val="accent3">
            <a:tint val="85000"/>
            <a:satMod val="275000"/>
          </a:schemeClr>
        </a:buClr>
        <a:buSzPct val="100000"/>
        <a:buFont typeface="Verdana"/>
        <a:buChar char="◦"/>
        <a:defRPr kumimoji="0" sz="17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700784" indent="-182880" algn="l" rtl="0" eaLnBrk="1" latinLnBrk="0" hangingPunct="1">
        <a:spcBef>
          <a:spcPts val="255"/>
        </a:spcBef>
        <a:buClr>
          <a:schemeClr val="accent3">
            <a:tint val="85000"/>
            <a:satMod val="275000"/>
          </a:schemeClr>
        </a:buClr>
        <a:buSzPct val="100000"/>
        <a:buFont typeface="Wingdings 2"/>
        <a:buChar char="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ts val="257"/>
        </a:spcBef>
        <a:buClr>
          <a:schemeClr val="accent3">
            <a:tint val="85000"/>
            <a:satMod val="275000"/>
          </a:schemeClr>
        </a:buClr>
        <a:buSzPct val="100000"/>
        <a:buFont typeface="Verdana"/>
        <a:buChar char="◦"/>
        <a:defRPr kumimoji="0" sz="15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148840" indent="-182880" algn="l" rtl="0" eaLnBrk="1" latinLnBrk="0" hangingPunct="1">
        <a:spcBef>
          <a:spcPts val="255"/>
        </a:spcBef>
        <a:buClr>
          <a:schemeClr val="accent3">
            <a:tint val="85000"/>
            <a:satMod val="275000"/>
          </a:schemeClr>
        </a:buClr>
        <a:buSzPct val="100000"/>
        <a:buFont typeface="Wingdings 2"/>
        <a:buChar char="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alogictips.com/pulse-width-modulation-pwm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video" Target="../media/media3.wmv"/><Relationship Id="rId13" Type="http://schemas.openxmlformats.org/officeDocument/2006/relationships/slideLayout" Target="../slideLayouts/slideLayout2.xml"/><Relationship Id="rId18" Type="http://schemas.openxmlformats.org/officeDocument/2006/relationships/image" Target="../media/image7.png"/><Relationship Id="rId3" Type="http://schemas.microsoft.com/office/2007/relationships/media" Target="../media/media1.wmv"/><Relationship Id="rId7" Type="http://schemas.microsoft.com/office/2007/relationships/media" Target="../media/media3.wmv"/><Relationship Id="rId12" Type="http://schemas.openxmlformats.org/officeDocument/2006/relationships/video" Target="../media/media5.wmv"/><Relationship Id="rId17" Type="http://schemas.openxmlformats.org/officeDocument/2006/relationships/image" Target="../media/image6.png"/><Relationship Id="rId2" Type="http://schemas.openxmlformats.org/officeDocument/2006/relationships/tags" Target="../tags/tag1.xml"/><Relationship Id="rId16" Type="http://schemas.openxmlformats.org/officeDocument/2006/relationships/image" Target="../media/image5.png"/><Relationship Id="rId1" Type="http://schemas.openxmlformats.org/officeDocument/2006/relationships/themeOverride" Target="../theme/themeOverride1.xml"/><Relationship Id="rId6" Type="http://schemas.openxmlformats.org/officeDocument/2006/relationships/video" Target="../media/media2.wmv"/><Relationship Id="rId11" Type="http://schemas.microsoft.com/office/2007/relationships/media" Target="../media/media5.wmv"/><Relationship Id="rId5" Type="http://schemas.microsoft.com/office/2007/relationships/media" Target="../media/media2.wmv"/><Relationship Id="rId15" Type="http://schemas.openxmlformats.org/officeDocument/2006/relationships/image" Target="../media/image4.png"/><Relationship Id="rId10" Type="http://schemas.openxmlformats.org/officeDocument/2006/relationships/video" Target="../media/media4.wmv"/><Relationship Id="rId19" Type="http://schemas.openxmlformats.org/officeDocument/2006/relationships/image" Target="../media/image8.png"/><Relationship Id="rId4" Type="http://schemas.openxmlformats.org/officeDocument/2006/relationships/video" Target="../media/media1.wmv"/><Relationship Id="rId9" Type="http://schemas.microsoft.com/office/2007/relationships/media" Target="../media/media4.wmv"/><Relationship Id="rId1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hemeOverride" Target="../theme/themeOverride2.xml"/><Relationship Id="rId5" Type="http://schemas.openxmlformats.org/officeDocument/2006/relationships/hyperlink" Target="https://www.analogictips.com/pulse-width-modulation-pwm/" TargetMode="Externa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9.png"/><Relationship Id="rId5" Type="http://schemas.openxmlformats.org/officeDocument/2006/relationships/hyperlink" Target="https://www.analogictips.com/pulse-width-modulation-pwm/" TargetMode="Externa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1.jpeg"/><Relationship Id="rId2" Type="http://schemas.openxmlformats.org/officeDocument/2006/relationships/tags" Target="../tags/tag4.xml"/><Relationship Id="rId1" Type="http://schemas.openxmlformats.org/officeDocument/2006/relationships/themeOverride" Target="../theme/themeOverride4.xml"/><Relationship Id="rId6" Type="http://schemas.openxmlformats.org/officeDocument/2006/relationships/image" Target="../media/image10.gif"/><Relationship Id="rId5" Type="http://schemas.openxmlformats.org/officeDocument/2006/relationships/hyperlink" Target="https://www.analogictips.com/pulse-width-modulation-pwm/" TargetMode="Externa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3.jpeg"/><Relationship Id="rId2" Type="http://schemas.openxmlformats.org/officeDocument/2006/relationships/tags" Target="../tags/tag5.xml"/><Relationship Id="rId1" Type="http://schemas.openxmlformats.org/officeDocument/2006/relationships/themeOverride" Target="../theme/themeOverride5.xml"/><Relationship Id="rId6" Type="http://schemas.openxmlformats.org/officeDocument/2006/relationships/image" Target="../media/image12.jpeg"/><Relationship Id="rId5" Type="http://schemas.openxmlformats.org/officeDocument/2006/relationships/hyperlink" Target="https://www.analogictips.com/pulse-width-modulation-pwm/" TargetMode="Externa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hemeOverride" Target="../theme/themeOverride6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20000"/>
                <a:lumOff val="80000"/>
              </a:schemeClr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018691"/>
            <a:ext cx="8229600" cy="1254448"/>
          </a:xfrm>
        </p:spPr>
        <p:txBody>
          <a:bodyPr lIns="0" tIns="0">
            <a:normAutofit fontScale="90000"/>
          </a:bodyPr>
          <a:lstStyle/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rgbClr val="C00000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  <a:t>Microprocessors and Assembly </a:t>
            </a:r>
            <a:r>
              <a:rPr lang="en-US" sz="3200" dirty="0" smtClean="0">
                <a:solidFill>
                  <a:srgbClr val="C00000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  <a:t>Language</a:t>
            </a:r>
            <a:r>
              <a:rPr lang="en-US" sz="2400" dirty="0" smtClean="0">
                <a:solidFill>
                  <a:srgbClr val="C00000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  <a:t/>
            </a:r>
            <a:br>
              <a:rPr lang="en-US" sz="2400" dirty="0" smtClean="0">
                <a:solidFill>
                  <a:srgbClr val="C00000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</a:br>
            <a:r>
              <a:rPr lang="en-US" sz="2400" dirty="0" smtClean="0">
                <a:solidFill>
                  <a:srgbClr val="C00000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  <a:t> </a:t>
            </a:r>
            <a:r>
              <a:rPr lang="en-US" sz="2000" b="0" dirty="0" smtClean="0">
                <a:solidFill>
                  <a:srgbClr val="130868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  <a:t>Fall 2024</a:t>
            </a:r>
            <a:endParaRPr lang="en-US" sz="1600" b="0" dirty="0">
              <a:solidFill>
                <a:srgbClr val="130868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Picture 3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904507" y="610740"/>
            <a:ext cx="1334986" cy="13704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36"/>
          <p:cNvSpPr txBox="1">
            <a:spLocks noChangeArrowheads="1"/>
          </p:cNvSpPr>
          <p:nvPr/>
        </p:nvSpPr>
        <p:spPr bwMode="auto">
          <a:xfrm>
            <a:off x="457200" y="3810000"/>
            <a:ext cx="8382000" cy="22775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algn="r" rtl="1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algn="r" rtl="1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algn="r" rtl="1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algn="r" rtl="1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Aft>
                <a:spcPts val="600"/>
              </a:spcAft>
            </a:pPr>
            <a:r>
              <a:rPr lang="en-US" sz="2400" b="1" dirty="0" smtClean="0">
                <a:latin typeface="Calibri" panose="020F0502020204030204" pitchFamily="34" charset="0"/>
                <a:cs typeface="B Titr" pitchFamily="2" charset="-78"/>
              </a:rPr>
              <a:t>Hamed Farbeh</a:t>
            </a:r>
          </a:p>
          <a:p>
            <a:pPr algn="ctr" eaLnBrk="1" hangingPunct="1">
              <a:spcAft>
                <a:spcPts val="600"/>
              </a:spcAft>
            </a:pPr>
            <a:r>
              <a:rPr lang="en-US" b="1" dirty="0" smtClean="0">
                <a:latin typeface="Calibri" panose="020F0502020204030204" pitchFamily="34" charset="0"/>
                <a:cs typeface="B Titr" pitchFamily="2" charset="-78"/>
              </a:rPr>
              <a:t>farbeh@aut.ac.ir</a:t>
            </a:r>
            <a:endParaRPr lang="fa-IR" b="1" dirty="0">
              <a:latin typeface="Calibri" panose="020F0502020204030204" pitchFamily="34" charset="0"/>
              <a:cs typeface="B Titr" pitchFamily="2" charset="-78"/>
            </a:endParaRPr>
          </a:p>
          <a:p>
            <a:pPr algn="ctr" eaLnBrk="1" hangingPunct="1">
              <a:lnSpc>
                <a:spcPct val="150000"/>
              </a:lnSpc>
            </a:pPr>
            <a:r>
              <a:rPr lang="en-US" sz="2000" dirty="0">
                <a:latin typeface="Calibri" panose="020F0502020204030204" pitchFamily="34" charset="0"/>
                <a:cs typeface="B Titr" pitchFamily="2" charset="-78"/>
              </a:rPr>
              <a:t>Department of Computer </a:t>
            </a:r>
            <a:r>
              <a:rPr lang="en-US" sz="2000" dirty="0" smtClean="0">
                <a:latin typeface="Calibri" panose="020F0502020204030204" pitchFamily="34" charset="0"/>
                <a:cs typeface="B Titr" pitchFamily="2" charset="-78"/>
              </a:rPr>
              <a:t>Engineering</a:t>
            </a:r>
          </a:p>
          <a:p>
            <a:pPr algn="ctr" eaLnBrk="1" hangingPunct="1">
              <a:lnSpc>
                <a:spcPct val="150000"/>
              </a:lnSpc>
            </a:pPr>
            <a:r>
              <a:rPr lang="en-US" sz="2000" dirty="0">
                <a:latin typeface="Calibri" panose="020F0502020204030204" pitchFamily="34" charset="0"/>
                <a:cs typeface="B Titr" pitchFamily="2" charset="-78"/>
              </a:rPr>
              <a:t>Amirkabir University of </a:t>
            </a:r>
            <a:r>
              <a:rPr lang="en-US" sz="2000" dirty="0" smtClean="0">
                <a:latin typeface="Calibri" panose="020F0502020204030204" pitchFamily="34" charset="0"/>
                <a:cs typeface="B Titr" pitchFamily="2" charset="-78"/>
              </a:rPr>
              <a:t>Technology</a:t>
            </a:r>
          </a:p>
          <a:p>
            <a:pPr algn="ctr" eaLnBrk="1" hangingPunct="1">
              <a:lnSpc>
                <a:spcPct val="150000"/>
              </a:lnSpc>
            </a:pPr>
            <a:r>
              <a:rPr lang="en-US" sz="2000" dirty="0" smtClean="0">
                <a:latin typeface="Calibri" panose="020F0502020204030204" pitchFamily="34" charset="0"/>
                <a:cs typeface="B Titr" pitchFamily="2" charset="-78"/>
              </a:rPr>
              <a:t>Lecture 12</a:t>
            </a:r>
            <a:endParaRPr lang="en-US" sz="2000" dirty="0">
              <a:latin typeface="Calibri" panose="020F0502020204030204" pitchFamily="34" charset="0"/>
              <a:cs typeface="B Titr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9118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+mj-lt"/>
                <a:cs typeface="B Titr" panose="00000700000000000000" pitchFamily="2" charset="-78"/>
              </a:rPr>
              <a:t>Copyright Notice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2</a:t>
            </a:fld>
            <a:endParaRPr lang="en-US" dirty="0">
              <a:latin typeface="+mj-lt"/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457200" y="1143000"/>
            <a:ext cx="827562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/>
              <a:t>Parts (text &amp; figures) of this lecture are adopted from: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cs typeface="B Nazanin" pitchFamily="2" charset="-78"/>
                <a:hlinkClick r:id="rId2"/>
              </a:rPr>
              <a:t>https://www.analogictips.com/pulse-width-modulation-pwm</a:t>
            </a:r>
            <a:r>
              <a:rPr lang="en-US" sz="2000" b="1" dirty="0" smtClean="0">
                <a:cs typeface="B Nazanin" pitchFamily="2" charset="-78"/>
                <a:hlinkClick r:id="rId2"/>
              </a:rPr>
              <a:t>/</a:t>
            </a:r>
            <a:endParaRPr lang="en-US" sz="2000" b="1" dirty="0" smtClean="0">
              <a:cs typeface="B Nazanin" pitchFamily="2" charset="-78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cs typeface="B Nazanin" pitchFamily="2" charset="-78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>
                <a:cs typeface="B Nazanin" pitchFamily="2" charset="-78"/>
              </a:rPr>
              <a:t>Atmel </a:t>
            </a:r>
            <a:r>
              <a:rPr lang="en-US" sz="2000" b="1" dirty="0">
                <a:cs typeface="B Nazanin" pitchFamily="2" charset="-78"/>
              </a:rPr>
              <a:t>| SMART ARM-based MCU DATASHEET, SAM3X / SAM3A Series, </a:t>
            </a:r>
            <a:r>
              <a:rPr lang="en-US" sz="2000" b="1" dirty="0" smtClean="0">
                <a:cs typeface="B Nazanin" pitchFamily="2" charset="-78"/>
              </a:rPr>
              <a:t>Atmel-11057C-ATARM-SAM3X-SAM3A-Datasheet_23-Mar-15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cs typeface="B Nazanin" pitchFamily="2" charset="-78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7319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3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3850" y="2666999"/>
            <a:ext cx="8458200" cy="837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b="1" dirty="0" smtClean="0"/>
              <a:t>Pulse </a:t>
            </a:r>
            <a:r>
              <a:rPr lang="en-US" sz="3600" b="1" dirty="0"/>
              <a:t>Width </a:t>
            </a:r>
            <a:r>
              <a:rPr lang="en-US" sz="3600" b="1" dirty="0" smtClean="0"/>
              <a:t>Modulation (PWM)</a:t>
            </a:r>
            <a:endParaRPr lang="en-US" sz="3600" b="1" baseline="30000" dirty="0" smtClean="0"/>
          </a:p>
        </p:txBody>
      </p:sp>
      <p:sp>
        <p:nvSpPr>
          <p:cNvPr id="2" name="AutoShape 4" descr="robot GIF"/>
          <p:cNvSpPr>
            <a:spLocks noChangeAspect="1" noChangeArrowheads="1"/>
          </p:cNvSpPr>
          <p:nvPr/>
        </p:nvSpPr>
        <p:spPr bwMode="auto">
          <a:xfrm>
            <a:off x="155575" y="-814388"/>
            <a:ext cx="2362200" cy="1704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ice.wmv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4972050" y="0"/>
            <a:ext cx="4171950" cy="2571750"/>
          </a:xfrm>
          <a:prstGeom prst="rect">
            <a:avLst/>
          </a:prstGeom>
        </p:spPr>
      </p:pic>
      <p:pic>
        <p:nvPicPr>
          <p:cNvPr id="5" name="sort.wm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0" y="0"/>
            <a:ext cx="4286250" cy="2400300"/>
          </a:xfrm>
          <a:prstGeom prst="rect">
            <a:avLst/>
          </a:prstGeom>
        </p:spPr>
      </p:pic>
      <p:pic>
        <p:nvPicPr>
          <p:cNvPr id="13" name="BD.wmv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7"/>
          <a:stretch>
            <a:fillRect/>
          </a:stretch>
        </p:blipFill>
        <p:spPr>
          <a:xfrm>
            <a:off x="0" y="3666084"/>
            <a:ext cx="5688563" cy="3191916"/>
          </a:xfrm>
          <a:prstGeom prst="rect">
            <a:avLst/>
          </a:prstGeom>
        </p:spPr>
      </p:pic>
      <p:pic>
        <p:nvPicPr>
          <p:cNvPr id="14" name="bol.wmv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8"/>
          <a:stretch>
            <a:fillRect/>
          </a:stretch>
        </p:blipFill>
        <p:spPr>
          <a:xfrm>
            <a:off x="5942558" y="3666083"/>
            <a:ext cx="3201441" cy="3201441"/>
          </a:xfrm>
          <a:prstGeom prst="rect">
            <a:avLst/>
          </a:prstGeom>
        </p:spPr>
      </p:pic>
      <p:pic>
        <p:nvPicPr>
          <p:cNvPr id="15" name="ppl.wmv">
            <a:hlinkClick r:id="" action="ppaction://media"/>
          </p:cNvPr>
          <p:cNvPicPr>
            <a:picLocks noChangeAspect="1"/>
          </p:cNvPicPr>
          <p:nvPr>
            <a:vide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9"/>
          <a:stretch>
            <a:fillRect/>
          </a:stretch>
        </p:blipFill>
        <p:spPr>
          <a:xfrm>
            <a:off x="3048000" y="658091"/>
            <a:ext cx="3124200" cy="5680364"/>
          </a:xfrm>
          <a:prstGeom prst="rect">
            <a:avLst/>
          </a:prstGeom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19328055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957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166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62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187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6" dur="14916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7" repeatCount="indefinite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video>
              <p:cMediaNode vol="80000">
                <p:cTn id="23" repeatCount="indefinite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8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video>
              <p:cMediaNode vol="80000">
                <p:cTn id="29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4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35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36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" fill="hold">
                      <p:stCondLst>
                        <p:cond delay="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0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 showWhenStopped="0">
                <p:cTn id="41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  <p:extLst mod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PWM: What </a:t>
            </a:r>
            <a:r>
              <a:rPr lang="en-US" sz="3200" dirty="0">
                <a:latin typeface="+mj-lt"/>
                <a:cs typeface="B Titr" panose="00000700000000000000" pitchFamily="2" charset="-78"/>
              </a:rPr>
              <a:t>is it and how does it work?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4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Digital signals have two </a:t>
            </a:r>
            <a:r>
              <a:rPr lang="en-US" sz="2000" b="1" dirty="0" smtClean="0"/>
              <a:t>positions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on </a:t>
            </a:r>
            <a:r>
              <a:rPr lang="en-US" b="1" dirty="0"/>
              <a:t>or off, interpreted in shorthand as 1 or 0</a:t>
            </a:r>
            <a:endParaRPr lang="en-US" b="1" dirty="0" smtClean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Analog </a:t>
            </a:r>
            <a:r>
              <a:rPr lang="en-US" sz="2000" b="1" dirty="0" smtClean="0"/>
              <a:t>signals </a:t>
            </a:r>
            <a:r>
              <a:rPr lang="en-US" sz="2000" b="1" dirty="0"/>
              <a:t>can be </a:t>
            </a: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on</a:t>
            </a:r>
            <a:r>
              <a:rPr lang="en-US" b="1" dirty="0"/>
              <a:t>, off, half-way, two-thirds the way to on, and an infinite number of positions between 0 and </a:t>
            </a:r>
            <a:r>
              <a:rPr lang="en-US" b="1" dirty="0" smtClean="0"/>
              <a:t>1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To </a:t>
            </a:r>
            <a:r>
              <a:rPr lang="en-US" sz="2000" b="1" dirty="0"/>
              <a:t>take an </a:t>
            </a:r>
            <a:r>
              <a:rPr lang="en-US" sz="2000" b="1" dirty="0" smtClean="0"/>
              <a:t>analog </a:t>
            </a:r>
            <a:r>
              <a:rPr lang="en-US" sz="2000" b="1" dirty="0"/>
              <a:t>input signal (e.g., temperature) into a </a:t>
            </a:r>
            <a:r>
              <a:rPr lang="en-US" sz="2000" b="1" dirty="0" smtClean="0"/>
              <a:t>microcontroller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by </a:t>
            </a:r>
            <a:r>
              <a:rPr lang="en-US" sz="2000" b="1" dirty="0"/>
              <a:t>using an analog-to-digital </a:t>
            </a:r>
            <a:r>
              <a:rPr lang="en-US" sz="2000" b="1" dirty="0" smtClean="0"/>
              <a:t>converter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But </a:t>
            </a:r>
            <a:r>
              <a:rPr lang="en-US" sz="2000" b="1" dirty="0"/>
              <a:t>what about </a:t>
            </a:r>
            <a:r>
              <a:rPr lang="en-US" sz="2000" b="1" dirty="0" smtClean="0"/>
              <a:t>outputs?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PWM </a:t>
            </a:r>
            <a:r>
              <a:rPr lang="en-US" sz="2000" b="1" dirty="0"/>
              <a:t>is a way to control analog devices with a digital </a:t>
            </a:r>
            <a:r>
              <a:rPr lang="en-US" sz="2000" b="1" dirty="0" smtClean="0"/>
              <a:t>output		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Drive </a:t>
            </a:r>
            <a:r>
              <a:rPr lang="en-US" b="1" dirty="0"/>
              <a:t>analog devices like variable-speed motors, dimmable lights, actuators, and speakers</a:t>
            </a:r>
            <a:endParaRPr lang="en-US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hlinkClick r:id="rId5"/>
              </a:rPr>
              <a:t>https://www.analogictips.com/pulse-width-modulation-pwm/</a:t>
            </a:r>
            <a:endParaRPr lang="en-US" sz="1100" dirty="0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3822780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PWM: What </a:t>
            </a:r>
            <a:r>
              <a:rPr lang="en-US" sz="3200" dirty="0">
                <a:latin typeface="+mj-lt"/>
                <a:cs typeface="B Titr" panose="00000700000000000000" pitchFamily="2" charset="-78"/>
              </a:rPr>
              <a:t>is it and how does it work?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5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PWM is not true analog output</a:t>
            </a: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PWM “fakes” an analog-like result by applying power in pulses, or short bursts of regulated </a:t>
            </a:r>
            <a:r>
              <a:rPr lang="en-US" b="1" dirty="0" smtClean="0"/>
              <a:t>voltage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Is </a:t>
            </a:r>
            <a:r>
              <a:rPr lang="en-US" b="1" dirty="0"/>
              <a:t>a fancy term for describing a type of digital signal</a:t>
            </a:r>
            <a:endParaRPr lang="en-US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hlinkClick r:id="rId5"/>
              </a:rPr>
              <a:t>https://www.analogictips.com/pulse-width-modulation-pwm/</a:t>
            </a:r>
            <a:endParaRPr lang="en-US" sz="1100" dirty="0"/>
          </a:p>
        </p:txBody>
      </p:sp>
      <p:pic>
        <p:nvPicPr>
          <p:cNvPr id="1026" name="Picture 2" descr="C:\Users\hamed\Dropbox\New\1398-1\MicroProc\Slides\Fig-2-640px-PWM3-level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4983" y="3147982"/>
            <a:ext cx="4640960" cy="3205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5056448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PWM: What </a:t>
            </a:r>
            <a:r>
              <a:rPr lang="en-US" sz="3200" dirty="0">
                <a:latin typeface="+mj-lt"/>
                <a:cs typeface="B Titr" panose="00000700000000000000" pitchFamily="2" charset="-78"/>
              </a:rPr>
              <a:t>is it and how does it work?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6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1752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A </a:t>
            </a:r>
            <a:r>
              <a:rPr lang="en-US" b="1" dirty="0"/>
              <a:t>device that is driven by PWM ends up behaving like the average of the </a:t>
            </a:r>
            <a:r>
              <a:rPr lang="en-US" b="1" dirty="0" smtClean="0"/>
              <a:t>pulses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The </a:t>
            </a:r>
            <a:r>
              <a:rPr lang="en-US" b="1" dirty="0" smtClean="0"/>
              <a:t>average voltage level can be a steady voltage or a moving target (dynamic/changing over </a:t>
            </a:r>
            <a:r>
              <a:rPr lang="en-US" b="1" dirty="0"/>
              <a:t>time</a:t>
            </a:r>
            <a:r>
              <a:rPr lang="en-US" b="1" dirty="0" smtClean="0"/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hlinkClick r:id="rId5"/>
              </a:rPr>
              <a:t>https://www.analogictips.com/pulse-width-modulation-pwm/</a:t>
            </a:r>
            <a:endParaRPr lang="en-US" sz="1100" dirty="0"/>
          </a:p>
        </p:txBody>
      </p:sp>
      <p:pic>
        <p:nvPicPr>
          <p:cNvPr id="2050" name="Picture 2" descr="C:\Users\hamed\Dropbox\New\1398-1\MicroProc\Slides\Fig-1-pwm.gif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3257" y="2159424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103414" y="2488453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b="1" dirty="0"/>
              <a:t> Average </a:t>
            </a:r>
            <a:r>
              <a:rPr lang="en-US" b="1" dirty="0" smtClean="0"/>
              <a:t>Voltage = </a:t>
            </a:r>
            <a:endParaRPr lang="en-US" b="1" dirty="0"/>
          </a:p>
          <a:p>
            <a:pPr algn="ctr"/>
            <a:r>
              <a:rPr lang="en-US" b="1" dirty="0" smtClean="0"/>
              <a:t>Duty Cycle  </a:t>
            </a:r>
            <a:r>
              <a:rPr lang="en-US" b="1" dirty="0"/>
              <a:t>x </a:t>
            </a:r>
            <a:r>
              <a:rPr lang="en-US" b="1" dirty="0" smtClean="0"/>
              <a:t> High </a:t>
            </a:r>
            <a:r>
              <a:rPr lang="en-US" b="1" dirty="0"/>
              <a:t>Voltage Level </a:t>
            </a:r>
          </a:p>
        </p:txBody>
      </p:sp>
      <p:pic>
        <p:nvPicPr>
          <p:cNvPr id="2051" name="Picture 3" descr="C:\Users\hamed\Dropbox\New\1398-1\MicroProc\Slides\arm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113" y="3124200"/>
            <a:ext cx="2960687" cy="2960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15637454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PWM: </a:t>
            </a:r>
            <a:r>
              <a:rPr lang="en-US" sz="3200" dirty="0">
                <a:latin typeface="+mj-lt"/>
                <a:cs typeface="B Titr" panose="00000700000000000000" pitchFamily="2" charset="-78"/>
              </a:rPr>
              <a:t>An </a:t>
            </a:r>
            <a:r>
              <a:rPr lang="en-US" sz="3200" dirty="0" smtClean="0">
                <a:latin typeface="+mj-lt"/>
                <a:cs typeface="B Titr" panose="00000700000000000000" pitchFamily="2" charset="-78"/>
              </a:rPr>
              <a:t>Example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7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Controlling </a:t>
            </a:r>
            <a:r>
              <a:rPr lang="en-US" b="1" dirty="0"/>
              <a:t>the brightness of an LED by adjusting the duty </a:t>
            </a:r>
            <a:r>
              <a:rPr lang="en-US" b="1" dirty="0" smtClean="0"/>
              <a:t>cycle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With an RGB (red green blue) LED, </a:t>
            </a:r>
            <a:endParaRPr lang="en-US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 smtClean="0"/>
              <a:t>you </a:t>
            </a:r>
            <a:r>
              <a:rPr lang="en-US" sz="1600" b="1" dirty="0"/>
              <a:t>can control how much of each of the three colors you want in the mix of color by dimming them with various </a:t>
            </a:r>
            <a:r>
              <a:rPr lang="en-US" sz="1600" b="1" dirty="0" smtClean="0"/>
              <a:t>amounts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hlinkClick r:id="rId5"/>
              </a:rPr>
              <a:t>https://www.analogictips.com/pulse-width-modulation-pwm/</a:t>
            </a:r>
            <a:endParaRPr lang="en-US" sz="1100" dirty="0"/>
          </a:p>
        </p:txBody>
      </p:sp>
      <p:pic>
        <p:nvPicPr>
          <p:cNvPr id="3074" name="Picture 2" descr="C:\Users\hamed\Dropbox\New\1398-1\MicroProc\Slides\led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3000" y="3657600"/>
            <a:ext cx="2209800" cy="220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C:\Users\hamed\Dropbox\New\1398-1\MicroProc\Slides\led1.jpg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39" r="28390"/>
          <a:stretch/>
        </p:blipFill>
        <p:spPr bwMode="auto">
          <a:xfrm>
            <a:off x="1371600" y="3653118"/>
            <a:ext cx="2438400" cy="2214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34886554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PWM in SAM3X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8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The PWM </a:t>
            </a:r>
            <a:r>
              <a:rPr lang="en-US" b="1" dirty="0" err="1"/>
              <a:t>macrocell</a:t>
            </a:r>
            <a:r>
              <a:rPr lang="en-US" b="1" dirty="0"/>
              <a:t> controls 8 channels </a:t>
            </a:r>
            <a:r>
              <a:rPr lang="en-US" b="1" dirty="0" smtClean="0"/>
              <a:t>independently</a:t>
            </a:r>
            <a:endParaRPr lang="en-US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Each channel controls two complementary square </a:t>
            </a:r>
            <a:r>
              <a:rPr lang="en-US" b="1" dirty="0" smtClean="0"/>
              <a:t>output waveforms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Embedded </a:t>
            </a:r>
            <a:r>
              <a:rPr lang="en-US" sz="2000" b="1" dirty="0" smtClean="0"/>
              <a:t>Characteristics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Common Clock Generator Providing Thirteen Different </a:t>
            </a:r>
            <a:r>
              <a:rPr lang="en-US" b="1" dirty="0" smtClean="0"/>
              <a:t>Clocks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A Modulo n Counter Providing Eleven </a:t>
            </a:r>
            <a:r>
              <a:rPr lang="en-US" sz="1600" b="1" dirty="0" smtClean="0"/>
              <a:t>Clocks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Two Independent Linear Dividers Working on Modulo n Counter </a:t>
            </a:r>
            <a:r>
              <a:rPr lang="en-US" sz="1600" b="1" dirty="0" smtClean="0"/>
              <a:t>Outputs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Independent Clock Selection for Each </a:t>
            </a:r>
            <a:r>
              <a:rPr lang="en-US" sz="1600" b="1" dirty="0" smtClean="0"/>
              <a:t>Channel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Independent Period, Duty-Cycle and Dead-Time for Each Channel</a:t>
            </a:r>
          </a:p>
          <a:p>
            <a:pPr lvl="3">
              <a:lnSpc>
                <a:spcPct val="150000"/>
              </a:lnSpc>
            </a:pPr>
            <a:endParaRPr lang="en-US" sz="1600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Atmel | SMART ARM-based MCU DATASHEET, SAM3X / SAM3A Series, Atmel-11057C-ATARM-SAM3X-SAM3A-Datasheet_23-Mar-15</a:t>
            </a: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8430429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PWM </a:t>
            </a:r>
            <a:r>
              <a:rPr lang="en-US" sz="3200" dirty="0">
                <a:latin typeface="+mj-lt"/>
                <a:cs typeface="B Titr" panose="00000700000000000000" pitchFamily="2" charset="-78"/>
              </a:rPr>
              <a:t>in SAM3X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9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PWM Clock Generator</a:t>
            </a:r>
            <a:endParaRPr lang="en-US" sz="1600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Atmel | SMART ARM-based MCU DATASHEET, SAM3X / SAM3A Series, Atmel-11057C-ATARM-SAM3X-SAM3A-Datasheet_23-Mar-15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6300" y="1066800"/>
            <a:ext cx="3458807" cy="52527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677635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10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04800" y="2482570"/>
            <a:ext cx="8458200" cy="920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4000" b="1" dirty="0" smtClean="0"/>
              <a:t>The End!</a:t>
            </a:r>
            <a:endParaRPr lang="en-US" sz="3200" b="1" dirty="0" smtClean="0"/>
          </a:p>
        </p:txBody>
      </p:sp>
    </p:spTree>
    <p:extLst>
      <p:ext uri="{BB962C8B-B14F-4D97-AF65-F5344CB8AC3E}">
        <p14:creationId xmlns:p14="http://schemas.microsoft.com/office/powerpoint/2010/main" val="2825356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63.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|4.1|9.6|1.5|5.6|6.5|9.6|5.8|11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6.5|17.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7|9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41.3|7.9|1|43.2|17.2|12.7|42.9"/>
</p:tagLst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Aspect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Aspect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270000"/>
              </a:schemeClr>
            </a:gs>
            <a:gs pos="25000">
              <a:schemeClr val="phClr">
                <a:tint val="60000"/>
                <a:satMod val="300000"/>
              </a:schemeClr>
            </a:gs>
            <a:gs pos="100000">
              <a:schemeClr val="phClr">
                <a:tint val="29000"/>
                <a:satMod val="40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5000"/>
                <a:satMod val="155000"/>
              </a:schemeClr>
            </a:gs>
            <a:gs pos="60000">
              <a:schemeClr val="phClr">
                <a:shade val="95000"/>
                <a:satMod val="150000"/>
              </a:schemeClr>
            </a:gs>
            <a:gs pos="100000">
              <a:schemeClr val="phClr">
                <a:tint val="87000"/>
                <a:satMod val="2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atMod val="150000"/>
            </a:schemeClr>
          </a:solidFill>
          <a:prstDash val="solid"/>
        </a:ln>
        <a:ln w="425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5500" dist="381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65500" dist="381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65500" dist="381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2000000"/>
            </a:lightRig>
          </a:scene3d>
          <a:sp3d prstMaterial="powder">
            <a:bevelT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35000"/>
                <a:satMod val="150000"/>
              </a:schemeClr>
            </a:gs>
            <a:gs pos="45000">
              <a:schemeClr val="phClr">
                <a:shade val="68000"/>
                <a:satMod val="15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0"/>
        </a:gradFill>
        <a:blipFill>
          <a:blip xmlns:r="http://schemas.openxmlformats.org/officeDocument/2006/relationships" r:embed="rId1">
            <a:duotone>
              <a:schemeClr val="phClr">
                <a:shade val="800"/>
                <a:satMod val="150000"/>
              </a:schemeClr>
              <a:schemeClr val="phClr">
                <a:tint val="80000"/>
                <a:satMod val="150000"/>
              </a:schemeClr>
            </a:duotone>
          </a:blip>
          <a:tile tx="0" ty="0" sx="75000" sy="75000" flip="none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39478</TotalTime>
  <Words>531</Words>
  <Application>Microsoft Office PowerPoint</Application>
  <PresentationFormat>On-screen Show (4:3)</PresentationFormat>
  <Paragraphs>79</Paragraphs>
  <Slides>10</Slides>
  <Notes>0</Notes>
  <HiddenSlides>0</HiddenSlides>
  <MMClips>5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Office Theme</vt:lpstr>
      <vt:lpstr>Aspect</vt:lpstr>
      <vt:lpstr>Microprocessors and Assembly Language  Fall 2024</vt:lpstr>
      <vt:lpstr>Copyright Notice</vt:lpstr>
      <vt:lpstr>PowerPoint Presentation</vt:lpstr>
      <vt:lpstr>PWM: What is it and how does it work?</vt:lpstr>
      <vt:lpstr>PWM: What is it and how does it work?</vt:lpstr>
      <vt:lpstr>PWM: What is it and how does it work?</vt:lpstr>
      <vt:lpstr>PWM: An Example</vt:lpstr>
      <vt:lpstr>PWM in SAM3X</vt:lpstr>
      <vt:lpstr>PWM in SAM3X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MMSPM</dc:title>
  <dc:creator>FT_DSL</dc:creator>
  <cp:lastModifiedBy>Hamed</cp:lastModifiedBy>
  <cp:revision>815</cp:revision>
  <cp:lastPrinted>2017-02-07T08:08:08Z</cp:lastPrinted>
  <dcterms:created xsi:type="dcterms:W3CDTF">2006-08-16T00:00:00Z</dcterms:created>
  <dcterms:modified xsi:type="dcterms:W3CDTF">2024-08-19T11:34:39Z</dcterms:modified>
</cp:coreProperties>
</file>