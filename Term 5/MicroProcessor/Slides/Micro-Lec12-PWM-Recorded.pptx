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heme/themeOverride2.xml" ContentType="application/vnd.openxmlformats-officedocument.themeOverride+xml"/>
  <Override PartName="/ppt/tags/tag2.xml" ContentType="application/vnd.openxmlformats-officedocument.presentationml.tags+xml"/>
  <Override PartName="/ppt/theme/themeOverride3.xml" ContentType="application/vnd.openxmlformats-officedocument.themeOverride+xml"/>
  <Override PartName="/ppt/tags/tag3.xml" ContentType="application/vnd.openxmlformats-officedocument.presentationml.tags+xml"/>
  <Override PartName="/ppt/theme/themeOverride4.xml" ContentType="application/vnd.openxmlformats-officedocument.themeOverride+xml"/>
  <Override PartName="/ppt/tags/tag4.xml" ContentType="application/vnd.openxmlformats-officedocument.presentationml.tags+xml"/>
  <Override PartName="/ppt/theme/themeOverride5.xml" ContentType="application/vnd.openxmlformats-officedocument.themeOverride+xml"/>
  <Override PartName="/ppt/tags/tag5.xml" ContentType="application/vnd.openxmlformats-officedocument.presentationml.tags+xml"/>
  <Override PartName="/ppt/theme/themeOverride6.xml" ContentType="application/vnd.openxmlformats-officedocument.themeOverride+xml"/>
  <Override PartName="/ppt/tags/tag6.xml" ContentType="application/vnd.openxmlformats-officedocument.presentationml.tags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2" r:id="rId2"/>
  </p:sldMasterIdLst>
  <p:notesMasterIdLst>
    <p:notesMasterId r:id="rId13"/>
  </p:notesMasterIdLst>
  <p:handoutMasterIdLst>
    <p:handoutMasterId r:id="rId14"/>
  </p:handoutMasterIdLst>
  <p:sldIdLst>
    <p:sldId id="290" r:id="rId3"/>
    <p:sldId id="258" r:id="rId4"/>
    <p:sldId id="386" r:id="rId5"/>
    <p:sldId id="446" r:id="rId6"/>
    <p:sldId id="447" r:id="rId7"/>
    <p:sldId id="448" r:id="rId8"/>
    <p:sldId id="449" r:id="rId9"/>
    <p:sldId id="450" r:id="rId10"/>
    <p:sldId id="451" r:id="rId11"/>
    <p:sldId id="415" r:id="rId12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208">
          <p15:clr>
            <a:srgbClr val="A4A3A4"/>
          </p15:clr>
        </p15:guide>
        <p15:guide id="4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CB5"/>
    <a:srgbClr val="0530BB"/>
    <a:srgbClr val="034ABD"/>
    <a:srgbClr val="130868"/>
    <a:srgbClr val="210DB3"/>
    <a:srgbClr val="106F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3" autoAdjust="0"/>
    <p:restoredTop sz="91826" autoAdjust="0"/>
  </p:normalViewPr>
  <p:slideViewPr>
    <p:cSldViewPr>
      <p:cViewPr varScale="1">
        <p:scale>
          <a:sx n="75" d="100"/>
          <a:sy n="75" d="100"/>
        </p:scale>
        <p:origin x="166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1026" y="60"/>
      </p:cViewPr>
      <p:guideLst>
        <p:guide orient="horz" pos="2880"/>
        <p:guide pos="2160"/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3A2C78E-1418-4D80-911C-2F94FB99BDB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04ED39F-E263-4FB0-A586-54AF6DEA8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50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479DE93-9629-4701-8E4D-06B6CC93219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CADB150-CC80-4D38-9C9E-4D16188A4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40281FD0-B2DB-4ECA-ADAD-7146D3D1D0F9}" type="datetime1">
              <a:rPr lang="en-US" smtClean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rmAutofit/>
          </a:bodyPr>
          <a:lstStyle>
            <a:lvl1pPr algn="l">
              <a:defRPr sz="3600" b="1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525963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1100" y="6406402"/>
            <a:ext cx="6781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rtl="1"/>
            <a:r>
              <a:rPr lang="en-US" dirty="0">
                <a:cs typeface="B Titr" panose="00000700000000000000" pitchFamily="2" charset="-78"/>
              </a:rPr>
              <a:t>Microprocessors and Assembly Language, Fall 2024, AUT, Tehran, Iran </a:t>
            </a:r>
            <a:endParaRPr lang="en-US" sz="1100" dirty="0">
              <a:cs typeface="B Titr" panose="00000700000000000000" pitchFamily="2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2100" y="6419101"/>
            <a:ext cx="543128" cy="365125"/>
          </a:xfrm>
        </p:spPr>
        <p:txBody>
          <a:bodyPr lIns="0" tIns="0" rIns="0" bIns="0"/>
          <a:lstStyle>
            <a:lvl1pPr algn="ctr" rtl="0">
              <a:defRPr sz="1400" b="1" baseline="0">
                <a:solidFill>
                  <a:schemeClr val="tx1"/>
                </a:solidFill>
                <a:latin typeface="+mn-lt"/>
                <a:cs typeface="الشهيد محمد الدره" pitchFamily="2" charset="-78"/>
              </a:defRPr>
            </a:lvl1pPr>
          </a:lstStyle>
          <a:p>
            <a:pPr rtl="1"/>
            <a:fld id="{E9D5068C-74C1-4D4E-ACBE-89391498AE93}" type="slidenum">
              <a:rPr lang="en-US" smtClean="0"/>
              <a:pPr rtl="1"/>
              <a:t>‹#›</a:t>
            </a:fld>
            <a:endParaRPr lang="en-US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E2AE1-CBD5-460D-A0C9-6147C2D4C470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FB3A9-0A90-4E79-85FA-03828B308331}" type="datetime1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B4FA-0F9A-436F-AA41-B89FAC163798}" type="datetime1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C8B55-203E-4F94-AE03-50CFB6BD790A}" type="datetime1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36A8-DE7E-4A16-B194-971EA3CF9026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6671-0698-4B48-8CC8-45A9BDA6F14F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AF6BC-C327-4940-9830-49E66FCBC3F0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5183-C90F-4867-BE66-12679E27E67F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2" y="329185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7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59B0B-27CB-4279-84EE-13F34D832C20}" type="datetime1">
              <a:rPr lang="en-US" smtClean="0"/>
              <a:t>12/27/2025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46A9-DE9C-4C0F-8CC5-C706728E934F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2" y="329185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7" y="434163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7A1E-E215-416E-8D25-5F336D5B557C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D8B5B-8A46-412C-A2D2-8F2B1B2EC62B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D1A0-E9CE-4C54-8D41-8DBB9F509117}" type="datetime1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E1B4-9FAF-4C2A-A5AC-8C7F175CBD59}" type="datetime1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2" y="329185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6DEF-8BC5-4D1A-A84F-BC32AA802BDD}" type="datetime1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3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4" y="930145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A3B-8A96-493A-9055-E95E174A1B57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2" y="329185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1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6010-06C4-4772-A873-F0169484628B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875-1C6F-4BBA-A49D-A655DE5157F6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5"/>
            <a:ext cx="1981200" cy="5257799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3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C28B-237A-4A16-A330-F744D93506D6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AABE3-8527-4979-BA7D-5506EF11427A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2" y="329185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7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6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A27B6C89-3F9A-4856-B9C8-0FA30DF0136D}" type="datetime1">
              <a:rPr lang="en-US" smtClean="0"/>
              <a:t>12/27/2025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6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r>
              <a:rPr lang="en-US"/>
              <a:t>Memory-Mapped SPM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6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logictips.com/pulse-width-modulation-pw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2.xml"/><Relationship Id="rId5" Type="http://schemas.openxmlformats.org/officeDocument/2006/relationships/hyperlink" Target="https://www.analogictips.com/pulse-width-modulation-pwm/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4.png"/><Relationship Id="rId5" Type="http://schemas.openxmlformats.org/officeDocument/2006/relationships/hyperlink" Target="https://www.analogictips.com/pulse-width-modulation-pwm/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jpeg"/><Relationship Id="rId2" Type="http://schemas.openxmlformats.org/officeDocument/2006/relationships/tags" Target="../tags/tag4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5.gif"/><Relationship Id="rId5" Type="http://schemas.openxmlformats.org/officeDocument/2006/relationships/hyperlink" Target="https://www.analogictips.com/pulse-width-modulation-pwm/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jpeg"/><Relationship Id="rId2" Type="http://schemas.openxmlformats.org/officeDocument/2006/relationships/tags" Target="../tags/tag5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7.jpeg"/><Relationship Id="rId5" Type="http://schemas.openxmlformats.org/officeDocument/2006/relationships/hyperlink" Target="https://www.analogictips.com/pulse-width-modulation-pwm/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018691"/>
            <a:ext cx="8229600" cy="1254448"/>
          </a:xfrm>
        </p:spPr>
        <p:txBody>
          <a:bodyPr lIns="0" tIns="0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C00000"/>
                </a:solidFill>
                <a:effectLst/>
                <a:latin typeface="Times New Roman" pitchFamily="18" charset="0"/>
                <a:cs typeface="B Titr" panose="00000700000000000000" pitchFamily="2" charset="-78"/>
              </a:rPr>
              <a:t>Microprocessors and Assembly Language</a:t>
            </a:r>
            <a:br>
              <a:rPr lang="en-US" sz="2400" dirty="0">
                <a:solidFill>
                  <a:srgbClr val="C00000"/>
                </a:solidFill>
                <a:effectLst/>
                <a:latin typeface="Times New Roman" pitchFamily="18" charset="0"/>
                <a:cs typeface="B Titr" panose="00000700000000000000" pitchFamily="2" charset="-78"/>
              </a:rPr>
            </a:br>
            <a:r>
              <a:rPr lang="en-US" sz="2400" dirty="0">
                <a:solidFill>
                  <a:srgbClr val="C00000"/>
                </a:solidFill>
                <a:effectLst/>
                <a:latin typeface="Times New Roman" pitchFamily="18" charset="0"/>
                <a:cs typeface="B Titr" panose="00000700000000000000" pitchFamily="2" charset="-78"/>
              </a:rPr>
              <a:t> </a:t>
            </a:r>
            <a:r>
              <a:rPr lang="en-US" sz="2000" b="0" dirty="0">
                <a:solidFill>
                  <a:srgbClr val="130868"/>
                </a:solidFill>
                <a:effectLst/>
                <a:latin typeface="Times New Roman" pitchFamily="18" charset="0"/>
                <a:cs typeface="B Titr" panose="00000700000000000000" pitchFamily="2" charset="-78"/>
              </a:rPr>
              <a:t>Fall 2024</a:t>
            </a:r>
            <a:endParaRPr lang="en-US" sz="1600" b="0" dirty="0">
              <a:solidFill>
                <a:srgbClr val="130868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04507" y="610740"/>
            <a:ext cx="1334986" cy="137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36"/>
          <p:cNvSpPr txBox="1">
            <a:spLocks noChangeArrowheads="1"/>
          </p:cNvSpPr>
          <p:nvPr/>
        </p:nvSpPr>
        <p:spPr bwMode="auto">
          <a:xfrm>
            <a:off x="457200" y="3810000"/>
            <a:ext cx="8382000" cy="2277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ts val="600"/>
              </a:spcAft>
            </a:pPr>
            <a:r>
              <a:rPr lang="en-US" sz="2400" b="1" dirty="0">
                <a:latin typeface="Calibri" panose="020F0502020204030204" pitchFamily="34" charset="0"/>
                <a:cs typeface="B Titr" pitchFamily="2" charset="-78"/>
              </a:rPr>
              <a:t>Hamed Farbeh</a:t>
            </a:r>
          </a:p>
          <a:p>
            <a:pPr algn="ctr" eaLnBrk="1" hangingPunct="1"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cs typeface="B Titr" pitchFamily="2" charset="-78"/>
              </a:rPr>
              <a:t>farbeh@aut.ac.ir</a:t>
            </a:r>
            <a:endParaRPr lang="fa-IR" b="1" dirty="0">
              <a:latin typeface="Calibri" panose="020F0502020204030204" pitchFamily="34" charset="0"/>
              <a:cs typeface="B Titr" pitchFamily="2" charset="-78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B Titr" pitchFamily="2" charset="-78"/>
              </a:rPr>
              <a:t>Department of Computer Engineering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B Titr" pitchFamily="2" charset="-78"/>
              </a:rPr>
              <a:t>Amirkabir University of Technology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B Titr" pitchFamily="2" charset="-78"/>
              </a:rPr>
              <a:t>Lecture 12</a:t>
            </a:r>
          </a:p>
        </p:txBody>
      </p:sp>
    </p:spTree>
    <p:extLst>
      <p:ext uri="{BB962C8B-B14F-4D97-AF65-F5344CB8AC3E}">
        <p14:creationId xmlns:p14="http://schemas.microsoft.com/office/powerpoint/2010/main" val="359118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Copyright Notice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2</a:t>
            </a:fld>
            <a:endParaRPr lang="en-US" dirty="0">
              <a:latin typeface="+mj-lt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457200" y="1143000"/>
            <a:ext cx="827562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Parts (text &amp; figures) of this lecture are adopted from: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cs typeface="B Nazanin" pitchFamily="2" charset="-78"/>
                <a:hlinkClick r:id="rId2"/>
              </a:rPr>
              <a:t>https://www.analogictips.com/pulse-width-modulation-pwm/</a:t>
            </a:r>
            <a:endParaRPr lang="en-US" sz="2000" b="1" dirty="0">
              <a:cs typeface="B Nazanin" pitchFamily="2" charset="-78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cs typeface="B Nazanin" pitchFamily="2" charset="-78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cs typeface="B Nazanin" pitchFamily="2" charset="-78"/>
              </a:rPr>
              <a:t>Atmel | SMART ARM-based MCU DATASHEET, SAM3X / SAM3A Series, Atmel-11057C-ATARM-SAM3X-SAM3A-Datasheet_23-Mar-15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cs typeface="B Nazanin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</p:spTree>
    <p:extLst>
      <p:ext uri="{BB962C8B-B14F-4D97-AF65-F5344CB8AC3E}">
        <p14:creationId xmlns:p14="http://schemas.microsoft.com/office/powerpoint/2010/main" val="287319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3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850" y="2666999"/>
            <a:ext cx="84582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/>
              <a:t>Pulse Width Modulation (PWM)</a:t>
            </a:r>
            <a:endParaRPr lang="en-US" sz="3600" b="1" baseline="30000" dirty="0"/>
          </a:p>
        </p:txBody>
      </p:sp>
      <p:sp>
        <p:nvSpPr>
          <p:cNvPr id="2" name="AutoShape 4" descr="robot GIF"/>
          <p:cNvSpPr>
            <a:spLocks noChangeAspect="1" noChangeArrowheads="1"/>
          </p:cNvSpPr>
          <p:nvPr/>
        </p:nvSpPr>
        <p:spPr bwMode="auto">
          <a:xfrm>
            <a:off x="155575" y="-814388"/>
            <a:ext cx="2362200" cy="170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932805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PWM: What is it and how does it work?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4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Digital signals have two positions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on or off, interpreted in shorthand as 1 or 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Analog signals can be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on, off, half-way, two-thirds the way to on, and an infinite number of positions between 0 and 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 take an analog input signal (e.g., temperature) into a microcontroller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by using an analog-to-digital converter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But what about outputs?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PWM is a way to control analog devices with a digital output		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Drive analog devices like variable-speed motors, dimmable lights, actuators, and speakers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hlinkClick r:id="rId5"/>
              </a:rPr>
              <a:t>https://www.analogictips.com/pulse-width-modulation-pwm/</a:t>
            </a:r>
            <a:endParaRPr lang="en-US" sz="11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82278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PWM: What is it and how does it work?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5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PWM is not true analog output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PWM “fakes” an analog-like result by applying power in pulses, or short bursts of regulated voltage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Is a fancy term for describing a type of digital signal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hlinkClick r:id="rId5"/>
              </a:rPr>
              <a:t>https://www.analogictips.com/pulse-width-modulation-pwm/</a:t>
            </a:r>
            <a:endParaRPr lang="en-US" sz="1100" dirty="0"/>
          </a:p>
        </p:txBody>
      </p:sp>
      <p:pic>
        <p:nvPicPr>
          <p:cNvPr id="1026" name="Picture 2" descr="C:\Users\hamed\Dropbox\New\1398-1\MicroProc\Slides\Fig-2-640px-PWM3-level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983" y="3147982"/>
            <a:ext cx="4640960" cy="320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505644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PWM: What is it and how does it work?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6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175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 device that is driven by PWM ends up behaving like the average of the pulses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The average voltage level can be a steady voltage or a moving target (dynamic/changing over time)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hlinkClick r:id="rId5"/>
              </a:rPr>
              <a:t>https://www.analogictips.com/pulse-width-modulation-pwm/</a:t>
            </a:r>
            <a:endParaRPr lang="en-US" sz="1100" dirty="0"/>
          </a:p>
        </p:txBody>
      </p:sp>
      <p:pic>
        <p:nvPicPr>
          <p:cNvPr id="2050" name="Picture 2" descr="C:\Users\hamed\Dropbox\New\1398-1\MicroProc\Slides\Fig-1-pwm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7" y="2159424"/>
            <a:ext cx="381000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3414" y="248845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/>
              <a:t> Average Voltage = </a:t>
            </a:r>
          </a:p>
          <a:p>
            <a:pPr algn="ctr"/>
            <a:r>
              <a:rPr lang="en-US" b="1" dirty="0"/>
              <a:t>Duty Cycle  x  High Voltage Level </a:t>
            </a:r>
          </a:p>
        </p:txBody>
      </p:sp>
      <p:pic>
        <p:nvPicPr>
          <p:cNvPr id="2051" name="Picture 3" descr="C:\Users\hamed\Dropbox\New\1398-1\MicroProc\Slides\arm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3124200"/>
            <a:ext cx="2960687" cy="296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563745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PWM: An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7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Controlling the brightness of an LED by adjusting the duty cycle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With an RGB (red green blue) LED,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you can control how much of each of the three colors you want in the mix of color by dimming them with various amounts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hlinkClick r:id="rId5"/>
              </a:rPr>
              <a:t>https://www.analogictips.com/pulse-width-modulation-pwm/</a:t>
            </a:r>
            <a:endParaRPr lang="en-US" sz="1100" dirty="0"/>
          </a:p>
        </p:txBody>
      </p:sp>
      <p:pic>
        <p:nvPicPr>
          <p:cNvPr id="3074" name="Picture 2" descr="C:\Users\hamed\Dropbox\New\1398-1\MicroProc\Slides\led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6576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hamed\Dropbox\New\1398-1\MicroProc\Slides\led1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39" r="28390"/>
          <a:stretch/>
        </p:blipFill>
        <p:spPr bwMode="auto">
          <a:xfrm>
            <a:off x="1371600" y="3653118"/>
            <a:ext cx="2438400" cy="2214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488655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PWM in SAM3X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8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The PWM </a:t>
            </a:r>
            <a:r>
              <a:rPr lang="en-US" b="1" dirty="0" err="1"/>
              <a:t>macrocell</a:t>
            </a:r>
            <a:r>
              <a:rPr lang="en-US" b="1" dirty="0"/>
              <a:t> controls 8 channels independently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Each channel controls two complementary square output waveforms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Embedded Characteristics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Common Clock Generator Providing Thirteen Different Clocks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 Modulo n Counter Providing Eleven Clocks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Two Independent Linear Dividers Working on Modulo n Counter Outputs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Independent Clock Selection for Each Channel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Independent Period, Duty-Cycle and Dead-Time for Each Channel</a:t>
            </a:r>
          </a:p>
          <a:p>
            <a:pPr lvl="3">
              <a:lnSpc>
                <a:spcPct val="150000"/>
              </a:lnSpc>
            </a:pPr>
            <a:endParaRPr lang="en-US" sz="1600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Atmel | SMART ARM-based MCU DATASHEET, SAM3X / SAM3A Series, Atmel-11057C-ATARM-SAM3X-SAM3A-Datasheet_23-Mar-15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843042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PWM in SAM3X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9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PWM Clock Generator</a:t>
            </a:r>
            <a:endParaRPr lang="en-US" sz="1600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Atmel | SMART ARM-based MCU DATASHEET, SAM3X / SAM3A Series, Atmel-11057C-ATARM-SAM3X-SAM3A-Datasheet_23-Mar-15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066800"/>
            <a:ext cx="3458807" cy="5252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7763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10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2482570"/>
            <a:ext cx="8458200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/>
              <a:t>The End!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825356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3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4.1|9.6|1.5|5.6|6.5|9.6|5.8|1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6.5|17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7|9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41.3|7.9|1|43.2|17.2|12.7|42.9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39479</TotalTime>
  <Words>609</Words>
  <Application>Microsoft Office PowerPoint</Application>
  <PresentationFormat>On-screen Show (4:3)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B Nazanin</vt:lpstr>
      <vt:lpstr>B Titr</vt:lpstr>
      <vt:lpstr>Calibri</vt:lpstr>
      <vt:lpstr>Times New Roman</vt:lpstr>
      <vt:lpstr>Verdana</vt:lpstr>
      <vt:lpstr>Wingdings 2</vt:lpstr>
      <vt:lpstr>Office Theme</vt:lpstr>
      <vt:lpstr>Aspect</vt:lpstr>
      <vt:lpstr>Microprocessors and Assembly Language  Fall 2024</vt:lpstr>
      <vt:lpstr>Copyright Notice</vt:lpstr>
      <vt:lpstr>PowerPoint Presentation</vt:lpstr>
      <vt:lpstr>PWM: What is it and how does it work?</vt:lpstr>
      <vt:lpstr>PWM: What is it and how does it work?</vt:lpstr>
      <vt:lpstr>PWM: What is it and how does it work?</vt:lpstr>
      <vt:lpstr>PWM: An Example</vt:lpstr>
      <vt:lpstr>PWM in SAM3X</vt:lpstr>
      <vt:lpstr>PWM in SAM3X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MMSPM</dc:title>
  <dc:creator>FT_DSL</dc:creator>
  <cp:lastModifiedBy>Javad</cp:lastModifiedBy>
  <cp:revision>816</cp:revision>
  <cp:lastPrinted>2017-02-07T08:08:08Z</cp:lastPrinted>
  <dcterms:created xsi:type="dcterms:W3CDTF">2006-08-16T00:00:00Z</dcterms:created>
  <dcterms:modified xsi:type="dcterms:W3CDTF">2025-12-27T19:01:02Z</dcterms:modified>
</cp:coreProperties>
</file>