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5" r:id="rId3"/>
    <p:sldId id="257" r:id="rId4"/>
    <p:sldId id="259" r:id="rId5"/>
    <p:sldId id="263" r:id="rId6"/>
    <p:sldId id="264" r:id="rId7"/>
    <p:sldId id="260" r:id="rId8"/>
    <p:sldId id="261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555E"/>
    <a:srgbClr val="88A2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5" autoAdjust="0"/>
  </p:normalViewPr>
  <p:slideViewPr>
    <p:cSldViewPr snapToGrid="0" showGuides="1">
      <p:cViewPr varScale="1">
        <p:scale>
          <a:sx n="110" d="100"/>
          <a:sy n="110" d="100"/>
        </p:scale>
        <p:origin x="-594" y="-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C36BE-A613-4CBB-9666-AC4A6A426511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1F2AE-6363-4FD6-82B2-4C3A1B5F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0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11F2AE-6363-4FD6-82B2-4C3A1B5FE6F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642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F8016-88B4-4584-A17A-1B315B29310B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56;p13"/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686" y="274831"/>
            <a:ext cx="914400" cy="914400"/>
          </a:xfrm>
          <a:prstGeom prst="rect">
            <a:avLst/>
          </a:prstGeom>
          <a:noFill/>
          <a:ln>
            <a:noFill/>
          </a:ln>
          <a:effectLst>
            <a:outerShdw blurRad="714375" dist="19050" dir="1440000" algn="bl" rotWithShape="0">
              <a:schemeClr val="dk2">
                <a:alpha val="47000"/>
              </a:schemeClr>
            </a:outerShdw>
          </a:effectLst>
        </p:spPr>
      </p:pic>
      <p:sp>
        <p:nvSpPr>
          <p:cNvPr id="9" name="Google Shape;57;p13"/>
          <p:cNvSpPr txBox="1"/>
          <p:nvPr userDrawn="1"/>
        </p:nvSpPr>
        <p:spPr>
          <a:xfrm>
            <a:off x="168175" y="1189231"/>
            <a:ext cx="2133423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Amirkabir University of Technology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3585061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9286D-7E89-4AD3-9793-A1B96487958A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954657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Font typeface="Arial" panose="020B0604020202020204" pitchFamily="34" charset="0"/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19C4-6428-432D-BE39-8427B081AD42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21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943044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5634-8AD4-4398-8696-2E98EADF2EC2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444030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CABE4-3881-420A-B1E5-2F860EBD7630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604236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D30A0-D212-405F-A71C-31D13EF22ACF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691987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6F5E4-976E-49F4-A73B-76E88E035627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201407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D925-D120-4FEC-AD9E-7C49ECE7CC0D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705281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CBDDA-BB0C-470F-B9AD-D1F665A71301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FA538-A6CA-43F8-A13A-18EDE592637C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363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A790-B00E-4650-8982-23A84EC238D2}" type="datetime1">
              <a:rPr lang="en-US" smtClean="0"/>
              <a:t>8/19/2024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26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D4BF6-BF3D-4084-8BF3-BFE81059A0C0}" type="datetime1">
              <a:rPr lang="en-US" smtClean="0"/>
              <a:t>8/19/2024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63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25753-92D4-414B-B270-3DE02F9DF917}" type="datetime1">
              <a:rPr lang="en-US" smtClean="0"/>
              <a:t>8/19/2024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986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38642-520D-4DA8-A5CD-AE9B94B896A3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79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5A1AB-2985-4154-A934-6C10D30CFCD6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01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0241B-50BB-4572-97AA-B108D820637B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112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CD6FF-00A3-4C8D-9BC5-28F1FE3C2A5F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19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24C900-0982-44D5-9440-A5F970407371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80452" y="63882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2" r:id="rId3"/>
    <p:sldLayoutId id="2147483663" r:id="rId4"/>
    <p:sldLayoutId id="2147483668" r:id="rId5"/>
    <p:sldLayoutId id="2147483667" r:id="rId6"/>
    <p:sldLayoutId id="2147483664" r:id="rId7"/>
    <p:sldLayoutId id="2147483665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797442"/>
            <a:ext cx="7193280" cy="5390707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Microprocessors</a:t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 and </a:t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Assembly Language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Lecture </a:t>
            </a:r>
            <a:r>
              <a:rPr kumimoji="0" lang="en-US" sz="2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15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Hamed Farbeh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farbeh@aut.ac.ir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lang="en-US" sz="1400" kern="0" dirty="0" smtClean="0">
                <a:solidFill>
                  <a:srgbClr val="FFFFFF"/>
                </a:solidFill>
                <a:ea typeface="EB Garamond Medium"/>
                <a:cs typeface="EB Garamond Medium"/>
                <a:sym typeface="EB Garamond Medium"/>
              </a:rPr>
              <a:t>Fall 2024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4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BA32B5-5656-47D4-A4F0-1786A0E58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Copyright Notice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D0FE84C-BF1C-4866-B814-1D4AEF10ABC7}"/>
              </a:ext>
            </a:extLst>
          </p:cNvPr>
          <p:cNvSpPr txBox="1"/>
          <p:nvPr/>
        </p:nvSpPr>
        <p:spPr>
          <a:xfrm>
            <a:off x="1074656" y="1882241"/>
            <a:ext cx="1016209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Parts (text &amp; figures) of this lecture are adopted from:</a:t>
            </a:r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b="1" dirty="0"/>
              <a:t>Arm Assembly Language Programming and Architecture,  Volume 1, 1st edition, Muhammad Ali </a:t>
            </a:r>
            <a:r>
              <a:rPr lang="en-US" sz="2200" b="1" dirty="0" err="1"/>
              <a:t>Mazidi</a:t>
            </a:r>
            <a:r>
              <a:rPr lang="en-US" sz="2200" b="1" dirty="0"/>
              <a:t>, Sarmad </a:t>
            </a:r>
            <a:r>
              <a:rPr lang="en-US" sz="2200" b="1" dirty="0" err="1"/>
              <a:t>Naimi</a:t>
            </a:r>
            <a:r>
              <a:rPr lang="en-US" sz="2200" b="1" dirty="0"/>
              <a:t>, and </a:t>
            </a:r>
            <a:r>
              <a:rPr lang="en-US" sz="2200" b="1" dirty="0" err="1"/>
              <a:t>Sepehr</a:t>
            </a:r>
            <a:r>
              <a:rPr lang="en-US" sz="2200" b="1" dirty="0"/>
              <a:t> </a:t>
            </a:r>
            <a:r>
              <a:rPr lang="en-US" sz="2200" b="1" dirty="0" err="1"/>
              <a:t>Naimi</a:t>
            </a:r>
            <a:r>
              <a:rPr lang="en-US" sz="2200" b="1" dirty="0"/>
              <a:t>, </a:t>
            </a:r>
            <a:r>
              <a:rPr lang="en-US" sz="2200" b="1" dirty="0" err="1"/>
              <a:t>MicroDigitalEd</a:t>
            </a:r>
            <a:r>
              <a:rPr lang="en-US" sz="2200" b="1" dirty="0"/>
              <a:t>, 2013.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996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and Store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342900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Load Rd with the contents of location pointed to by Rx register</a:t>
            </a:r>
          </a:p>
          <a:p>
            <a:pPr>
              <a:lnSpc>
                <a:spcPct val="100000"/>
              </a:lnSpc>
            </a:pPr>
            <a:r>
              <a:rPr lang="fa-IR" sz="2200" dirty="0">
                <a:solidFill>
                  <a:srgbClr val="C00000"/>
                </a:solidFill>
              </a:rPr>
              <a:t>    </a:t>
            </a:r>
            <a:r>
              <a:rPr lang="en-US" sz="2200" dirty="0">
                <a:solidFill>
                  <a:srgbClr val="05555E"/>
                </a:solidFill>
              </a:rPr>
              <a:t>LDR Rd,[Rx]; </a:t>
            </a:r>
            <a:r>
              <a:rPr lang="en-US" sz="2400" dirty="0">
                <a:solidFill>
                  <a:srgbClr val="88A2AA"/>
                </a:solidFill>
              </a:rPr>
              <a:t>Rx contains an address between 0x00000000 to 0xFFFFFFFF</a:t>
            </a:r>
          </a:p>
          <a:p>
            <a:pPr marL="342900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LDR reads one word (32-bit or 4-byte) of data</a:t>
            </a:r>
          </a:p>
          <a:p>
            <a:pPr marL="800100" lvl="1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from 4 consecutive memory locations</a:t>
            </a:r>
          </a:p>
          <a:p>
            <a:pPr marL="800100" lvl="1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locations can be in the SRAM, a Flash memory or I/O registers</a:t>
            </a:r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9DD57EBE-F27F-473A-8F77-FDF4FFC4C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5064" y="4094218"/>
            <a:ext cx="6041872" cy="2146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3</a:t>
            </a:fld>
            <a:r>
              <a:rPr lang="en-US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953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and Store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Store register Rd into locations pointed to by Rx</a:t>
            </a:r>
          </a:p>
          <a:p>
            <a:r>
              <a:rPr lang="fa-IR" sz="2400" dirty="0"/>
              <a:t>					</a:t>
            </a:r>
            <a:r>
              <a:rPr lang="en-US" sz="2400" dirty="0">
                <a:solidFill>
                  <a:srgbClr val="05555E"/>
                </a:solidFill>
              </a:rPr>
              <a:t>STR Rd,[Rx]</a:t>
            </a:r>
            <a:endParaRPr lang="fa-IR" sz="2400" dirty="0">
              <a:solidFill>
                <a:srgbClr val="05555E"/>
              </a:solidFill>
            </a:endParaRPr>
          </a:p>
          <a:p>
            <a:endParaRPr lang="en-US" sz="2400" b="0" dirty="0">
              <a:solidFill>
                <a:srgbClr val="C00000"/>
              </a:solidFill>
            </a:endParaRPr>
          </a:p>
          <a:p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xmlns="" id="{8A2AE92D-E16E-4BDE-A580-86C02593F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418" y="3058510"/>
            <a:ext cx="7560700" cy="2685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4</a:t>
            </a:fld>
            <a:r>
              <a:rPr lang="en-US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336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and Store Variations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Load a byte</a:t>
            </a:r>
          </a:p>
          <a:p>
            <a:r>
              <a:rPr lang="fa-IR" sz="2400" dirty="0">
                <a:solidFill>
                  <a:srgbClr val="C00000"/>
                </a:solidFill>
              </a:rPr>
              <a:t>				</a:t>
            </a:r>
            <a:r>
              <a:rPr lang="en-US" sz="2400" dirty="0">
                <a:solidFill>
                  <a:srgbClr val="05555E"/>
                </a:solidFill>
              </a:rPr>
              <a:t>LDRB Rd, [Rx]</a:t>
            </a:r>
            <a:endParaRPr lang="fa-IR" sz="2400" dirty="0">
              <a:solidFill>
                <a:srgbClr val="05555E"/>
              </a:solidFill>
            </a:endParaRPr>
          </a:p>
          <a:p>
            <a:endParaRPr lang="en-US" sz="2400" b="0" dirty="0">
              <a:solidFill>
                <a:srgbClr val="C00000"/>
              </a:solidFill>
            </a:endParaRPr>
          </a:p>
          <a:p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D1D6301E-9A46-4FF8-93CF-388AD6CBC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581" y="2984939"/>
            <a:ext cx="7929467" cy="2856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5</a:t>
            </a:fld>
            <a:r>
              <a:rPr lang="en-US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425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a-IR" dirty="0"/>
              <a:t/>
            </a:r>
            <a:br>
              <a:rPr lang="fa-IR" dirty="0"/>
            </a:br>
            <a:r>
              <a:rPr lang="fa-IR" dirty="0"/>
              <a:t/>
            </a:r>
            <a:br>
              <a:rPr lang="fa-IR" dirty="0"/>
            </a:br>
            <a:r>
              <a:rPr lang="en-US" dirty="0"/>
              <a:t>Load and Store Variations</a:t>
            </a:r>
            <a:r>
              <a:rPr lang="en-US" b="0" dirty="0"/>
              <a:t/>
            </a:r>
            <a:br>
              <a:rPr lang="en-US" b="0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Store a byte</a:t>
            </a:r>
          </a:p>
          <a:p>
            <a:r>
              <a:rPr lang="fa-IR" sz="2400" dirty="0"/>
              <a:t>				</a:t>
            </a:r>
            <a:r>
              <a:rPr lang="en-US" sz="2400" dirty="0">
                <a:solidFill>
                  <a:srgbClr val="05555E"/>
                </a:solidFill>
              </a:rPr>
              <a:t>STRB Rd, [Rx]</a:t>
            </a:r>
            <a:endParaRPr lang="en-US" sz="2400" b="0" dirty="0">
              <a:solidFill>
                <a:srgbClr val="05555E"/>
              </a:solidFill>
            </a:endParaRPr>
          </a:p>
          <a:p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xmlns="" id="{A6E4097C-7503-4F19-B0E1-3F3434C85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5485" y="3016469"/>
            <a:ext cx="7868220" cy="2781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6</a:t>
            </a:fld>
            <a:r>
              <a:rPr lang="en-US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348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and Store Variations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Load half-word (2-byte)</a:t>
            </a:r>
          </a:p>
          <a:p>
            <a:r>
              <a:rPr lang="fa-IR" sz="2400" dirty="0"/>
              <a:t>				</a:t>
            </a:r>
            <a:r>
              <a:rPr lang="en-US" sz="2400" dirty="0">
                <a:solidFill>
                  <a:srgbClr val="05555E"/>
                </a:solidFill>
              </a:rPr>
              <a:t>LDRH Rd, [Rx]</a:t>
            </a:r>
            <a:endParaRPr lang="fa-IR" sz="2400" dirty="0">
              <a:solidFill>
                <a:srgbClr val="05555E"/>
              </a:solidFill>
            </a:endParaRPr>
          </a:p>
          <a:p>
            <a:endParaRPr lang="en-US" sz="2400" dirty="0">
              <a:solidFill>
                <a:srgbClr val="C00000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xmlns="" id="{997C5291-EA40-4BE7-BF14-AD56414C4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234" y="2975312"/>
            <a:ext cx="7295697" cy="2579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7</a:t>
            </a:fld>
            <a:r>
              <a:rPr lang="en-US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729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and Store Variations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Store half-word (2-byte)</a:t>
            </a:r>
          </a:p>
          <a:p>
            <a:r>
              <a:rPr lang="fa-IR" sz="2400" dirty="0"/>
              <a:t>				</a:t>
            </a:r>
            <a:r>
              <a:rPr lang="en-US" sz="2400" dirty="0">
                <a:solidFill>
                  <a:srgbClr val="05555E"/>
                </a:solidFill>
              </a:rPr>
              <a:t>STRH Rd, [Rx]</a:t>
            </a:r>
            <a:endParaRPr lang="fa-IR" sz="2400" dirty="0">
              <a:solidFill>
                <a:srgbClr val="05555E"/>
              </a:solidFill>
            </a:endParaRPr>
          </a:p>
          <a:p>
            <a:endParaRPr lang="en-US" sz="2400" dirty="0">
              <a:solidFill>
                <a:srgbClr val="C00000"/>
              </a:solidFill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xmlns="" id="{D33C40E8-8708-4365-B566-6F50A0FAA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979" y="2942897"/>
            <a:ext cx="7299584" cy="285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8</a:t>
            </a:fld>
            <a:r>
              <a:rPr lang="en-US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555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DF3E2E-2A92-4581-A5EA-AB853DBA8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LDR, STR and MOV comparison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77BAAE3-DA9A-4667-9EAC-C7B24191E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LDR: moves data from memory to processor. loads data to a specified register. </a:t>
            </a:r>
          </a:p>
          <a:p>
            <a:pPr marL="342900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STR: moves data out of the processor to a memory location from a specified register.</a:t>
            </a:r>
          </a:p>
          <a:p>
            <a:pPr marL="342900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5555E"/>
                </a:solidFill>
              </a:rPr>
              <a:t>Note</a:t>
            </a:r>
            <a:r>
              <a:rPr lang="en-US" sz="2400" dirty="0"/>
              <a:t>: Both of the instructions above can use various addressing modes allowed by ARM, while specifying address of the memory location (indirect addressing, PC-relative, displacement etc.)</a:t>
            </a:r>
          </a:p>
          <a:p>
            <a:pPr marL="342900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MOV: copies from register to register, or loads a constant into a register.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>
              <a:highlight>
                <a:srgbClr val="FF0000"/>
              </a:highlight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9</a:t>
            </a:fld>
            <a:r>
              <a:rPr lang="en-US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05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87D9F1-D0DC-493E-B227-2AA11426A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Current Program Status Register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9B31B0A-9E3E-43E7-96B3-87D08A67E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CPSR: Flag register</a:t>
            </a:r>
          </a:p>
          <a:p>
            <a:pPr fontAlgn="base">
              <a:lnSpc>
                <a:spcPct val="100000"/>
              </a:lnSpc>
            </a:pPr>
            <a:endParaRPr lang="en-US" sz="2400" b="0" dirty="0"/>
          </a:p>
          <a:p>
            <a:pPr marL="342900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N: Negative</a:t>
            </a:r>
          </a:p>
          <a:p>
            <a:pPr marL="342900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Z: Zero</a:t>
            </a:r>
          </a:p>
          <a:p>
            <a:pPr marL="342900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C: Carry</a:t>
            </a:r>
          </a:p>
          <a:p>
            <a:pPr marL="342900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V: Overflow</a:t>
            </a:r>
          </a:p>
          <a:p>
            <a:pPr marL="342900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T: Thumb</a:t>
            </a:r>
          </a:p>
          <a:p>
            <a:pPr marL="342900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 and F: Enable or disable the interrupt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xmlns="" id="{71EAE6EC-CDA2-4008-A905-E2548951B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4158" y="2309568"/>
            <a:ext cx="6443683" cy="499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10</a:t>
            </a:fld>
            <a:r>
              <a:rPr lang="en-US" smtClean="0"/>
              <a:t>/15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373" y="2808894"/>
            <a:ext cx="5713627" cy="404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422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F04C53-9D6E-4A8E-B6CD-A29033B8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 suffix and the status 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AEFCDE7-E3E5-4039-AC6D-751492FFD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By executing data processing instructions</a:t>
            </a:r>
          </a:p>
          <a:p>
            <a:pPr marL="914400" lvl="1" indent="-4572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By default, </a:t>
            </a:r>
            <a:r>
              <a:rPr lang="en-US" sz="2400" dirty="0"/>
              <a:t>the status flags of CPSR are not updated </a:t>
            </a:r>
          </a:p>
          <a:p>
            <a:pPr marL="457200" indent="-4572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To update the flags</a:t>
            </a:r>
          </a:p>
          <a:p>
            <a:pPr marL="914400" lvl="1" indent="-4572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put the ‘S’ suffix at the end of the opcode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				</a:t>
            </a:r>
            <a:r>
              <a:rPr lang="en-US" sz="2400" dirty="0">
                <a:solidFill>
                  <a:srgbClr val="05555E"/>
                </a:solidFill>
              </a:rPr>
              <a:t>ADD =&gt; ADDS</a:t>
            </a:r>
            <a:endParaRPr lang="en-US" sz="2400" b="0" dirty="0">
              <a:solidFill>
                <a:srgbClr val="05555E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11</a:t>
            </a:fld>
            <a:r>
              <a:rPr lang="en-US" smtClean="0"/>
              <a:t>/15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0497" y="2368042"/>
            <a:ext cx="5684323" cy="402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777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2E665E-ACFF-4BED-B196-782980604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S Suffix and the Status Register</a:t>
            </a:r>
            <a:r>
              <a:rPr lang="en-US" b="0" dirty="0"/>
              <a:t/>
            </a:r>
            <a:br>
              <a:rPr lang="en-US" b="0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xmlns="" id="{F974F8AF-73B2-44EC-93D8-F9A70E73F51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3275" y="1888692"/>
            <a:ext cx="5545449" cy="3785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12</a:t>
            </a:fld>
            <a:r>
              <a:rPr lang="en-US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356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76312A-7952-4AD3-A251-B919C7B0D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 Bits and Decision Making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6A028F9-DC4B-471B-990D-64A637851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Conditional branch instructions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xmlns="" id="{25683DFC-51E5-496D-960F-849B402BE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2587" y="2394408"/>
            <a:ext cx="6066825" cy="3782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13</a:t>
            </a:fld>
            <a:r>
              <a:rPr lang="en-US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126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8D2110-C864-4324-AB0F-A6915F414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A851F09-7BDE-4B89-A54D-3BE2AA19F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075" y="1863799"/>
            <a:ext cx="11070021" cy="4351338"/>
          </a:xfrm>
        </p:spPr>
        <p:txBody>
          <a:bodyPr>
            <a:noAutofit/>
          </a:bodyPr>
          <a:lstStyle/>
          <a:p>
            <a:pPr rtl="0">
              <a:spcBef>
                <a:spcPts val="500"/>
              </a:spcBef>
              <a:spcAft>
                <a:spcPts val="0"/>
              </a:spcAft>
            </a:pPr>
            <a:r>
              <a:rPr lang="en-US" sz="2400" dirty="0"/>
              <a:t>Write a program to see if a given number (in this example 0x80000001) is </a:t>
            </a:r>
            <a:r>
              <a:rPr lang="en-US" sz="2400" dirty="0" smtClean="0"/>
              <a:t>palindrome.</a:t>
            </a:r>
          </a:p>
          <a:p>
            <a:r>
              <a:rPr lang="en-US" sz="1400" b="0" dirty="0" smtClean="0">
                <a:effectLst/>
              </a:rPr>
              <a:t/>
            </a:r>
            <a:br>
              <a:rPr lang="en-US" sz="1400" b="0" dirty="0" smtClean="0">
                <a:effectLst/>
              </a:rPr>
            </a:br>
            <a:endParaRPr lang="en-US" sz="1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14</a:t>
            </a:fld>
            <a:r>
              <a:rPr lang="en-US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555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57042" y="1826063"/>
            <a:ext cx="5121165" cy="4927311"/>
          </a:xfrm>
        </p:spPr>
        <p:txBody>
          <a:bodyPr>
            <a:noAutofit/>
          </a:bodyPr>
          <a:lstStyle/>
          <a:p>
            <a:pPr marL="800100">
              <a:spcBef>
                <a:spcPts val="400"/>
              </a:spcBef>
            </a:pPr>
            <a:r>
              <a:rPr lang="en-US" sz="1800" dirty="0" err="1" smtClean="0">
                <a:solidFill>
                  <a:srgbClr val="05555E"/>
                </a:solidFill>
              </a:rPr>
              <a:t>Mov</a:t>
            </a:r>
            <a:r>
              <a:rPr lang="en-US" sz="1800" dirty="0">
                <a:solidFill>
                  <a:srgbClr val="05555E"/>
                </a:solidFill>
              </a:rPr>
              <a:t>  R0, 0x80000001</a:t>
            </a:r>
          </a:p>
          <a:p>
            <a:pPr marL="800100">
              <a:spcBef>
                <a:spcPts val="400"/>
              </a:spcBef>
            </a:pPr>
            <a:r>
              <a:rPr lang="en-US" sz="1800" dirty="0" err="1">
                <a:solidFill>
                  <a:srgbClr val="05555E"/>
                </a:solidFill>
              </a:rPr>
              <a:t>Mov</a:t>
            </a:r>
            <a:r>
              <a:rPr lang="en-US" sz="1800" dirty="0">
                <a:solidFill>
                  <a:srgbClr val="05555E"/>
                </a:solidFill>
              </a:rPr>
              <a:t>  R1, R0</a:t>
            </a:r>
          </a:p>
          <a:p>
            <a:pPr marL="800100">
              <a:spcBef>
                <a:spcPts val="400"/>
              </a:spcBef>
            </a:pPr>
            <a:r>
              <a:rPr lang="en-US" sz="1800" dirty="0" err="1">
                <a:solidFill>
                  <a:srgbClr val="05555E"/>
                </a:solidFill>
              </a:rPr>
              <a:t>Mov</a:t>
            </a:r>
            <a:r>
              <a:rPr lang="en-US" sz="1800" dirty="0">
                <a:solidFill>
                  <a:srgbClr val="05555E"/>
                </a:solidFill>
              </a:rPr>
              <a:t>  R2, #0</a:t>
            </a:r>
          </a:p>
          <a:p>
            <a:pPr marL="800100">
              <a:spcBef>
                <a:spcPts val="400"/>
              </a:spcBef>
            </a:pPr>
            <a:r>
              <a:rPr lang="en-US" sz="1800" dirty="0" err="1">
                <a:solidFill>
                  <a:srgbClr val="05555E"/>
                </a:solidFill>
              </a:rPr>
              <a:t>Mov</a:t>
            </a:r>
            <a:r>
              <a:rPr lang="en-US" sz="1800" dirty="0">
                <a:solidFill>
                  <a:srgbClr val="05555E"/>
                </a:solidFill>
              </a:rPr>
              <a:t>  R3, #32  ; loop </a:t>
            </a:r>
            <a:r>
              <a:rPr lang="en-US" sz="1800" dirty="0" smtClean="0">
                <a:solidFill>
                  <a:srgbClr val="05555E"/>
                </a:solidFill>
              </a:rPr>
              <a:t>counter</a:t>
            </a:r>
          </a:p>
          <a:p>
            <a:pPr marL="800100">
              <a:spcBef>
                <a:spcPts val="400"/>
              </a:spcBef>
            </a:pPr>
            <a:r>
              <a:rPr lang="en-US" sz="1800" dirty="0" err="1" smtClean="0">
                <a:solidFill>
                  <a:srgbClr val="05555E"/>
                </a:solidFill>
              </a:rPr>
              <a:t>Mov</a:t>
            </a:r>
            <a:r>
              <a:rPr lang="en-US" sz="1800" dirty="0">
                <a:solidFill>
                  <a:srgbClr val="05555E"/>
                </a:solidFill>
              </a:rPr>
              <a:t>  R4, #0  ; output</a:t>
            </a:r>
          </a:p>
          <a:p>
            <a:pPr>
              <a:spcBef>
                <a:spcPts val="400"/>
              </a:spcBef>
            </a:pPr>
            <a:r>
              <a:rPr lang="en-US" sz="1800" dirty="0" smtClean="0">
                <a:solidFill>
                  <a:srgbClr val="05555E"/>
                </a:solidFill>
              </a:rPr>
              <a:t>Loop</a:t>
            </a:r>
          </a:p>
          <a:p>
            <a:pPr>
              <a:spcBef>
                <a:spcPts val="400"/>
              </a:spcBef>
            </a:pPr>
            <a:r>
              <a:rPr lang="en-US" sz="1800" dirty="0" smtClean="0">
                <a:solidFill>
                  <a:srgbClr val="05555E"/>
                </a:solidFill>
              </a:rPr>
              <a:t>               AND  R5,R1,#1</a:t>
            </a:r>
          </a:p>
          <a:p>
            <a:pPr>
              <a:spcBef>
                <a:spcPts val="400"/>
              </a:spcBef>
            </a:pPr>
            <a:r>
              <a:rPr lang="en-US" sz="1800" dirty="0">
                <a:solidFill>
                  <a:srgbClr val="05555E"/>
                </a:solidFill>
              </a:rPr>
              <a:t>            </a:t>
            </a:r>
            <a:r>
              <a:rPr lang="en-US" sz="1800" dirty="0" smtClean="0">
                <a:solidFill>
                  <a:srgbClr val="05555E"/>
                </a:solidFill>
              </a:rPr>
              <a:t>   LSL</a:t>
            </a:r>
            <a:r>
              <a:rPr lang="en-US" sz="1800" dirty="0">
                <a:solidFill>
                  <a:srgbClr val="05555E"/>
                </a:solidFill>
              </a:rPr>
              <a:t>  R2,R2,#1</a:t>
            </a:r>
          </a:p>
          <a:p>
            <a:pPr>
              <a:spcBef>
                <a:spcPts val="400"/>
              </a:spcBef>
            </a:pPr>
            <a:r>
              <a:rPr lang="en-US" sz="1800" dirty="0">
                <a:solidFill>
                  <a:srgbClr val="05555E"/>
                </a:solidFill>
              </a:rPr>
              <a:t>            </a:t>
            </a:r>
            <a:r>
              <a:rPr lang="en-US" sz="1800" dirty="0" smtClean="0">
                <a:solidFill>
                  <a:srgbClr val="05555E"/>
                </a:solidFill>
              </a:rPr>
              <a:t>   ADD</a:t>
            </a:r>
            <a:r>
              <a:rPr lang="en-US" sz="1800" dirty="0">
                <a:solidFill>
                  <a:srgbClr val="05555E"/>
                </a:solidFill>
              </a:rPr>
              <a:t>  R2,R2,R5</a:t>
            </a:r>
          </a:p>
          <a:p>
            <a:pPr>
              <a:spcBef>
                <a:spcPts val="400"/>
              </a:spcBef>
            </a:pPr>
            <a:r>
              <a:rPr lang="en-US" sz="1800" dirty="0">
                <a:solidFill>
                  <a:srgbClr val="05555E"/>
                </a:solidFill>
              </a:rPr>
              <a:t>            </a:t>
            </a:r>
            <a:r>
              <a:rPr lang="en-US" sz="1800" dirty="0" smtClean="0">
                <a:solidFill>
                  <a:srgbClr val="05555E"/>
                </a:solidFill>
              </a:rPr>
              <a:t>   LSR</a:t>
            </a:r>
            <a:r>
              <a:rPr lang="en-US" sz="1800" dirty="0">
                <a:solidFill>
                  <a:srgbClr val="05555E"/>
                </a:solidFill>
              </a:rPr>
              <a:t>  R1,R1,#1</a:t>
            </a:r>
          </a:p>
          <a:p>
            <a:pPr>
              <a:spcBef>
                <a:spcPts val="400"/>
              </a:spcBef>
            </a:pPr>
            <a:r>
              <a:rPr lang="en-US" sz="1800" dirty="0">
                <a:solidFill>
                  <a:srgbClr val="05555E"/>
                </a:solidFill>
              </a:rPr>
              <a:t>            </a:t>
            </a:r>
            <a:r>
              <a:rPr lang="en-US" sz="1800" dirty="0" smtClean="0">
                <a:solidFill>
                  <a:srgbClr val="05555E"/>
                </a:solidFill>
              </a:rPr>
              <a:t>   SUBS</a:t>
            </a:r>
            <a:r>
              <a:rPr lang="en-US" sz="1800" dirty="0">
                <a:solidFill>
                  <a:srgbClr val="05555E"/>
                </a:solidFill>
              </a:rPr>
              <a:t>  R3,R3,#1</a:t>
            </a:r>
          </a:p>
          <a:p>
            <a:pPr>
              <a:spcBef>
                <a:spcPts val="400"/>
              </a:spcBef>
            </a:pPr>
            <a:r>
              <a:rPr lang="en-US" sz="1800" dirty="0">
                <a:solidFill>
                  <a:srgbClr val="05555E"/>
                </a:solidFill>
              </a:rPr>
              <a:t>            </a:t>
            </a:r>
            <a:r>
              <a:rPr lang="en-US" sz="1800" dirty="0" smtClean="0">
                <a:solidFill>
                  <a:srgbClr val="05555E"/>
                </a:solidFill>
              </a:rPr>
              <a:t>   BNE</a:t>
            </a:r>
            <a:r>
              <a:rPr lang="en-US" sz="1800" dirty="0">
                <a:solidFill>
                  <a:srgbClr val="05555E"/>
                </a:solidFill>
              </a:rPr>
              <a:t>  Loop</a:t>
            </a:r>
          </a:p>
          <a:p>
            <a:pPr>
              <a:spcBef>
                <a:spcPts val="400"/>
              </a:spcBef>
            </a:pPr>
            <a:r>
              <a:rPr lang="en-US" sz="1800" dirty="0">
                <a:solidFill>
                  <a:srgbClr val="05555E"/>
                </a:solidFill>
              </a:rPr>
              <a:t>            </a:t>
            </a:r>
            <a:r>
              <a:rPr lang="en-US" sz="1800" dirty="0" smtClean="0">
                <a:solidFill>
                  <a:srgbClr val="05555E"/>
                </a:solidFill>
              </a:rPr>
              <a:t>   CMP</a:t>
            </a:r>
            <a:r>
              <a:rPr lang="en-US" sz="1800" dirty="0">
                <a:solidFill>
                  <a:srgbClr val="05555E"/>
                </a:solidFill>
              </a:rPr>
              <a:t>  R0,R2</a:t>
            </a:r>
          </a:p>
          <a:p>
            <a:pPr>
              <a:spcBef>
                <a:spcPts val="400"/>
              </a:spcBef>
            </a:pPr>
            <a:r>
              <a:rPr lang="en-US" sz="1800" dirty="0">
                <a:solidFill>
                  <a:srgbClr val="05555E"/>
                </a:solidFill>
              </a:rPr>
              <a:t>            </a:t>
            </a:r>
            <a:r>
              <a:rPr lang="en-US" sz="1800" dirty="0" smtClean="0">
                <a:solidFill>
                  <a:srgbClr val="05555E"/>
                </a:solidFill>
              </a:rPr>
              <a:t>   BNE</a:t>
            </a:r>
            <a:r>
              <a:rPr lang="en-US" sz="1800" dirty="0">
                <a:solidFill>
                  <a:srgbClr val="05555E"/>
                </a:solidFill>
              </a:rPr>
              <a:t>  Here</a:t>
            </a:r>
          </a:p>
          <a:p>
            <a:pPr>
              <a:spcBef>
                <a:spcPts val="400"/>
              </a:spcBef>
            </a:pPr>
            <a:r>
              <a:rPr lang="en-US" sz="1800" dirty="0">
                <a:solidFill>
                  <a:srgbClr val="05555E"/>
                </a:solidFill>
              </a:rPr>
              <a:t>            </a:t>
            </a:r>
            <a:r>
              <a:rPr lang="en-US" sz="1800" dirty="0" smtClean="0">
                <a:solidFill>
                  <a:srgbClr val="05555E"/>
                </a:solidFill>
              </a:rPr>
              <a:t>   MOV</a:t>
            </a:r>
            <a:r>
              <a:rPr lang="en-US" sz="1800" dirty="0">
                <a:solidFill>
                  <a:srgbClr val="05555E"/>
                </a:solidFill>
              </a:rPr>
              <a:t>  R4,#1</a:t>
            </a:r>
          </a:p>
          <a:p>
            <a:pPr>
              <a:spcBef>
                <a:spcPts val="400"/>
              </a:spcBef>
            </a:pPr>
            <a:r>
              <a:rPr lang="en-US" sz="1800" dirty="0">
                <a:solidFill>
                  <a:srgbClr val="05555E"/>
                </a:solidFill>
              </a:rPr>
              <a:t>Here B Here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220717" y="1826063"/>
            <a:ext cx="4779580" cy="67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0">
              <a:lnSpc>
                <a:spcPct val="90000"/>
              </a:lnSpc>
              <a:spcBef>
                <a:spcPts val="400"/>
              </a:spcBef>
            </a:pPr>
            <a:r>
              <a:rPr lang="en-US" sz="2200" b="1" dirty="0">
                <a:solidFill>
                  <a:prstClr val="black"/>
                </a:solidFill>
              </a:rPr>
              <a:t>Ex: 1001 is a 4-bit palindrome</a:t>
            </a:r>
            <a:endParaRPr lang="en-US" sz="2100" b="1" dirty="0">
              <a:solidFill>
                <a:srgbClr val="05555E"/>
              </a:solidFill>
            </a:endParaRP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15</a:t>
            </a:fld>
            <a:r>
              <a:rPr lang="en-US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633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242</Words>
  <Application>Microsoft Office PowerPoint</Application>
  <PresentationFormat>Custom</PresentationFormat>
  <Paragraphs>91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 Microprocessors  and  Assembly Language   Lecture 15    Hamed Farbeh farbeh@aut.ac.ir Fall 2024</vt:lpstr>
      <vt:lpstr>Copyright Notice</vt:lpstr>
      <vt:lpstr>Load and Store Instructions</vt:lpstr>
      <vt:lpstr>Load and Store Instructions</vt:lpstr>
      <vt:lpstr>Load and Store Variations</vt:lpstr>
      <vt:lpstr>  Load and Store Variations  </vt:lpstr>
      <vt:lpstr>Load and Store Variations</vt:lpstr>
      <vt:lpstr>Load and Store Variations</vt:lpstr>
      <vt:lpstr>LDR, STR and MOV comparison </vt:lpstr>
      <vt:lpstr>  Current Program Status Register  </vt:lpstr>
      <vt:lpstr>S suffix and the status register</vt:lpstr>
      <vt:lpstr>  S Suffix and the Status Register  </vt:lpstr>
      <vt:lpstr>Flag Bits and Decision Making</vt:lpstr>
      <vt:lpstr>Question</vt:lpstr>
      <vt:lpstr>Answer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Fatemeh Valeh</dc:creator>
  <cp:lastModifiedBy>Hamed</cp:lastModifiedBy>
  <cp:revision>33</cp:revision>
  <dcterms:created xsi:type="dcterms:W3CDTF">2022-09-03T16:31:37Z</dcterms:created>
  <dcterms:modified xsi:type="dcterms:W3CDTF">2024-08-19T11:32:59Z</dcterms:modified>
</cp:coreProperties>
</file>