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58" r:id="rId4"/>
    <p:sldId id="266" r:id="rId5"/>
    <p:sldId id="259" r:id="rId6"/>
    <p:sldId id="263" r:id="rId7"/>
    <p:sldId id="264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A2AA"/>
    <a:srgbClr val="055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-59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C36BE-A613-4CBB-9666-AC4A6A4265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1F2AE-6363-4FD6-82B2-4C3A1B5F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07A09-3854-4E9C-BA78-A8BB1D322AC5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56;p13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6" y="274831"/>
            <a:ext cx="914400" cy="914400"/>
          </a:xfrm>
          <a:prstGeom prst="rect">
            <a:avLst/>
          </a:prstGeom>
          <a:noFill/>
          <a:ln>
            <a:noFill/>
          </a:ln>
          <a:effectLst>
            <a:outerShdw blurRad="714375" dist="19050" dir="1440000" algn="bl" rotWithShape="0">
              <a:schemeClr val="dk2">
                <a:alpha val="47000"/>
              </a:schemeClr>
            </a:outerShdw>
          </a:effectLst>
        </p:spPr>
      </p:pic>
      <p:sp>
        <p:nvSpPr>
          <p:cNvPr id="9" name="Google Shape;57;p13"/>
          <p:cNvSpPr txBox="1"/>
          <p:nvPr userDrawn="1"/>
        </p:nvSpPr>
        <p:spPr>
          <a:xfrm>
            <a:off x="168175" y="1189231"/>
            <a:ext cx="213342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Amirkabir University of Technology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585061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2F2C4-29B4-451C-8A2B-A78414D58D0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2582954657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Font typeface="Arial" panose="020B0604020202020204" pitchFamily="34" charset="0"/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C473C-5569-417E-8D98-E3599970883C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21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3183943044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12D66-047B-4EBE-97A4-BAA2BDDDA52C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1065444030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BB6FA-A622-4F8C-8A52-066410998645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3701604236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9BF5-77D4-455F-A14E-3499AF189ECD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400869198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5701A-0CF1-41FE-B1CB-E7BD48B733F9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179120140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261B-1A60-4B38-8207-1C82D41A45E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966705281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C83C-D4FD-4501-AAC0-8757BCF37712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80194-A0B6-45CF-B0D4-B809C364F7AA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6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ED1CC-715F-4C1E-8EB5-8C26DFE34BA9}" type="datetime1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024E8-A890-4616-8BB1-41B823E23AD4}" type="datetime1">
              <a:rPr lang="en-US" smtClean="0"/>
              <a:t>8/19/2024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6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BC84B-CA44-44E8-BAFB-24E27F24231F}" type="datetime1">
              <a:rPr lang="en-US" smtClean="0"/>
              <a:t>8/19/2024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86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394A7-1975-4B20-B83E-E9B48855E21C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6B00C-AB21-46B1-9979-0B9FC1612B23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4C58D-2EA3-4C67-9848-FADD626DC82D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E05B5-7A10-4BB7-8438-35F8DA28C8EB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1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93C44-DDC2-496E-9471-F74098DEDA72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0452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3" r:id="rId4"/>
    <p:sldLayoutId id="2147483668" r:id="rId5"/>
    <p:sldLayoutId id="2147483667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797442"/>
            <a:ext cx="7193280" cy="539070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Microprocessors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 and 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Assembly Language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Lecture 16</a:t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Hamed Farbeh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farbeh@aut.ac.ir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Fall 2024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4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DBA32B5-5656-47D4-A4F0-1786A0E5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Copyright Notice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FD0FE84C-BF1C-4866-B814-1D4AEF10ABC7}"/>
              </a:ext>
            </a:extLst>
          </p:cNvPr>
          <p:cNvSpPr txBox="1"/>
          <p:nvPr/>
        </p:nvSpPr>
        <p:spPr>
          <a:xfrm>
            <a:off x="1074656" y="1882241"/>
            <a:ext cx="1050774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Parts (text &amp; figures) of this lecture are adopted from:</a:t>
            </a:r>
            <a:endParaRPr lang="en-US" sz="2200" dirty="0"/>
          </a:p>
          <a:p>
            <a:pPr marL="800100" lvl="1" indent="-342900" fontAlgn="base">
              <a:buFont typeface="Arial" panose="020B0604020202020204" pitchFamily="34" charset="0"/>
              <a:buChar char="•"/>
            </a:pPr>
            <a:r>
              <a:rPr lang="en-US" sz="2200" b="1" dirty="0"/>
              <a:t>Arm Assembly Language Programming and Architecture,  Volume 1, </a:t>
            </a:r>
            <a:r>
              <a:rPr lang="en-US" sz="22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200" b="1" baseline="30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lang="en-US" sz="2200" b="1" dirty="0"/>
              <a:t> edition, Muhammad Ali </a:t>
            </a:r>
            <a:r>
              <a:rPr lang="en-US" sz="2200" b="1" dirty="0" err="1"/>
              <a:t>Mazidi</a:t>
            </a:r>
            <a:r>
              <a:rPr lang="en-US" sz="2200" b="1" dirty="0"/>
              <a:t>, Sarmad </a:t>
            </a:r>
            <a:r>
              <a:rPr lang="en-US" sz="2200" b="1" dirty="0" err="1"/>
              <a:t>Naimi</a:t>
            </a:r>
            <a:r>
              <a:rPr lang="en-US" sz="2200" b="1" dirty="0"/>
              <a:t>, and </a:t>
            </a:r>
            <a:r>
              <a:rPr lang="en-US" sz="2200" b="1" dirty="0" err="1"/>
              <a:t>Sepehr</a:t>
            </a:r>
            <a:r>
              <a:rPr lang="en-US" sz="2200" b="1" dirty="0"/>
              <a:t> </a:t>
            </a:r>
            <a:r>
              <a:rPr lang="en-US" sz="2200" b="1" dirty="0" err="1"/>
              <a:t>Naimi</a:t>
            </a:r>
            <a:r>
              <a:rPr lang="en-US" sz="2200" b="1" dirty="0"/>
              <a:t>, </a:t>
            </a:r>
            <a:r>
              <a:rPr lang="en-US" sz="2200" b="1" dirty="0" err="1"/>
              <a:t>MicroDigitalEd</a:t>
            </a:r>
            <a:r>
              <a:rPr lang="en-US" sz="2200" b="1" dirty="0"/>
              <a:t>, 2013.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96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i="0" u="none" strike="noStrike" dirty="0">
                <a:effectLst/>
              </a:rPr>
              <a:t>ARM Data Format, Pseudo-instructions and Directives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</a:t>
            </a:fld>
            <a:r>
              <a:rPr lang="en-US"/>
              <a:t>/9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70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ARM Data 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4907"/>
            <a:ext cx="10515600" cy="4764362"/>
          </a:xfrm>
        </p:spPr>
        <p:txBody>
          <a:bodyPr>
            <a:noAutofit/>
          </a:bodyPr>
          <a:lstStyle/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Data format representation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800100" lvl="1" indent="-342900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Hexadecimal numbers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solidFill>
                  <a:srgbClr val="05555E"/>
                </a:solidFill>
                <a:latin typeface="Calibri" panose="020F0502020204030204" pitchFamily="34" charset="0"/>
              </a:rPr>
              <a:t>					MOV R1, #0x99</a:t>
            </a:r>
            <a:endParaRPr lang="en-US" sz="2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endParaRPr lang="en-US" sz="2000" b="0" dirty="0">
              <a:effectLst/>
            </a:endParaRPr>
          </a:p>
          <a:p>
            <a:pPr marL="800100" lvl="1" indent="-342900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</a:rPr>
              <a:t>Decimal numbers</a:t>
            </a:r>
          </a:p>
          <a:p>
            <a:pPr>
              <a:spcBef>
                <a:spcPts val="0"/>
              </a:spcBef>
            </a:pPr>
            <a:r>
              <a:rPr lang="en-US" sz="2000" dirty="0">
                <a:solidFill>
                  <a:srgbClr val="05555E"/>
                </a:solidFill>
                <a:latin typeface="Calibri" panose="020F0502020204030204" pitchFamily="34" charset="0"/>
              </a:rPr>
              <a:t>					MOV R7, #12</a:t>
            </a:r>
            <a:endParaRPr lang="en-US" sz="2000" b="1" i="0" u="none" strike="noStrike" dirty="0">
              <a:solidFill>
                <a:srgbClr val="05555E"/>
              </a:solidFill>
              <a:effectLst/>
              <a:latin typeface="Calibri" panose="020F0502020204030204" pitchFamily="34" charset="0"/>
            </a:endParaRPr>
          </a:p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5555E"/>
              </a:solidFill>
              <a:latin typeface="Calibri" panose="020F0502020204030204" pitchFamily="34" charset="0"/>
            </a:endParaRPr>
          </a:p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</a:rPr>
              <a:t>Binary numbers</a:t>
            </a:r>
            <a:r>
              <a:rPr lang="en-US" sz="2000" b="1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solidFill>
                  <a:srgbClr val="05555E"/>
                </a:solidFill>
                <a:latin typeface="Calibri" panose="020F0502020204030204" pitchFamily="34" charset="0"/>
              </a:rPr>
              <a:t>					MOV R6, #2_10011001</a:t>
            </a:r>
            <a:endParaRPr lang="en-US" sz="2000" b="1" i="0" u="none" strike="noStrike" dirty="0">
              <a:solidFill>
                <a:srgbClr val="C00000"/>
              </a:solidFill>
              <a:effectLst/>
              <a:latin typeface="Calibri" panose="020F0502020204030204" pitchFamily="34" charset="0"/>
            </a:endParaRPr>
          </a:p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C00000"/>
              </a:solidFill>
              <a:latin typeface="Calibri" panose="020F0502020204030204" pitchFamily="34" charset="0"/>
            </a:endParaRPr>
          </a:p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</a:rPr>
              <a:t>Numbers in any base between 2 and 9</a:t>
            </a:r>
          </a:p>
          <a:p>
            <a:pPr lvl="1" algn="ctr">
              <a:spcBef>
                <a:spcPts val="0"/>
              </a:spcBef>
            </a:pPr>
            <a:r>
              <a:rPr lang="en-US" sz="2000" dirty="0">
                <a:solidFill>
                  <a:srgbClr val="05555E"/>
                </a:solidFill>
                <a:latin typeface="Calibri" panose="020F0502020204030204" pitchFamily="34" charset="0"/>
              </a:rPr>
              <a:t>MOV R7, #8_33</a:t>
            </a:r>
          </a:p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5555E"/>
              </a:solidFill>
              <a:latin typeface="Calibri" panose="020F0502020204030204" pitchFamily="34" charset="0"/>
            </a:endParaRPr>
          </a:p>
          <a:p>
            <a:pPr marL="80010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</a:rPr>
              <a:t>ASCII characters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solidFill>
                  <a:srgbClr val="05555E"/>
                </a:solidFill>
                <a:latin typeface="Calibri" panose="020F0502020204030204" pitchFamily="34" charset="0"/>
              </a:rPr>
              <a:t>					LDR R3, #'2' </a:t>
            </a:r>
            <a:r>
              <a:rPr lang="en-US" sz="2000" dirty="0">
                <a:solidFill>
                  <a:srgbClr val="88A2AA"/>
                </a:solidFill>
                <a:latin typeface="Calibri" panose="020F0502020204030204" pitchFamily="34" charset="0"/>
              </a:rPr>
              <a:t>; R3 = 00110010 or 32 in hex</a:t>
            </a:r>
            <a:endParaRPr lang="en-US" sz="2000" b="0" dirty="0">
              <a:solidFill>
                <a:srgbClr val="88A2AA"/>
              </a:solidFill>
            </a:endParaRPr>
          </a:p>
          <a:p>
            <a:pPr lvl="1" algn="ctr">
              <a:spcBef>
                <a:spcPts val="0"/>
              </a:spcBef>
            </a:pP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4</a:t>
            </a:fld>
            <a:r>
              <a:rPr lang="en-US"/>
              <a:t>/9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6014" y="1585927"/>
            <a:ext cx="5192111" cy="367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207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Pseudo-instructions</a:t>
            </a:r>
            <a:r>
              <a:rPr lang="en-US" b="0" dirty="0">
                <a:effectLst/>
              </a:rPr>
              <a:t/>
            </a:r>
            <a:br>
              <a:rPr lang="en-US" b="0" dirty="0">
                <a:effectLst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</a:rPr>
              <a:t>The ARM assembler supports a number of </a:t>
            </a:r>
            <a:r>
              <a:rPr lang="en-US" sz="2200" dirty="0">
                <a:solidFill>
                  <a:srgbClr val="FF0000"/>
                </a:solidFill>
                <a:latin typeface="Calibri" panose="020F0502020204030204" pitchFamily="34" charset="0"/>
              </a:rPr>
              <a:t>pseudo-instructions</a:t>
            </a: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</a:rPr>
              <a:t>.  At assembly time they are translated into the appropriate combination of ARM instructions.</a:t>
            </a:r>
          </a:p>
          <a:p>
            <a:pPr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LDR pseudo-instruction</a:t>
            </a:r>
            <a:endParaRPr lang="en-US" sz="2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Limitation of loading immediate value: 8-bit</a:t>
            </a: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914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i="0" strike="sng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MOV Rd, 0x11223344 </a:t>
            </a:r>
            <a:endParaRPr lang="en-US" sz="2200" b="0" dirty="0">
              <a:solidFill>
                <a:srgbClr val="05555E"/>
              </a:solidFill>
              <a:effectLst/>
            </a:endParaRPr>
          </a:p>
          <a:p>
            <a:pPr marL="914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LDR Rd, =32-bit_immediate_value</a:t>
            </a:r>
            <a:endParaRPr lang="en-US" sz="2200" b="0" dirty="0">
              <a:solidFill>
                <a:srgbClr val="05555E"/>
              </a:solidFill>
              <a:effectLst/>
            </a:endParaRPr>
          </a:p>
          <a:p>
            <a:pPr marL="914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LDR R7, =0x11223344</a:t>
            </a:r>
          </a:p>
          <a:p>
            <a:pPr marL="914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200" b="0" dirty="0">
              <a:effectLst/>
            </a:endParaRPr>
          </a:p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Load registers with the addresses of memory locations</a:t>
            </a:r>
            <a:endParaRPr lang="en-US" sz="22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1" i="0" u="none" strike="noStrike" dirty="0">
                <a:solidFill>
                  <a:srgbClr val="C00000"/>
                </a:solidFill>
                <a:effectLst/>
                <a:latin typeface="Calibri" panose="020F0502020204030204" pitchFamily="34" charset="0"/>
              </a:rPr>
              <a:t>					  </a:t>
            </a:r>
            <a:r>
              <a:rPr lang="en-US" sz="2200" b="1" i="0" u="none" strike="noStrike" dirty="0">
                <a:solidFill>
                  <a:srgbClr val="05555E"/>
                </a:solidFill>
                <a:effectLst/>
                <a:latin typeface="Calibri" panose="020F0502020204030204" pitchFamily="34" charset="0"/>
              </a:rPr>
              <a:t> ADR Rn, label</a:t>
            </a:r>
            <a:endParaRPr lang="en-US" sz="2200" dirty="0">
              <a:solidFill>
                <a:srgbClr val="05555E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5</a:t>
            </a:fld>
            <a:r>
              <a:rPr lang="en-US"/>
              <a:t>/9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33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Assembler Directives</a:t>
            </a:r>
            <a:r>
              <a:rPr lang="en-US" b="0" dirty="0">
                <a:effectLst/>
              </a:rPr>
              <a:t/>
            </a:r>
            <a:br>
              <a:rPr lang="en-US" b="0" dirty="0">
                <a:effectLst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Directives give directions to the assembler</a:t>
            </a:r>
          </a:p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i="0" u="none" strike="noStrike" dirty="0">
                <a:solidFill>
                  <a:srgbClr val="000000"/>
                </a:solidFill>
                <a:effectLst/>
              </a:rPr>
              <a:t>Some Widely Used ARM Directive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137CA52A-236A-CBC1-6CA7-1E2BDE881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027" y="3666665"/>
            <a:ext cx="8963025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6</a:t>
            </a:fld>
            <a:r>
              <a:rPr lang="en-US"/>
              <a:t>/9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42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Assembler Directives</a:t>
            </a:r>
            <a:r>
              <a:rPr lang="en-US" b="0" dirty="0">
                <a:effectLst/>
              </a:rPr>
              <a:t/>
            </a:r>
            <a:br>
              <a:rPr lang="en-US" b="0" dirty="0">
                <a:effectLst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Directives: </a:t>
            </a: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AREA</a:t>
            </a:r>
          </a:p>
          <a:p>
            <a:pPr marL="342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Defines a new section of memory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000000"/>
              </a:solidFill>
              <a:effectLst/>
            </a:endParaRPr>
          </a:p>
          <a:p>
            <a:pPr marL="457200" algn="ctr" rtl="0"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AREA section name, attribute, attribute, ...</a:t>
            </a:r>
          </a:p>
          <a:p>
            <a:pPr marL="457200" algn="ctr" rtl="0">
              <a:spcBef>
                <a:spcPts val="0"/>
              </a:spcBef>
              <a:spcAft>
                <a:spcPts val="0"/>
              </a:spcAft>
            </a:pPr>
            <a:endParaRPr lang="en-US" sz="2400" b="0" dirty="0">
              <a:effectLst/>
            </a:endParaRPr>
          </a:p>
          <a:p>
            <a:pPr marL="723900" indent="-3429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Some attributes: CODE, DATA, READONLY, READWRITE, and ALIGN</a:t>
            </a:r>
          </a:p>
          <a:p>
            <a:pPr marL="38100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000000"/>
              </a:solidFill>
              <a:effectLst/>
            </a:endParaRPr>
          </a:p>
          <a:p>
            <a:pPr marL="457200" algn="ctr" rtl="0"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AREA MY_ASM_PROG1, CODE, READONLY</a:t>
            </a:r>
            <a:endParaRPr lang="en-US" sz="2400" b="0" dirty="0">
              <a:solidFill>
                <a:srgbClr val="05555E"/>
              </a:solidFill>
              <a:effectLst/>
            </a:endParaRPr>
          </a:p>
          <a:p>
            <a:r>
              <a:rPr lang="en-US" sz="2400" b="0" dirty="0">
                <a:effectLst/>
              </a:rPr>
              <a:t/>
            </a:r>
            <a:br>
              <a:rPr lang="en-US" sz="2400" b="0" dirty="0">
                <a:effectLst/>
              </a:rPr>
            </a:b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7</a:t>
            </a:fld>
            <a:r>
              <a:rPr lang="en-US"/>
              <a:t>/9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3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Assembler Directives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Directives: </a:t>
            </a: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AREA</a:t>
            </a:r>
          </a:p>
          <a:p>
            <a:pPr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000000"/>
              </a:solidFill>
              <a:effectLst/>
            </a:endParaRP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Attributes: </a:t>
            </a:r>
            <a:r>
              <a:rPr lang="en-US" sz="2400" b="1" i="0" u="none" strike="noStrike" dirty="0">
                <a:solidFill>
                  <a:srgbClr val="88A2AA"/>
                </a:solidFill>
                <a:effectLst/>
              </a:rPr>
              <a:t>READONLY</a:t>
            </a:r>
          </a:p>
          <a:p>
            <a:pPr marL="1257300" lvl="2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All the READONLY sections of the same program are put next to each other in the flash memory by the linker</a:t>
            </a:r>
          </a:p>
          <a:p>
            <a:pPr marL="1257300" lvl="2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1" i="0" u="none" strike="noStrike" dirty="0">
              <a:solidFill>
                <a:srgbClr val="000000"/>
              </a:solidFill>
              <a:effectLst/>
            </a:endParaRP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Attributes: </a:t>
            </a:r>
            <a:r>
              <a:rPr lang="en-US" sz="2400" b="1" i="0" u="none" strike="noStrike" dirty="0">
                <a:solidFill>
                  <a:srgbClr val="88A2AA"/>
                </a:solidFill>
                <a:effectLst/>
              </a:rPr>
              <a:t>READWRITE</a:t>
            </a:r>
          </a:p>
          <a:p>
            <a:pPr marL="1257300" lvl="2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The linker puts all the READWRITE sections of the same program next to each other in the SRAM memory</a:t>
            </a:r>
          </a:p>
          <a:p>
            <a:pPr marL="1143000" lvl="2" indent="-2286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b="1" i="0" u="none" strike="noStrike" dirty="0">
              <a:solidFill>
                <a:srgbClr val="000000"/>
              </a:solidFill>
              <a:effectLst/>
            </a:endParaRP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Attributes: </a:t>
            </a:r>
            <a:r>
              <a:rPr lang="en-US" sz="2400" b="1" i="0" u="none" strike="noStrike" dirty="0">
                <a:solidFill>
                  <a:srgbClr val="88A2AA"/>
                </a:solidFill>
                <a:effectLst/>
              </a:rPr>
              <a:t>CODE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is by default READONLY memory</a:t>
            </a: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Attributes: </a:t>
            </a:r>
            <a:r>
              <a:rPr lang="en-US" sz="2400" b="1" i="0" u="none" strike="noStrike" dirty="0">
                <a:solidFill>
                  <a:srgbClr val="88A2AA"/>
                </a:solidFill>
                <a:effectLst/>
              </a:rPr>
              <a:t>DATA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is by default READWRITE memory</a:t>
            </a:r>
          </a:p>
          <a:p>
            <a:pPr marL="800100" lvl="1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Attributes: </a:t>
            </a:r>
            <a:r>
              <a:rPr lang="en-US" sz="2400" b="1" i="0" u="none" strike="noStrike" dirty="0">
                <a:solidFill>
                  <a:srgbClr val="88A2AA"/>
                </a:solidFill>
                <a:effectLst/>
              </a:rPr>
              <a:t>ALIGN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: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to align a section</a:t>
            </a: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8</a:t>
            </a:fld>
            <a:r>
              <a:rPr lang="en-US"/>
              <a:t>/9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72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/>
            </a:r>
            <a:br>
              <a:rPr lang="en-US" b="1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Assembler Directives</a:t>
            </a:r>
            <a:r>
              <a:rPr lang="en-US" b="0" dirty="0">
                <a:effectLst/>
              </a:rPr>
              <a:t/>
            </a:r>
            <a:br>
              <a:rPr lang="en-US" b="0" dirty="0">
                <a:effectLst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Directives: </a:t>
            </a:r>
            <a:r>
              <a:rPr lang="en-US" sz="2400" b="1" i="0" u="none" strike="noStrike" dirty="0">
                <a:solidFill>
                  <a:srgbClr val="88A2AA"/>
                </a:solidFill>
                <a:effectLst/>
              </a:rPr>
              <a:t>END</a:t>
            </a: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Indicates to the assembler the end of the source code</a:t>
            </a:r>
          </a:p>
          <a:p>
            <a:pPr marL="742950" lvl="1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Is the last line of the ARM assembly program</a:t>
            </a:r>
          </a:p>
          <a:p>
            <a:pPr marL="1143000" lvl="2" indent="-2286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Anything after the END directive in the source file is ignored by the assembler</a:t>
            </a:r>
          </a:p>
          <a:p>
            <a:pPr marL="1143000" lvl="2" indent="-22860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400" b="1" i="0" u="none" strike="noStrike" dirty="0">
              <a:solidFill>
                <a:srgbClr val="000000"/>
              </a:solidFill>
              <a:effectLst/>
            </a:endParaRPr>
          </a:p>
          <a:p>
            <a:pPr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dirty="0">
                <a:solidFill>
                  <a:srgbClr val="7030A0"/>
                </a:solidFill>
                <a:effectLst/>
              </a:rPr>
              <a:t>AREA PROG_2_1, CODE, READONLY</a:t>
            </a:r>
            <a:r>
              <a:rPr lang="en-US" sz="2400" b="0" i="0" u="none" strike="noStrike" dirty="0">
                <a:solidFill>
                  <a:srgbClr val="7030A0"/>
                </a:solidFill>
                <a:effectLst/>
              </a:rPr>
              <a:t/>
            </a:r>
            <a:br>
              <a:rPr lang="en-US" sz="2400" b="0" i="0" u="none" strike="noStrike" dirty="0">
                <a:solidFill>
                  <a:srgbClr val="7030A0"/>
                </a:solidFill>
                <a:effectLst/>
              </a:rPr>
            </a:b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MOV R1, #0x25 </a:t>
            </a:r>
            <a:r>
              <a:rPr lang="en-US" sz="2400" b="1" i="0" u="none" strike="noStrike" dirty="0">
                <a:solidFill>
                  <a:srgbClr val="88A2AA"/>
                </a:solidFill>
                <a:effectLst/>
              </a:rPr>
              <a:t>; R1 = 0x25</a:t>
            </a:r>
            <a:r>
              <a:rPr lang="en-US" sz="2400" b="0" i="0" u="none" strike="noStrike" dirty="0">
                <a:solidFill>
                  <a:srgbClr val="88A2AA"/>
                </a:solidFill>
                <a:effectLst/>
              </a:rPr>
              <a:t/>
            </a:r>
            <a:br>
              <a:rPr lang="en-US" sz="2400" b="0" i="0" u="none" strike="noStrike" dirty="0">
                <a:solidFill>
                  <a:srgbClr val="88A2AA"/>
                </a:solidFill>
                <a:effectLst/>
              </a:rPr>
            </a:b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MOV R2, #0x34 </a:t>
            </a:r>
            <a:r>
              <a:rPr lang="en-US" sz="2400" b="1" i="0" u="none" strike="noStrike" dirty="0">
                <a:solidFill>
                  <a:srgbClr val="88A2AA"/>
                </a:solidFill>
                <a:effectLst/>
              </a:rPr>
              <a:t>; R2 = 0x34</a:t>
            </a:r>
            <a:r>
              <a:rPr lang="en-US" sz="2400" b="0" i="0" u="none" strike="noStrike" dirty="0">
                <a:solidFill>
                  <a:srgbClr val="05555E"/>
                </a:solidFill>
                <a:effectLst/>
              </a:rPr>
              <a:t/>
            </a:r>
            <a:br>
              <a:rPr lang="en-US" sz="2400" b="0" i="0" u="none" strike="noStrike" dirty="0">
                <a:solidFill>
                  <a:srgbClr val="05555E"/>
                </a:solidFill>
                <a:effectLst/>
              </a:rPr>
            </a:br>
            <a:r>
              <a:rPr lang="en-US" sz="2400" b="1" i="0" u="none" strike="noStrike" dirty="0">
                <a:solidFill>
                  <a:srgbClr val="05555E"/>
                </a:solidFill>
                <a:effectLst/>
              </a:rPr>
              <a:t>ADD R3, R2, R1 </a:t>
            </a:r>
            <a:r>
              <a:rPr lang="en-US" sz="2400" b="1" i="0" u="none" strike="noStrike" dirty="0">
                <a:solidFill>
                  <a:srgbClr val="88A2AA"/>
                </a:solidFill>
                <a:effectLst/>
              </a:rPr>
              <a:t>; R3 = R2 + R1</a:t>
            </a:r>
            <a:endParaRPr lang="en-US" sz="2400" b="0" dirty="0">
              <a:solidFill>
                <a:srgbClr val="88A2AA"/>
              </a:solidFill>
              <a:effectLst/>
            </a:endParaRPr>
          </a:p>
          <a:p>
            <a:pPr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dirty="0">
                <a:solidFill>
                  <a:srgbClr val="C00000"/>
                </a:solidFill>
                <a:effectLst/>
              </a:rPr>
              <a:t>      </a:t>
            </a:r>
            <a:r>
              <a:rPr lang="en-US" sz="2400" b="1" i="0" u="none" strike="noStrike" dirty="0">
                <a:solidFill>
                  <a:srgbClr val="0070C0"/>
                </a:solidFill>
                <a:effectLst/>
              </a:rPr>
              <a:t>HERE</a:t>
            </a:r>
            <a:r>
              <a:rPr lang="en-US" sz="2400" b="1" i="0" u="none" strike="noStrike" dirty="0">
                <a:solidFill>
                  <a:srgbClr val="C00000"/>
                </a:solidFill>
                <a:effectLst/>
              </a:rPr>
              <a:t> B </a:t>
            </a:r>
            <a:r>
              <a:rPr lang="en-US" sz="2400" b="1" i="0" u="none" strike="noStrike" dirty="0">
                <a:solidFill>
                  <a:srgbClr val="0070C0"/>
                </a:solidFill>
                <a:effectLst/>
              </a:rPr>
              <a:t>HERE </a:t>
            </a:r>
            <a:r>
              <a:rPr lang="en-US" sz="2400" b="1" i="0" u="none" strike="noStrike" dirty="0">
                <a:solidFill>
                  <a:srgbClr val="88A2AA"/>
                </a:solidFill>
                <a:effectLst/>
              </a:rPr>
              <a:t>; stay here forever</a:t>
            </a:r>
            <a:endParaRPr lang="en-US" sz="2400" b="0" dirty="0">
              <a:solidFill>
                <a:srgbClr val="88A2AA"/>
              </a:solidFill>
              <a:effectLst/>
            </a:endParaRPr>
          </a:p>
          <a:p>
            <a:pPr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dirty="0">
                <a:solidFill>
                  <a:srgbClr val="7030A0"/>
                </a:solidFill>
                <a:effectLst/>
              </a:rPr>
              <a:t>END</a:t>
            </a:r>
            <a:endParaRPr lang="en-US" sz="2400" b="0" dirty="0">
              <a:effectLst/>
            </a:endParaRPr>
          </a:p>
          <a:p>
            <a:pPr>
              <a:lnSpc>
                <a:spcPct val="100000"/>
              </a:lnSpc>
            </a:pP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9</a:t>
            </a:fld>
            <a:r>
              <a:rPr lang="en-US"/>
              <a:t>/9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145" y="4101912"/>
            <a:ext cx="3896938" cy="275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55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222</Words>
  <Application>Microsoft Office PowerPoint</Application>
  <PresentationFormat>Custom</PresentationFormat>
  <Paragraphs>81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 Microprocessors  and  Assembly Language   Lecture 16    Hamed Farbeh farbeh@aut.ac.ir Fall 2024</vt:lpstr>
      <vt:lpstr>Copyright Notice</vt:lpstr>
      <vt:lpstr>ARM Data Format, Pseudo-instructions and Directives</vt:lpstr>
      <vt:lpstr>ARM Data Format</vt:lpstr>
      <vt:lpstr>  Pseudo-instructions  </vt:lpstr>
      <vt:lpstr>  Assembler Directives  </vt:lpstr>
      <vt:lpstr>  Assembler Directives  </vt:lpstr>
      <vt:lpstr>Assembler Directives</vt:lpstr>
      <vt:lpstr>  Assembler Directives 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Valeh</dc:creator>
  <cp:lastModifiedBy>Hamed</cp:lastModifiedBy>
  <cp:revision>35</cp:revision>
  <dcterms:created xsi:type="dcterms:W3CDTF">2022-09-03T16:31:37Z</dcterms:created>
  <dcterms:modified xsi:type="dcterms:W3CDTF">2024-08-19T11:35:00Z</dcterms:modified>
</cp:coreProperties>
</file>