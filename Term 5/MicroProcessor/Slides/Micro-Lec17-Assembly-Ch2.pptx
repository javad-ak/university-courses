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301" r:id="rId3"/>
    <p:sldId id="258" r:id="rId4"/>
    <p:sldId id="267" r:id="rId5"/>
    <p:sldId id="266" r:id="rId6"/>
    <p:sldId id="272" r:id="rId7"/>
    <p:sldId id="298" r:id="rId8"/>
    <p:sldId id="274" r:id="rId9"/>
    <p:sldId id="275" r:id="rId10"/>
    <p:sldId id="279" r:id="rId11"/>
    <p:sldId id="299" r:id="rId12"/>
    <p:sldId id="280" r:id="rId13"/>
    <p:sldId id="276" r:id="rId14"/>
    <p:sldId id="282" r:id="rId15"/>
    <p:sldId id="281" r:id="rId16"/>
    <p:sldId id="283" r:id="rId17"/>
    <p:sldId id="284" r:id="rId18"/>
    <p:sldId id="28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A2AA"/>
    <a:srgbClr val="05555E"/>
    <a:srgbClr val="04454C"/>
    <a:srgbClr val="65838D"/>
    <a:srgbClr val="0777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-59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C36BE-A613-4CBB-9666-AC4A6A426511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1F2AE-6363-4FD6-82B2-4C3A1B5F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0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01F17-6A83-4CE6-8136-473534A7DCD6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56;p13"/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86" y="274831"/>
            <a:ext cx="914400" cy="914400"/>
          </a:xfrm>
          <a:prstGeom prst="rect">
            <a:avLst/>
          </a:prstGeom>
          <a:noFill/>
          <a:ln>
            <a:noFill/>
          </a:ln>
          <a:effectLst>
            <a:outerShdw blurRad="714375" dist="19050" dir="1440000" algn="bl" rotWithShape="0">
              <a:schemeClr val="dk2">
                <a:alpha val="47000"/>
              </a:schemeClr>
            </a:outerShdw>
          </a:effectLst>
        </p:spPr>
      </p:pic>
      <p:sp>
        <p:nvSpPr>
          <p:cNvPr id="9" name="Google Shape;57;p13"/>
          <p:cNvSpPr txBox="1"/>
          <p:nvPr userDrawn="1"/>
        </p:nvSpPr>
        <p:spPr>
          <a:xfrm>
            <a:off x="168175" y="1189231"/>
            <a:ext cx="213342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Amirkabir University of Technology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3585061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A5D70-DACA-44FC-B1D0-5E26E7B3C57D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/18</a:t>
            </a:r>
          </a:p>
        </p:txBody>
      </p:sp>
    </p:spTree>
    <p:extLst>
      <p:ext uri="{BB962C8B-B14F-4D97-AF65-F5344CB8AC3E}">
        <p14:creationId xmlns:p14="http://schemas.microsoft.com/office/powerpoint/2010/main" val="2582954657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Font typeface="Arial" panose="020B0604020202020204" pitchFamily="34" charset="0"/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1359-EA51-4AFC-A962-724A9FEA7F63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21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/18</a:t>
            </a:r>
          </a:p>
        </p:txBody>
      </p:sp>
    </p:spTree>
    <p:extLst>
      <p:ext uri="{BB962C8B-B14F-4D97-AF65-F5344CB8AC3E}">
        <p14:creationId xmlns:p14="http://schemas.microsoft.com/office/powerpoint/2010/main" val="3183943044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7C908-0242-4743-9B27-C431D1BA0D14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/18</a:t>
            </a:r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5444030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22A16-690C-4AE9-9AF0-3417ED851498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1604236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B24E4-FB4E-4584-8618-5E9359D627D1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8691987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AA458-1DB8-42F7-A83F-37A435E186E8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/18</a:t>
            </a:r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201407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0CAE-B2C6-41B4-8AEA-A37696F6D629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/18</a:t>
            </a:r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705281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39205-E8AE-4243-96EB-6D8FF83C695D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C62F-A710-4E79-87F1-CEB66FB6FCD9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6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1EC91-0326-478C-858C-CD1FB3B94F94}" type="datetime1">
              <a:rPr lang="en-US" smtClean="0"/>
              <a:t>8/19/2024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26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1E30-E767-4604-AF5C-2F100506FA83}" type="datetime1">
              <a:rPr lang="en-US" smtClean="0"/>
              <a:t>8/19/2024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63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F70B4-CD34-46B6-8594-BC2E6A5A4FB2}" type="datetime1">
              <a:rPr lang="en-US" smtClean="0"/>
              <a:t>8/19/2024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86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4A38-57A8-4CE2-8B15-71BF32FB3B3B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79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60AC0-BA3F-4627-A33E-7ABAB6AE8EC5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608A6-52CB-4DF1-BC5F-54336D0F8A2E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11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04FC-DA9D-4DF2-B31F-6795DBFCFD7E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19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A0176-395D-45A9-AD9A-446A4CD70B00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80452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2" r:id="rId3"/>
    <p:sldLayoutId id="2147483663" r:id="rId4"/>
    <p:sldLayoutId id="2147483668" r:id="rId5"/>
    <p:sldLayoutId id="2147483667" r:id="rId6"/>
    <p:sldLayoutId id="2147483664" r:id="rId7"/>
    <p:sldLayoutId id="2147483665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797442"/>
            <a:ext cx="7193280" cy="5390707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Microprocessors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 and 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Assembly Language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Lecture 17</a:t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Hamed Farbeh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farbeh@aut.ac.ir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Fall 2024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4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idx="4294967295"/>
          </p:nvPr>
        </p:nvSpPr>
        <p:spPr>
          <a:xfrm>
            <a:off x="838200" y="44608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Copyright Notice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6577" y="1838325"/>
            <a:ext cx="1088707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Parts (text &amp; figures) of this lecture are adopted from: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Arm Assembly Language Programming and Architecture, Volume 1, 1</a:t>
            </a:r>
            <a:r>
              <a:rPr lang="en-US" sz="2200" b="1" baseline="30000" dirty="0"/>
              <a:t>st</a:t>
            </a:r>
            <a:r>
              <a:rPr lang="en-US" sz="2200" b="1" dirty="0"/>
              <a:t> edition, Muhammad Ali </a:t>
            </a:r>
            <a:r>
              <a:rPr lang="en-US" sz="2200" b="1" dirty="0" err="1"/>
              <a:t>Mazidi</a:t>
            </a:r>
            <a:r>
              <a:rPr lang="en-US" sz="2200" b="1" dirty="0"/>
              <a:t>, </a:t>
            </a:r>
            <a:r>
              <a:rPr lang="en-US" sz="2200" b="1" dirty="0" err="1"/>
              <a:t>Sarmad</a:t>
            </a:r>
            <a:r>
              <a:rPr lang="en-US" sz="2200" b="1" dirty="0"/>
              <a:t> </a:t>
            </a:r>
            <a:r>
              <a:rPr lang="en-US" sz="2200" b="1" dirty="0" err="1"/>
              <a:t>Naimi</a:t>
            </a:r>
            <a:r>
              <a:rPr lang="en-US" sz="2200" b="1" dirty="0"/>
              <a:t>, and </a:t>
            </a:r>
            <a:r>
              <a:rPr lang="en-US" sz="2200" b="1" dirty="0" err="1"/>
              <a:t>Sepehr</a:t>
            </a:r>
            <a:r>
              <a:rPr lang="en-US" sz="2200" b="1" dirty="0"/>
              <a:t> </a:t>
            </a:r>
            <a:r>
              <a:rPr lang="en-US" sz="2200" b="1" dirty="0" err="1"/>
              <a:t>Naimi</a:t>
            </a:r>
            <a:r>
              <a:rPr lang="en-US" sz="2200" b="1" dirty="0"/>
              <a:t>, </a:t>
            </a:r>
            <a:r>
              <a:rPr lang="en-US" sz="2200" b="1" dirty="0" err="1"/>
              <a:t>MicroDigitalEd</a:t>
            </a:r>
            <a:r>
              <a:rPr lang="en-US" sz="2200" b="1" dirty="0"/>
              <a:t>, 2013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90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47925" y="1189231"/>
            <a:ext cx="7244715" cy="44795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ARM Data Format, Pseudo-instructions and Directives </a:t>
            </a:r>
            <a:r>
              <a:rPr lang="en-US" b="1" baseline="30000" dirty="0"/>
              <a:t>(cont.)</a:t>
            </a:r>
            <a:endParaRPr lang="en-US" sz="4400" b="1" baseline="3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</a:t>
            </a:fld>
            <a:r>
              <a:rPr lang="en-US"/>
              <a:t>/18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70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Assembler Directives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79735" y="1317417"/>
            <a:ext cx="11232530" cy="4936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Directives: </a:t>
            </a:r>
            <a:r>
              <a:rPr lang="en-US" sz="2400" b="1" dirty="0">
                <a:solidFill>
                  <a:srgbClr val="05555E"/>
                </a:solidFill>
              </a:rPr>
              <a:t>EQU (equate)</a:t>
            </a:r>
            <a:endParaRPr lang="fa-IR" sz="2400" b="1" dirty="0">
              <a:solidFill>
                <a:srgbClr val="05555E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To define a constant value or a fixed address by a name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To make the program easier to read</a:t>
            </a:r>
          </a:p>
          <a:p>
            <a:pPr lvl="4">
              <a:lnSpc>
                <a:spcPct val="150000"/>
              </a:lnSpc>
            </a:pPr>
            <a:r>
              <a:rPr lang="pt-BR" b="1" dirty="0">
                <a:solidFill>
                  <a:srgbClr val="05555E"/>
                </a:solidFill>
              </a:rPr>
              <a:t>COUNT   EQU  0x25</a:t>
            </a:r>
          </a:p>
          <a:p>
            <a:pPr lvl="4">
              <a:lnSpc>
                <a:spcPct val="150000"/>
              </a:lnSpc>
            </a:pPr>
            <a:r>
              <a:rPr lang="pt-BR" b="1" dirty="0">
                <a:solidFill>
                  <a:srgbClr val="05555E"/>
                </a:solidFill>
              </a:rPr>
              <a:t>MOV   R2, #COUNT </a:t>
            </a:r>
            <a:r>
              <a:rPr lang="pt-BR" b="1" dirty="0">
                <a:solidFill>
                  <a:srgbClr val="88A2AA"/>
                </a:solidFill>
              </a:rPr>
              <a:t>; R2 = 0x25</a:t>
            </a:r>
          </a:p>
          <a:p>
            <a:pPr lvl="4">
              <a:lnSpc>
                <a:spcPct val="150000"/>
              </a:lnSpc>
            </a:pPr>
            <a:endParaRPr lang="pt-BR" b="1" dirty="0">
              <a:solidFill>
                <a:srgbClr val="C00000"/>
              </a:solidFill>
            </a:endParaRPr>
          </a:p>
          <a:p>
            <a:pPr lvl="4">
              <a:lnSpc>
                <a:spcPct val="150000"/>
              </a:lnSpc>
            </a:pPr>
            <a:endParaRPr lang="pt-BR" b="1" dirty="0">
              <a:solidFill>
                <a:srgbClr val="C00000"/>
              </a:solidFill>
            </a:endParaRPr>
          </a:p>
          <a:p>
            <a:pPr lvl="4">
              <a:lnSpc>
                <a:spcPct val="150000"/>
              </a:lnSpc>
            </a:pPr>
            <a:endParaRPr lang="pt-BR" b="1" dirty="0">
              <a:solidFill>
                <a:srgbClr val="C00000"/>
              </a:solidFill>
            </a:endParaRPr>
          </a:p>
          <a:p>
            <a:pPr lvl="4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</a:rPr>
              <a:t>MOV   R2,  #0x25</a:t>
            </a:r>
          </a:p>
          <a:p>
            <a:pPr lvl="4"/>
            <a:endParaRPr lang="en-US" b="1" dirty="0">
              <a:solidFill>
                <a:srgbClr val="C00000"/>
              </a:solidFill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Avoid searching the entire program trying to find and change every occurrence of a variable</a:t>
            </a:r>
            <a:endParaRPr lang="fa-IR" sz="2000" b="1" dirty="0"/>
          </a:p>
        </p:txBody>
      </p:sp>
      <p:sp>
        <p:nvSpPr>
          <p:cNvPr id="20" name="Rectangle 19"/>
          <p:cNvSpPr/>
          <p:nvPr/>
        </p:nvSpPr>
        <p:spPr>
          <a:xfrm>
            <a:off x="2228850" y="3286125"/>
            <a:ext cx="3286125" cy="476250"/>
          </a:xfrm>
          <a:prstGeom prst="rect">
            <a:avLst/>
          </a:prstGeom>
          <a:noFill/>
          <a:ln w="28575">
            <a:solidFill>
              <a:srgbClr val="055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228849" y="4946958"/>
            <a:ext cx="3286125" cy="476250"/>
          </a:xfrm>
          <a:prstGeom prst="rect">
            <a:avLst/>
          </a:prstGeom>
          <a:noFill/>
          <a:ln w="28575">
            <a:solidFill>
              <a:srgbClr val="055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wn Arrow 24"/>
          <p:cNvSpPr/>
          <p:nvPr/>
        </p:nvSpPr>
        <p:spPr>
          <a:xfrm>
            <a:off x="3533775" y="3871912"/>
            <a:ext cx="447675" cy="998846"/>
          </a:xfrm>
          <a:prstGeom prst="downArrow">
            <a:avLst>
              <a:gd name="adj1" fmla="val 37234"/>
              <a:gd name="adj2" fmla="val 50000"/>
            </a:avLst>
          </a:prstGeom>
          <a:solidFill>
            <a:srgbClr val="0555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981450" y="4170000"/>
            <a:ext cx="2763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5555E"/>
                </a:solidFill>
              </a:rPr>
              <a:t>Converted by Assembler to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4</a:t>
            </a:fld>
            <a:r>
              <a:rPr lang="en-US"/>
              <a:t>/18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85" t="10555" r="29765" b="20417"/>
          <a:stretch/>
        </p:blipFill>
        <p:spPr>
          <a:xfrm>
            <a:off x="8157697" y="1986666"/>
            <a:ext cx="2969982" cy="307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961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4" grpId="0" animBg="1"/>
      <p:bldP spid="25" grpId="0" animBg="1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Assembler Directives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457199" y="1284278"/>
            <a:ext cx="10106025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Directives: </a:t>
            </a:r>
            <a:r>
              <a:rPr lang="en-US" sz="2400" b="1" dirty="0">
                <a:solidFill>
                  <a:srgbClr val="05555E"/>
                </a:solidFill>
              </a:rPr>
              <a:t>EQU (equate)</a:t>
            </a:r>
            <a:endParaRPr lang="fa-IR" sz="2400" b="1" dirty="0">
              <a:solidFill>
                <a:srgbClr val="05555E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Using EQU for fixed data assignment</a:t>
            </a:r>
          </a:p>
          <a:p>
            <a:pPr lvl="4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</a:rPr>
              <a:t>DATA1   EQU  0x39 </a:t>
            </a:r>
            <a:r>
              <a:rPr lang="en-US" b="1" dirty="0">
                <a:solidFill>
                  <a:srgbClr val="88A2AA"/>
                </a:solidFill>
              </a:rPr>
              <a:t>; the way to define hex value</a:t>
            </a:r>
          </a:p>
          <a:p>
            <a:pPr lvl="4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</a:rPr>
              <a:t>DATA2   EQU  2_00110101 </a:t>
            </a:r>
            <a:r>
              <a:rPr lang="en-US" b="1" dirty="0">
                <a:solidFill>
                  <a:srgbClr val="88A2AA"/>
                </a:solidFill>
              </a:rPr>
              <a:t>; the way to define binary value (35 in hex)</a:t>
            </a:r>
          </a:p>
          <a:p>
            <a:pPr lvl="4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</a:rPr>
              <a:t>DATA3   EQU  39 </a:t>
            </a:r>
            <a:r>
              <a:rPr lang="en-US" b="1" dirty="0">
                <a:solidFill>
                  <a:srgbClr val="88A2AA"/>
                </a:solidFill>
              </a:rPr>
              <a:t>; decimal numbers (27 in hex)</a:t>
            </a:r>
          </a:p>
          <a:p>
            <a:pPr lvl="4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</a:rPr>
              <a:t>DATA4   EQU  '2' </a:t>
            </a:r>
            <a:r>
              <a:rPr lang="en-US" b="1" dirty="0">
                <a:solidFill>
                  <a:srgbClr val="88A2AA"/>
                </a:solidFill>
              </a:rPr>
              <a:t>; ASCII characters</a:t>
            </a:r>
            <a:endParaRPr lang="pt-BR" b="1" dirty="0">
              <a:solidFill>
                <a:srgbClr val="88A2AA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Using EQU for special register address assignment</a:t>
            </a:r>
          </a:p>
          <a:p>
            <a:pPr lvl="4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</a:rPr>
              <a:t>FIO2SET0  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05555E"/>
                </a:solidFill>
              </a:rPr>
              <a:t>EQU   0x3FFFC058 </a:t>
            </a:r>
            <a:r>
              <a:rPr lang="en-US" b="1" dirty="0">
                <a:solidFill>
                  <a:srgbClr val="88A2AA"/>
                </a:solidFill>
              </a:rPr>
              <a:t>; PORT2 output set register 0 address</a:t>
            </a:r>
          </a:p>
          <a:p>
            <a:pPr lvl="4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</a:rPr>
              <a:t>MOV   R6,   #0x01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88A2AA"/>
                </a:solidFill>
              </a:rPr>
              <a:t>; R6 = 0x01</a:t>
            </a:r>
          </a:p>
          <a:p>
            <a:pPr lvl="4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</a:rPr>
              <a:t>LDR   R2,   =</a:t>
            </a:r>
            <a:r>
              <a:rPr lang="en-US" b="1" dirty="0">
                <a:solidFill>
                  <a:srgbClr val="00B050"/>
                </a:solidFill>
              </a:rPr>
              <a:t>FIO2SET0 </a:t>
            </a:r>
            <a:r>
              <a:rPr lang="en-US" b="1" dirty="0">
                <a:solidFill>
                  <a:srgbClr val="88A2AA"/>
                </a:solidFill>
              </a:rPr>
              <a:t>; R2 = 0x3FFFC058</a:t>
            </a:r>
          </a:p>
          <a:p>
            <a:pPr lvl="4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</a:rPr>
              <a:t>STRB   R6,   [R2] </a:t>
            </a:r>
            <a:r>
              <a:rPr lang="en-US" b="1" dirty="0">
                <a:solidFill>
                  <a:srgbClr val="88A2AA"/>
                </a:solidFill>
              </a:rPr>
              <a:t>; Write 0x01 to FIO2SET0</a:t>
            </a:r>
            <a:endParaRPr lang="fa-IR" b="1" dirty="0">
              <a:solidFill>
                <a:srgbClr val="88A2AA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5</a:t>
            </a:fld>
            <a:r>
              <a:rPr lang="en-US"/>
              <a:t>/18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15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Assembler Directives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457199" y="1284278"/>
            <a:ext cx="10106025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Directives: </a:t>
            </a:r>
            <a:r>
              <a:rPr lang="en-US" sz="2400" b="1" dirty="0">
                <a:solidFill>
                  <a:srgbClr val="05555E"/>
                </a:solidFill>
              </a:rPr>
              <a:t>EQU (equate)</a:t>
            </a:r>
            <a:endParaRPr lang="fa-IR" sz="2400" b="1" dirty="0">
              <a:solidFill>
                <a:srgbClr val="05555E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Using EQU for RAM address assignment</a:t>
            </a:r>
          </a:p>
          <a:p>
            <a:pPr lvl="4"/>
            <a:r>
              <a:rPr lang="en-US" b="1" dirty="0">
                <a:solidFill>
                  <a:srgbClr val="00B050"/>
                </a:solidFill>
              </a:rPr>
              <a:t>SUM</a:t>
            </a:r>
            <a:r>
              <a:rPr lang="en-US" b="1" dirty="0">
                <a:solidFill>
                  <a:srgbClr val="C00000"/>
                </a:solidFill>
              </a:rPr>
              <a:t>   </a:t>
            </a:r>
            <a:r>
              <a:rPr lang="en-US" b="1" dirty="0">
                <a:solidFill>
                  <a:srgbClr val="05555E"/>
                </a:solidFill>
              </a:rPr>
              <a:t>EQU   0x40000120 </a:t>
            </a:r>
            <a:r>
              <a:rPr lang="en-US" b="1" dirty="0">
                <a:solidFill>
                  <a:srgbClr val="88A2AA"/>
                </a:solidFill>
              </a:rPr>
              <a:t>; assign RAM location to SUM</a:t>
            </a:r>
          </a:p>
          <a:p>
            <a:pPr lvl="4"/>
            <a:r>
              <a:rPr lang="en-US" b="1" dirty="0">
                <a:solidFill>
                  <a:srgbClr val="05555E"/>
                </a:solidFill>
              </a:rPr>
              <a:t>MOV   R2,   #5 </a:t>
            </a:r>
            <a:r>
              <a:rPr lang="en-US" b="1" dirty="0">
                <a:solidFill>
                  <a:srgbClr val="88A2AA"/>
                </a:solidFill>
              </a:rPr>
              <a:t>; load R2 with 5</a:t>
            </a:r>
          </a:p>
          <a:p>
            <a:pPr lvl="4"/>
            <a:r>
              <a:rPr lang="en-US" b="1" dirty="0">
                <a:solidFill>
                  <a:srgbClr val="05555E"/>
                </a:solidFill>
              </a:rPr>
              <a:t>MOV   R1,   #2 </a:t>
            </a:r>
            <a:r>
              <a:rPr lang="en-US" b="1" dirty="0">
                <a:solidFill>
                  <a:srgbClr val="88A2AA"/>
                </a:solidFill>
              </a:rPr>
              <a:t>; load R1 with 2</a:t>
            </a:r>
          </a:p>
          <a:p>
            <a:pPr lvl="4"/>
            <a:r>
              <a:rPr lang="en-US" b="1" dirty="0">
                <a:solidFill>
                  <a:srgbClr val="05555E"/>
                </a:solidFill>
              </a:rPr>
              <a:t>ADD   R2,   R2, R1</a:t>
            </a:r>
            <a:r>
              <a:rPr lang="en-US" b="1" dirty="0">
                <a:solidFill>
                  <a:srgbClr val="88A2AA"/>
                </a:solidFill>
              </a:rPr>
              <a:t> ; R2 = R2 + R1</a:t>
            </a:r>
          </a:p>
          <a:p>
            <a:pPr lvl="4"/>
            <a:r>
              <a:rPr lang="en-US" b="1" dirty="0">
                <a:solidFill>
                  <a:srgbClr val="05555E"/>
                </a:solidFill>
              </a:rPr>
              <a:t>LDR   R3,   =</a:t>
            </a:r>
            <a:r>
              <a:rPr lang="en-US" b="1" dirty="0">
                <a:solidFill>
                  <a:srgbClr val="00B050"/>
                </a:solidFill>
              </a:rPr>
              <a:t>SUM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88A2AA"/>
                </a:solidFill>
              </a:rPr>
              <a:t>; load R3 with 0x40000120</a:t>
            </a:r>
          </a:p>
          <a:p>
            <a:pPr lvl="4"/>
            <a:r>
              <a:rPr lang="en-US" b="1" dirty="0">
                <a:solidFill>
                  <a:srgbClr val="05555E"/>
                </a:solidFill>
              </a:rPr>
              <a:t>STRB   R2,  [R3] </a:t>
            </a:r>
            <a:r>
              <a:rPr lang="en-US" b="1" dirty="0">
                <a:solidFill>
                  <a:srgbClr val="88A2AA"/>
                </a:solidFill>
              </a:rPr>
              <a:t>; store the result SUM</a:t>
            </a:r>
          </a:p>
          <a:p>
            <a:pPr lvl="4"/>
            <a:endParaRPr lang="en-US" b="1" dirty="0">
              <a:solidFill>
                <a:srgbClr val="C00000"/>
              </a:solidFill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Directives: </a:t>
            </a:r>
            <a:r>
              <a:rPr lang="en-US" sz="2400" b="1" dirty="0">
                <a:solidFill>
                  <a:srgbClr val="05555E"/>
                </a:solidFill>
              </a:rPr>
              <a:t>RN (equate)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b="1" dirty="0"/>
              <a:t>To give a CPU register a name</a:t>
            </a:r>
          </a:p>
          <a:p>
            <a:pPr lvl="4"/>
            <a:r>
              <a:rPr lang="pt-BR" b="1" dirty="0">
                <a:solidFill>
                  <a:srgbClr val="05555E"/>
                </a:solidFill>
              </a:rPr>
              <a:t>VAL1   RN   R1 </a:t>
            </a:r>
            <a:r>
              <a:rPr lang="pt-BR" b="1" dirty="0">
                <a:solidFill>
                  <a:srgbClr val="88A2AA"/>
                </a:solidFill>
              </a:rPr>
              <a:t>; define VAL1 as a name for R1</a:t>
            </a:r>
          </a:p>
          <a:p>
            <a:pPr lvl="4"/>
            <a:r>
              <a:rPr lang="pt-BR" b="1" dirty="0">
                <a:solidFill>
                  <a:srgbClr val="05555E"/>
                </a:solidFill>
              </a:rPr>
              <a:t>VAL2   RN   R2 </a:t>
            </a:r>
            <a:r>
              <a:rPr lang="pt-BR" b="1" dirty="0">
                <a:solidFill>
                  <a:srgbClr val="88A2AA"/>
                </a:solidFill>
              </a:rPr>
              <a:t>; define VAL2 as a name for R2</a:t>
            </a:r>
          </a:p>
          <a:p>
            <a:pPr lvl="4"/>
            <a:r>
              <a:rPr lang="pt-BR" b="1" dirty="0">
                <a:solidFill>
                  <a:srgbClr val="05555E"/>
                </a:solidFill>
              </a:rPr>
              <a:t>SUM   RN   R3 </a:t>
            </a:r>
            <a:r>
              <a:rPr lang="pt-BR" b="1" dirty="0">
                <a:solidFill>
                  <a:srgbClr val="88A2AA"/>
                </a:solidFill>
              </a:rPr>
              <a:t>; define SUM as a name for R3</a:t>
            </a:r>
            <a:endParaRPr lang="fa-IR" b="1" dirty="0">
              <a:solidFill>
                <a:srgbClr val="88A2AA"/>
              </a:solidFill>
            </a:endParaRPr>
          </a:p>
          <a:p>
            <a:pPr lvl="4">
              <a:lnSpc>
                <a:spcPct val="150000"/>
              </a:lnSpc>
            </a:pP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6</a:t>
            </a:fld>
            <a:r>
              <a:rPr lang="en-US"/>
              <a:t>/18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2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Assembler Directives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457199" y="1284278"/>
            <a:ext cx="1101090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200" b="1" dirty="0">
                <a:sym typeface="Calibri"/>
              </a:rPr>
              <a:t>Directives: </a:t>
            </a:r>
            <a:r>
              <a:rPr lang="en-US" sz="2400" b="1" dirty="0">
                <a:solidFill>
                  <a:srgbClr val="05555E"/>
                </a:solidFill>
                <a:sym typeface="Calibri"/>
              </a:rPr>
              <a:t>INCLUDE</a:t>
            </a:r>
            <a:r>
              <a:rPr lang="en-US" sz="2200" b="1" dirty="0">
                <a:sym typeface="Calibri"/>
              </a:rPr>
              <a:t>  or </a:t>
            </a:r>
            <a:r>
              <a:rPr lang="en-US" sz="2400" b="1" dirty="0">
                <a:solidFill>
                  <a:srgbClr val="05555E"/>
                </a:solidFill>
                <a:sym typeface="Calibri"/>
              </a:rPr>
              <a:t>GET</a:t>
            </a:r>
          </a:p>
          <a:p>
            <a:pPr marL="800100" lvl="1" indent="-342900">
              <a:lnSpc>
                <a:spcPct val="150000"/>
              </a:lnSpc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200" b="1" dirty="0">
                <a:sym typeface="Calibri"/>
              </a:rPr>
              <a:t>Includes an assembly file. The included file is assembled at the location of the GET/INCLUDE directive.</a:t>
            </a:r>
            <a:endParaRPr lang="en-US" sz="2200" b="1" dirty="0"/>
          </a:p>
          <a:p>
            <a:pPr marL="800100" lvl="1" indent="-342900">
              <a:lnSpc>
                <a:spcPct val="150000"/>
              </a:lnSpc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200" b="1" dirty="0">
                <a:sym typeface="Calibri"/>
              </a:rPr>
              <a:t>NOTE: GET cannot be used to include object files</a:t>
            </a:r>
            <a:endParaRPr lang="en-US" sz="2200" b="1" dirty="0"/>
          </a:p>
          <a:p>
            <a:pPr marL="800100" lvl="1" indent="-34290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 sz="2200" b="1" dirty="0">
                <a:sym typeface="Calibri"/>
              </a:rPr>
              <a:t>EX: </a:t>
            </a:r>
          </a:p>
          <a:p>
            <a:pPr lvl="1">
              <a:lnSpc>
                <a:spcPct val="150000"/>
              </a:lnSpc>
              <a:buSzPct val="100000"/>
            </a:pPr>
            <a:r>
              <a:rPr lang="en-US" sz="2200" b="1" dirty="0">
                <a:sym typeface="Calibri"/>
              </a:rPr>
              <a:t>	</a:t>
            </a:r>
            <a:r>
              <a:rPr lang="en-US" sz="2200" b="1" dirty="0">
                <a:solidFill>
                  <a:srgbClr val="05555E"/>
                </a:solidFill>
                <a:sym typeface="Calibri"/>
              </a:rPr>
              <a:t>AREA Example, CODE, READONLY</a:t>
            </a:r>
            <a:endParaRPr lang="en-US" sz="2200" b="1" dirty="0">
              <a:solidFill>
                <a:srgbClr val="05555E"/>
              </a:solidFill>
            </a:endParaRPr>
          </a:p>
          <a:p>
            <a:pPr lvl="2">
              <a:lnSpc>
                <a:spcPct val="150000"/>
              </a:lnSpc>
            </a:pPr>
            <a:r>
              <a:rPr lang="en-US" sz="2200" b="1" dirty="0">
                <a:solidFill>
                  <a:srgbClr val="05555E"/>
                </a:solidFill>
                <a:sym typeface="Calibri"/>
              </a:rPr>
              <a:t>	GET file1.s</a:t>
            </a:r>
            <a:endParaRPr lang="en-US" sz="2200" b="1" dirty="0">
              <a:solidFill>
                <a:srgbClr val="05555E"/>
              </a:solidFill>
            </a:endParaRPr>
          </a:p>
          <a:p>
            <a:pPr lvl="2">
              <a:lnSpc>
                <a:spcPct val="150000"/>
              </a:lnSpc>
            </a:pPr>
            <a:r>
              <a:rPr lang="en-US" sz="2200" b="1" dirty="0">
                <a:solidFill>
                  <a:srgbClr val="05555E"/>
                </a:solidFill>
                <a:sym typeface="Calibri"/>
              </a:rPr>
              <a:t>	GET c:\project\file2.s</a:t>
            </a:r>
            <a:endParaRPr lang="en-US" sz="2200" b="1" dirty="0">
              <a:solidFill>
                <a:srgbClr val="05555E"/>
              </a:solidFill>
            </a:endParaRPr>
          </a:p>
          <a:p>
            <a:pPr lvl="2">
              <a:lnSpc>
                <a:spcPct val="150000"/>
              </a:lnSpc>
            </a:pPr>
            <a:r>
              <a:rPr lang="en-US" sz="2200" b="1" dirty="0">
                <a:solidFill>
                  <a:srgbClr val="05555E"/>
                </a:solidFill>
                <a:sym typeface="Calibri"/>
              </a:rPr>
              <a:t>	GET c:\Program files\file3.s</a:t>
            </a:r>
            <a:endParaRPr lang="en-US" sz="2200" b="1" dirty="0">
              <a:solidFill>
                <a:srgbClr val="05555E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7</a:t>
            </a:fld>
            <a:r>
              <a:rPr lang="en-US"/>
              <a:t>/18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637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B Titr" panose="00000700000000000000" pitchFamily="2" charset="-78"/>
              </a:rPr>
              <a:t>Assembler Data Allocation Directives</a:t>
            </a:r>
            <a:endParaRPr lang="en-US" sz="4000" dirty="0"/>
          </a:p>
        </p:txBody>
      </p:sp>
      <p:sp>
        <p:nvSpPr>
          <p:cNvPr id="28" name="TextBox 27"/>
          <p:cNvSpPr txBox="1"/>
          <p:nvPr/>
        </p:nvSpPr>
        <p:spPr>
          <a:xfrm>
            <a:off x="457199" y="1284278"/>
            <a:ext cx="10106025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Directives to allocate memory and initialize its value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Directives: </a:t>
            </a:r>
            <a:r>
              <a:rPr lang="en-US" sz="2400" b="1" dirty="0">
                <a:solidFill>
                  <a:srgbClr val="05555E"/>
                </a:solidFill>
              </a:rPr>
              <a:t>DCB</a:t>
            </a:r>
            <a:endParaRPr lang="fa-IR" sz="2400" b="1" dirty="0">
              <a:solidFill>
                <a:srgbClr val="05555E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define constant byte</a:t>
            </a:r>
          </a:p>
          <a:p>
            <a:pPr lvl="4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</a:rPr>
              <a:t>MYVALUE    DCB    5 </a:t>
            </a:r>
            <a:r>
              <a:rPr lang="en-US" b="1" dirty="0">
                <a:solidFill>
                  <a:srgbClr val="88A2AA"/>
                </a:solidFill>
              </a:rPr>
              <a:t>; MYVALUE = 5</a:t>
            </a:r>
          </a:p>
          <a:p>
            <a:pPr lvl="4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</a:rPr>
              <a:t>MYMSAGE    DCB    "HELLO WORLD" </a:t>
            </a:r>
            <a:r>
              <a:rPr lang="en-US" b="1" dirty="0">
                <a:solidFill>
                  <a:srgbClr val="88A2AA"/>
                </a:solidFill>
              </a:rPr>
              <a:t>; ASCII string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Each alphanumeric letter in a string is converted to its ASCII encoding value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Directives: </a:t>
            </a:r>
            <a:r>
              <a:rPr lang="en-US" sz="2200" b="1" dirty="0">
                <a:solidFill>
                  <a:srgbClr val="05555E"/>
                </a:solidFill>
              </a:rPr>
              <a:t>DCW</a:t>
            </a:r>
            <a:r>
              <a:rPr lang="en-US" sz="2200" b="1" dirty="0"/>
              <a:t> =&gt; define constant half-word</a:t>
            </a:r>
          </a:p>
          <a:p>
            <a:pPr lvl="4">
              <a:lnSpc>
                <a:spcPct val="150000"/>
              </a:lnSpc>
            </a:pPr>
            <a:r>
              <a:rPr lang="pl-PL" b="1" dirty="0">
                <a:solidFill>
                  <a:srgbClr val="05555E"/>
                </a:solidFill>
              </a:rPr>
              <a:t>MYDATA</a:t>
            </a:r>
            <a:r>
              <a:rPr lang="en-US" b="1" dirty="0">
                <a:solidFill>
                  <a:srgbClr val="05555E"/>
                </a:solidFill>
              </a:rPr>
              <a:t>   </a:t>
            </a:r>
            <a:r>
              <a:rPr lang="pl-PL" b="1" dirty="0">
                <a:solidFill>
                  <a:srgbClr val="05555E"/>
                </a:solidFill>
              </a:rPr>
              <a:t> DCW </a:t>
            </a:r>
            <a:r>
              <a:rPr lang="en-US" b="1" dirty="0">
                <a:solidFill>
                  <a:srgbClr val="05555E"/>
                </a:solidFill>
              </a:rPr>
              <a:t>   </a:t>
            </a:r>
            <a:r>
              <a:rPr lang="pl-PL" b="1" dirty="0">
                <a:solidFill>
                  <a:srgbClr val="05555E"/>
                </a:solidFill>
              </a:rPr>
              <a:t>0x20, 0xF230, 5000, 0x9CD7</a:t>
            </a:r>
            <a:endParaRPr lang="en-US" b="1" dirty="0">
              <a:solidFill>
                <a:srgbClr val="05555E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Directives: </a:t>
            </a:r>
            <a:r>
              <a:rPr lang="en-US" sz="2200" b="1" dirty="0">
                <a:solidFill>
                  <a:srgbClr val="05555E"/>
                </a:solidFill>
              </a:rPr>
              <a:t>DCD</a:t>
            </a:r>
            <a:r>
              <a:rPr lang="en-US" sz="2200" b="1" dirty="0">
                <a:solidFill>
                  <a:srgbClr val="C00000"/>
                </a:solidFill>
              </a:rPr>
              <a:t> </a:t>
            </a:r>
            <a:r>
              <a:rPr lang="en-US" sz="2200" b="1" dirty="0"/>
              <a:t>=&gt; define constant word</a:t>
            </a:r>
          </a:p>
          <a:p>
            <a:pPr lvl="4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</a:rPr>
              <a:t>MYDATA    DCD    0x200000, 0x30F5, 5000000, 0xFFFF9CD7</a:t>
            </a:r>
          </a:p>
          <a:p>
            <a:pPr lvl="4">
              <a:lnSpc>
                <a:spcPct val="150000"/>
              </a:lnSpc>
            </a:pP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8</a:t>
            </a:fld>
            <a:r>
              <a:rPr lang="en-US"/>
              <a:t>/18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858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B Titr" panose="00000700000000000000" pitchFamily="2" charset="-78"/>
              </a:rPr>
              <a:t>Assembler Data Allocation Directives</a:t>
            </a:r>
            <a:endParaRPr lang="en-US" sz="4000" dirty="0"/>
          </a:p>
        </p:txBody>
      </p:sp>
      <p:sp>
        <p:nvSpPr>
          <p:cNvPr id="28" name="TextBox 27"/>
          <p:cNvSpPr txBox="1"/>
          <p:nvPr/>
        </p:nvSpPr>
        <p:spPr>
          <a:xfrm>
            <a:off x="457199" y="1284278"/>
            <a:ext cx="1010602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An sample program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lvl="2"/>
            <a:r>
              <a:rPr lang="en-US" b="1" dirty="0">
                <a:solidFill>
                  <a:srgbClr val="05555E"/>
                </a:solidFill>
              </a:rPr>
              <a:t>  AREA LOOKUP_EXAMPLE, READONLY, CODE</a:t>
            </a:r>
          </a:p>
          <a:p>
            <a:pPr lvl="2"/>
            <a:r>
              <a:rPr lang="en-US" b="1" dirty="0">
                <a:solidFill>
                  <a:srgbClr val="05555E"/>
                </a:solidFill>
              </a:rPr>
              <a:t>  LDR   R2,   =OUR_FIXED_DATA </a:t>
            </a:r>
            <a:r>
              <a:rPr lang="en-US" b="1" dirty="0">
                <a:solidFill>
                  <a:srgbClr val="88A2AA"/>
                </a:solidFill>
              </a:rPr>
              <a:t>; point to OUR_FIXED_DATA</a:t>
            </a:r>
          </a:p>
          <a:p>
            <a:pPr lvl="2"/>
            <a:r>
              <a:rPr lang="en-US" b="1" dirty="0">
                <a:solidFill>
                  <a:srgbClr val="05555E"/>
                </a:solidFill>
              </a:rPr>
              <a:t>  LDRB   R0,   [R2] </a:t>
            </a:r>
            <a:r>
              <a:rPr lang="en-US" b="1" dirty="0">
                <a:solidFill>
                  <a:srgbClr val="88A2AA"/>
                </a:solidFill>
              </a:rPr>
              <a:t>; load R0 with the contents  of memory pointed to by R2</a:t>
            </a:r>
          </a:p>
          <a:p>
            <a:pPr lvl="2"/>
            <a:r>
              <a:rPr lang="en-US" b="1" dirty="0">
                <a:solidFill>
                  <a:srgbClr val="05555E"/>
                </a:solidFill>
              </a:rPr>
              <a:t>  ADD R1, R1, R0 </a:t>
            </a:r>
            <a:r>
              <a:rPr lang="en-US" b="1" dirty="0">
                <a:solidFill>
                  <a:srgbClr val="88A2AA"/>
                </a:solidFill>
              </a:rPr>
              <a:t>; add R0 to R1</a:t>
            </a:r>
          </a:p>
          <a:p>
            <a:pPr lvl="1"/>
            <a:r>
              <a:rPr lang="en-US" b="1" dirty="0">
                <a:solidFill>
                  <a:srgbClr val="05555E"/>
                </a:solidFill>
              </a:rPr>
              <a:t>HERE B HERE </a:t>
            </a:r>
            <a:r>
              <a:rPr lang="en-US" b="1" dirty="0">
                <a:solidFill>
                  <a:srgbClr val="88A2AA"/>
                </a:solidFill>
              </a:rPr>
              <a:t>; stay here forever</a:t>
            </a:r>
          </a:p>
          <a:p>
            <a:pPr lvl="2"/>
            <a:r>
              <a:rPr lang="en-US" b="1" dirty="0">
                <a:solidFill>
                  <a:srgbClr val="05555E"/>
                </a:solidFill>
              </a:rPr>
              <a:t> OUR_FIXED_DATA</a:t>
            </a:r>
          </a:p>
          <a:p>
            <a:pPr lvl="2"/>
            <a:r>
              <a:rPr lang="en-US" b="1" dirty="0">
                <a:solidFill>
                  <a:srgbClr val="05555E"/>
                </a:solidFill>
              </a:rPr>
              <a:t> DCB   0x55,  0x33, 1, 2, 3, 4, 5, 6 		</a:t>
            </a:r>
          </a:p>
          <a:p>
            <a:pPr lvl="2"/>
            <a:r>
              <a:rPr lang="en-US" b="1" dirty="0">
                <a:solidFill>
                  <a:srgbClr val="05555E"/>
                </a:solidFill>
              </a:rPr>
              <a:t> DCD   0x23222120, 0x30</a:t>
            </a:r>
          </a:p>
          <a:p>
            <a:pPr lvl="2"/>
            <a:r>
              <a:rPr lang="en-US" b="1" dirty="0">
                <a:solidFill>
                  <a:srgbClr val="05555E"/>
                </a:solidFill>
              </a:rPr>
              <a:t> DCW   0x4540, 0x50</a:t>
            </a:r>
          </a:p>
          <a:p>
            <a:pPr lvl="2"/>
            <a:r>
              <a:rPr lang="en-US" b="1" dirty="0">
                <a:solidFill>
                  <a:srgbClr val="05555E"/>
                </a:solidFill>
              </a:rPr>
              <a:t> END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26"/>
          <a:stretch/>
        </p:blipFill>
        <p:spPr bwMode="auto">
          <a:xfrm>
            <a:off x="5050264" y="4010288"/>
            <a:ext cx="6648094" cy="1978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1476374" y="2501493"/>
            <a:ext cx="2905125" cy="308382"/>
          </a:xfrm>
          <a:prstGeom prst="rect">
            <a:avLst/>
          </a:prstGeom>
          <a:noFill/>
          <a:ln w="28575">
            <a:solidFill>
              <a:srgbClr val="055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405311" y="2371725"/>
            <a:ext cx="4590761" cy="437085"/>
          </a:xfrm>
          <a:prstGeom prst="bentConnector3">
            <a:avLst>
              <a:gd name="adj1" fmla="val 73860"/>
            </a:avLst>
          </a:prstGeom>
          <a:ln w="28575">
            <a:solidFill>
              <a:srgbClr val="05555E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019884" y="2187059"/>
            <a:ext cx="29387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ADR   R2,   OUR_FIXED_DATA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9</a:t>
            </a:fld>
            <a:r>
              <a:rPr lang="en-US"/>
              <a:t>/18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15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B Titr" panose="00000700000000000000" pitchFamily="2" charset="-78"/>
              </a:rPr>
              <a:t>Assembler Data Allocation Directives</a:t>
            </a:r>
            <a:endParaRPr lang="en-US" sz="4000" dirty="0"/>
          </a:p>
        </p:txBody>
      </p:sp>
      <p:sp>
        <p:nvSpPr>
          <p:cNvPr id="28" name="TextBox 27"/>
          <p:cNvSpPr txBox="1"/>
          <p:nvPr/>
        </p:nvSpPr>
        <p:spPr>
          <a:xfrm>
            <a:off x="457199" y="1436678"/>
            <a:ext cx="1010602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Directives to allocate memory and initialize its value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Directives: </a:t>
            </a:r>
            <a:r>
              <a:rPr lang="en-US" sz="2400" b="1" dirty="0">
                <a:solidFill>
                  <a:srgbClr val="05555E"/>
                </a:solidFill>
              </a:rPr>
              <a:t>SPACE </a:t>
            </a:r>
            <a:r>
              <a:rPr lang="en-US" sz="24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and </a:t>
            </a:r>
            <a:r>
              <a:rPr lang="en-US" sz="2400" b="1" dirty="0">
                <a:solidFill>
                  <a:srgbClr val="05555E"/>
                </a:solidFill>
                <a:sym typeface="Calibri"/>
              </a:rPr>
              <a:t>FILL</a:t>
            </a:r>
            <a:endParaRPr lang="fa-IR" sz="2400" b="1" dirty="0">
              <a:solidFill>
                <a:srgbClr val="05555E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To allocate memory for variables without initial values</a:t>
            </a:r>
          </a:p>
          <a:p>
            <a:pPr lvl="4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</a:rPr>
              <a:t>LONG_VAR SPACE 4 </a:t>
            </a:r>
            <a:r>
              <a:rPr lang="en-US" b="1" dirty="0">
                <a:solidFill>
                  <a:srgbClr val="88A2AA"/>
                </a:solidFill>
              </a:rPr>
              <a:t>; Allocate 4 bytes</a:t>
            </a:r>
          </a:p>
          <a:p>
            <a:pPr lvl="4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</a:rPr>
              <a:t>OUR_ALFA SPACE 2 </a:t>
            </a:r>
            <a:r>
              <a:rPr lang="en-US" b="1" dirty="0">
                <a:solidFill>
                  <a:srgbClr val="88A2AA"/>
                </a:solidFill>
              </a:rPr>
              <a:t>; Allocate 2 bytes</a:t>
            </a:r>
          </a:p>
          <a:p>
            <a:pPr marL="804672" lvl="0" indent="-347472">
              <a:lnSpc>
                <a:spcPct val="150000"/>
              </a:lnSpc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200" b="1" dirty="0">
                <a:sym typeface="Calibri"/>
              </a:rPr>
              <a:t>FILL directive reserves a block of memory to fill with the given value</a:t>
            </a:r>
            <a:endParaRPr lang="en-US" sz="2200" b="1" dirty="0"/>
          </a:p>
          <a:p>
            <a:pPr marL="804672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ym typeface="Calibri"/>
              </a:rPr>
              <a:t>Ex: </a:t>
            </a:r>
          </a:p>
          <a:p>
            <a:pPr marL="461772" lvl="0">
              <a:lnSpc>
                <a:spcPct val="150000"/>
              </a:lnSpc>
            </a:pPr>
            <a:r>
              <a:rPr lang="en-US" sz="2200" b="1" dirty="0">
                <a:solidFill>
                  <a:srgbClr val="05555E"/>
                </a:solidFill>
                <a:sym typeface="Calibri"/>
              </a:rPr>
              <a:t>	AREA Example, DATA, READWRITE</a:t>
            </a:r>
            <a:endParaRPr lang="en-US" sz="2200" b="1" dirty="0">
              <a:solidFill>
                <a:srgbClr val="05555E"/>
              </a:solidFill>
            </a:endParaRPr>
          </a:p>
          <a:p>
            <a:pPr marL="457200" lvl="0">
              <a:lnSpc>
                <a:spcPct val="150000"/>
              </a:lnSpc>
            </a:pPr>
            <a:r>
              <a:rPr lang="en-US" sz="2200" b="1" dirty="0">
                <a:solidFill>
                  <a:srgbClr val="05555E"/>
                </a:solidFill>
                <a:sym typeface="Calibri"/>
              </a:rPr>
              <a:t>		Data1 Space 255   </a:t>
            </a:r>
            <a:endParaRPr lang="en-US" sz="2200" b="1" dirty="0">
              <a:solidFill>
                <a:srgbClr val="05555E"/>
              </a:solidFill>
            </a:endParaRPr>
          </a:p>
          <a:p>
            <a:pPr marL="457200" lvl="0">
              <a:lnSpc>
                <a:spcPct val="150000"/>
              </a:lnSpc>
            </a:pPr>
            <a:r>
              <a:rPr lang="en-US" sz="2200" b="1" dirty="0">
                <a:solidFill>
                  <a:srgbClr val="05555E"/>
                </a:solidFill>
                <a:sym typeface="Calibri"/>
              </a:rPr>
              <a:t>		Data2 FILL 50, 0xAB, 1  </a:t>
            </a:r>
            <a:r>
              <a:rPr lang="en-US" sz="2200" b="1" dirty="0">
                <a:solidFill>
                  <a:srgbClr val="88A2AA"/>
                </a:solidFill>
                <a:sym typeface="Calibri"/>
              </a:rPr>
              <a:t>; defines 50 bytes containing 0xAB</a:t>
            </a:r>
            <a:endParaRPr lang="en-US" sz="2200" b="1" dirty="0">
              <a:solidFill>
                <a:srgbClr val="88A2AA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10</a:t>
            </a:fld>
            <a:r>
              <a:rPr lang="en-US"/>
              <a:t>/18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924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B Titr" panose="00000700000000000000" pitchFamily="2" charset="-78"/>
              </a:rPr>
              <a:t>Assembler Data Allocation Directives</a:t>
            </a:r>
            <a:endParaRPr lang="en-US" sz="4000" dirty="0"/>
          </a:p>
        </p:txBody>
      </p:sp>
      <p:sp>
        <p:nvSpPr>
          <p:cNvPr id="28" name="TextBox 27"/>
          <p:cNvSpPr txBox="1"/>
          <p:nvPr/>
        </p:nvSpPr>
        <p:spPr>
          <a:xfrm>
            <a:off x="457199" y="1436678"/>
            <a:ext cx="10106025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Directives: </a:t>
            </a:r>
            <a:r>
              <a:rPr lang="en-US" sz="2400" b="1" dirty="0">
                <a:solidFill>
                  <a:srgbClr val="05555E"/>
                </a:solidFill>
              </a:rPr>
              <a:t>ALIGN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b="1" dirty="0"/>
              <a:t>To make sure data is aligned on the 32-bit word or 16-bit half  word address boundary</a:t>
            </a:r>
          </a:p>
          <a:p>
            <a:pPr lvl="3"/>
            <a:r>
              <a:rPr lang="en-US" b="1" dirty="0">
                <a:solidFill>
                  <a:srgbClr val="05555E"/>
                </a:solidFill>
              </a:rPr>
              <a:t>ALIGN 4 </a:t>
            </a:r>
            <a:r>
              <a:rPr lang="en-US" b="1" dirty="0">
                <a:solidFill>
                  <a:srgbClr val="88A2AA"/>
                </a:solidFill>
              </a:rPr>
              <a:t>; the next instruction is word (4 bytes) aligned</a:t>
            </a:r>
          </a:p>
          <a:p>
            <a:pPr lvl="3"/>
            <a:r>
              <a:rPr lang="en-US" b="1" dirty="0">
                <a:solidFill>
                  <a:srgbClr val="05555E"/>
                </a:solidFill>
              </a:rPr>
              <a:t>...</a:t>
            </a:r>
          </a:p>
          <a:p>
            <a:pPr lvl="3"/>
            <a:r>
              <a:rPr lang="en-US" b="1" dirty="0">
                <a:solidFill>
                  <a:srgbClr val="05555E"/>
                </a:solidFill>
              </a:rPr>
              <a:t>ALIGN 2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88A2AA"/>
                </a:solidFill>
              </a:rPr>
              <a:t>; the next instruction is half-word (2 bytes) aligned</a:t>
            </a:r>
          </a:p>
          <a:p>
            <a:pPr lvl="3"/>
            <a:r>
              <a:rPr lang="en-US" b="1" dirty="0">
                <a:solidFill>
                  <a:srgbClr val="05555E"/>
                </a:solidFill>
              </a:rPr>
              <a:t>...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11</a:t>
            </a:fld>
            <a:r>
              <a:rPr lang="en-US"/>
              <a:t>/18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626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B Titr" panose="00000700000000000000" pitchFamily="2" charset="-78"/>
              </a:rPr>
              <a:t>Assembler Data Allocation Directives</a:t>
            </a:r>
            <a:endParaRPr lang="en-US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542925" y="1287245"/>
            <a:ext cx="8458200" cy="1225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Directives: </a:t>
            </a:r>
            <a:r>
              <a:rPr lang="en-US" sz="2400" b="1" dirty="0">
                <a:solidFill>
                  <a:srgbClr val="05555E"/>
                </a:solidFill>
              </a:rPr>
              <a:t>ALIGN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90599" y="1933977"/>
            <a:ext cx="372427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       </a:t>
            </a:r>
            <a:r>
              <a:rPr lang="pt-BR" b="1" dirty="0">
                <a:solidFill>
                  <a:srgbClr val="05555E"/>
                </a:solidFill>
              </a:rPr>
              <a:t>AREA E2_7A, READONLY, CODE</a:t>
            </a:r>
            <a:br>
              <a:rPr lang="pt-BR" b="1" dirty="0">
                <a:solidFill>
                  <a:srgbClr val="05555E"/>
                </a:solidFill>
              </a:rPr>
            </a:br>
            <a:r>
              <a:rPr lang="pt-BR" b="1" dirty="0">
                <a:solidFill>
                  <a:srgbClr val="05555E"/>
                </a:solidFill>
              </a:rPr>
              <a:t>       ADR R2, DTA</a:t>
            </a:r>
            <a:br>
              <a:rPr lang="pt-BR" b="1" dirty="0">
                <a:solidFill>
                  <a:srgbClr val="05555E"/>
                </a:solidFill>
              </a:rPr>
            </a:br>
            <a:r>
              <a:rPr lang="pt-BR" b="1" dirty="0">
                <a:solidFill>
                  <a:srgbClr val="05555E"/>
                </a:solidFill>
              </a:rPr>
              <a:t>       LDRB R0, [R2]</a:t>
            </a:r>
            <a:br>
              <a:rPr lang="pt-BR" b="1" dirty="0">
                <a:solidFill>
                  <a:srgbClr val="05555E"/>
                </a:solidFill>
              </a:rPr>
            </a:br>
            <a:r>
              <a:rPr lang="pt-BR" b="1" dirty="0">
                <a:solidFill>
                  <a:srgbClr val="05555E"/>
                </a:solidFill>
              </a:rPr>
              <a:t>       ADD R1, R1, R0</a:t>
            </a:r>
            <a:r>
              <a:rPr lang="pt-BR" dirty="0">
                <a:solidFill>
                  <a:srgbClr val="05555E"/>
                </a:solidFill>
              </a:rPr>
              <a:t/>
            </a:r>
            <a:br>
              <a:rPr lang="pt-BR" dirty="0">
                <a:solidFill>
                  <a:srgbClr val="05555E"/>
                </a:solidFill>
              </a:rPr>
            </a:br>
            <a:r>
              <a:rPr lang="pt-BR" b="1" dirty="0">
                <a:solidFill>
                  <a:srgbClr val="05555E"/>
                </a:solidFill>
              </a:rPr>
              <a:t>H1   B H1</a:t>
            </a:r>
            <a:br>
              <a:rPr lang="pt-BR" b="1" dirty="0">
                <a:solidFill>
                  <a:srgbClr val="05555E"/>
                </a:solidFill>
              </a:rPr>
            </a:br>
            <a:r>
              <a:rPr lang="pt-BR" b="1" dirty="0">
                <a:solidFill>
                  <a:srgbClr val="05555E"/>
                </a:solidFill>
              </a:rPr>
              <a:t>DTA DCB 0x55</a:t>
            </a:r>
            <a:br>
              <a:rPr lang="pt-BR" b="1" dirty="0">
                <a:solidFill>
                  <a:srgbClr val="05555E"/>
                </a:solidFill>
              </a:rPr>
            </a:br>
            <a:r>
              <a:rPr lang="pt-BR" b="1" dirty="0">
                <a:solidFill>
                  <a:srgbClr val="05555E"/>
                </a:solidFill>
              </a:rPr>
              <a:t>         DCB 0x22</a:t>
            </a:r>
            <a:br>
              <a:rPr lang="pt-BR" b="1" dirty="0">
                <a:solidFill>
                  <a:srgbClr val="05555E"/>
                </a:solidFill>
              </a:rPr>
            </a:br>
            <a:r>
              <a:rPr lang="pt-BR" b="1" dirty="0">
                <a:solidFill>
                  <a:srgbClr val="05555E"/>
                </a:solidFill>
              </a:rPr>
              <a:t>   END</a:t>
            </a:r>
            <a:r>
              <a:rPr lang="pt-BR" dirty="0">
                <a:solidFill>
                  <a:srgbClr val="05555E"/>
                </a:solidFill>
              </a:rPr>
              <a:t> </a:t>
            </a:r>
            <a:endParaRPr lang="en-US" dirty="0">
              <a:solidFill>
                <a:srgbClr val="05555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14220" y="2191061"/>
            <a:ext cx="2133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5555E"/>
                </a:solidFill>
              </a:rPr>
              <a:t>DTA DCB 0x55</a:t>
            </a:r>
            <a:br>
              <a:rPr lang="en-US" b="1" dirty="0">
                <a:solidFill>
                  <a:srgbClr val="05555E"/>
                </a:solidFill>
              </a:rPr>
            </a:br>
            <a:r>
              <a:rPr lang="en-US" b="1" dirty="0">
                <a:solidFill>
                  <a:srgbClr val="05555E"/>
                </a:solidFill>
              </a:rPr>
              <a:t>ALIGN 2</a:t>
            </a:r>
            <a:br>
              <a:rPr lang="en-US" b="1" dirty="0">
                <a:solidFill>
                  <a:srgbClr val="05555E"/>
                </a:solidFill>
              </a:rPr>
            </a:br>
            <a:r>
              <a:rPr lang="en-US" b="1" dirty="0">
                <a:solidFill>
                  <a:srgbClr val="05555E"/>
                </a:solidFill>
              </a:rPr>
              <a:t>DCB 0x22</a:t>
            </a:r>
            <a:br>
              <a:rPr lang="en-US" b="1" dirty="0">
                <a:solidFill>
                  <a:srgbClr val="05555E"/>
                </a:solidFill>
              </a:rPr>
            </a:br>
            <a:r>
              <a:rPr lang="en-US" b="1" dirty="0">
                <a:solidFill>
                  <a:srgbClr val="05555E"/>
                </a:solidFill>
              </a:rPr>
              <a:t>END</a:t>
            </a:r>
            <a:r>
              <a:rPr lang="en-US" dirty="0">
                <a:solidFill>
                  <a:srgbClr val="05555E"/>
                </a:solidFill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6114220" y="4346358"/>
            <a:ext cx="2057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5555E"/>
                </a:solidFill>
              </a:rPr>
              <a:t>DTA DCB 0x55</a:t>
            </a:r>
            <a:br>
              <a:rPr lang="en-US" b="1" dirty="0">
                <a:solidFill>
                  <a:srgbClr val="05555E"/>
                </a:solidFill>
              </a:rPr>
            </a:br>
            <a:r>
              <a:rPr lang="en-US" b="1" dirty="0">
                <a:solidFill>
                  <a:srgbClr val="05555E"/>
                </a:solidFill>
              </a:rPr>
              <a:t>ALIGN 4</a:t>
            </a:r>
            <a:br>
              <a:rPr lang="en-US" b="1" dirty="0">
                <a:solidFill>
                  <a:srgbClr val="05555E"/>
                </a:solidFill>
              </a:rPr>
            </a:br>
            <a:r>
              <a:rPr lang="en-US" b="1" dirty="0">
                <a:solidFill>
                  <a:srgbClr val="05555E"/>
                </a:solidFill>
              </a:rPr>
              <a:t>DCB 0x22</a:t>
            </a:r>
            <a:br>
              <a:rPr lang="en-US" b="1" dirty="0">
                <a:solidFill>
                  <a:srgbClr val="05555E"/>
                </a:solidFill>
              </a:rPr>
            </a:br>
            <a:r>
              <a:rPr lang="en-US" b="1" dirty="0">
                <a:solidFill>
                  <a:srgbClr val="05555E"/>
                </a:solidFill>
              </a:rPr>
              <a:t>END</a:t>
            </a:r>
            <a:r>
              <a:rPr lang="en-US" dirty="0">
                <a:solidFill>
                  <a:srgbClr val="05555E"/>
                </a:solidFill>
              </a:rPr>
              <a:t> 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99" y="4494353"/>
            <a:ext cx="38385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2900" y="1972077"/>
            <a:ext cx="382905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2900" y="4116473"/>
            <a:ext cx="382905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809624" y="3330438"/>
            <a:ext cx="1919287" cy="911145"/>
          </a:xfrm>
          <a:prstGeom prst="rect">
            <a:avLst/>
          </a:prstGeom>
          <a:noFill/>
          <a:ln w="28575">
            <a:solidFill>
              <a:srgbClr val="88A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924549" y="2119389"/>
            <a:ext cx="1919287" cy="1315824"/>
          </a:xfrm>
          <a:prstGeom prst="rect">
            <a:avLst/>
          </a:prstGeom>
          <a:noFill/>
          <a:ln w="28575">
            <a:solidFill>
              <a:srgbClr val="88A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924549" y="4288610"/>
            <a:ext cx="1919287" cy="1315824"/>
          </a:xfrm>
          <a:prstGeom prst="rect">
            <a:avLst/>
          </a:prstGeom>
          <a:noFill/>
          <a:ln w="28575">
            <a:solidFill>
              <a:srgbClr val="88A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2852736" y="2640925"/>
            <a:ext cx="2947989" cy="1145087"/>
          </a:xfrm>
          <a:prstGeom prst="bentConnector3">
            <a:avLst>
              <a:gd name="adj1" fmla="val 83926"/>
            </a:avLst>
          </a:prstGeom>
          <a:ln w="28575">
            <a:solidFill>
              <a:srgbClr val="88A2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16"/>
          <p:cNvCxnSpPr/>
          <p:nvPr/>
        </p:nvCxnSpPr>
        <p:spPr>
          <a:xfrm>
            <a:off x="2851906" y="3786010"/>
            <a:ext cx="2947989" cy="1145087"/>
          </a:xfrm>
          <a:prstGeom prst="bentConnector3">
            <a:avLst>
              <a:gd name="adj1" fmla="val 83926"/>
            </a:avLst>
          </a:prstGeom>
          <a:ln w="28575">
            <a:solidFill>
              <a:srgbClr val="88A2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12</a:t>
            </a:fld>
            <a:r>
              <a:rPr lang="en-US" dirty="0"/>
              <a:t>/18</a:t>
            </a:r>
          </a:p>
        </p:txBody>
      </p:sp>
    </p:spTree>
    <p:extLst>
      <p:ext uri="{BB962C8B-B14F-4D97-AF65-F5344CB8AC3E}">
        <p14:creationId xmlns:p14="http://schemas.microsoft.com/office/powerpoint/2010/main" val="2562022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3" grpId="0" animBg="1"/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B Titr" panose="00000700000000000000" pitchFamily="2" charset="-78"/>
              </a:rPr>
              <a:t>Rules for Labels in Assembly Language</a:t>
            </a:r>
            <a:endParaRPr lang="en-US" sz="4000" dirty="0"/>
          </a:p>
        </p:txBody>
      </p:sp>
      <p:sp>
        <p:nvSpPr>
          <p:cNvPr id="28" name="TextBox 27"/>
          <p:cNvSpPr txBox="1"/>
          <p:nvPr/>
        </p:nvSpPr>
        <p:spPr>
          <a:xfrm>
            <a:off x="546027" y="1446203"/>
            <a:ext cx="10106025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Each label name must be unique in the file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label names consist of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65838D"/>
                </a:solidFill>
              </a:rPr>
              <a:t>Alphabetic letters in both uppercase and lowercase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65838D"/>
                </a:solidFill>
              </a:rPr>
              <a:t>The digits 0 through 9, and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65838D"/>
                </a:solidFill>
              </a:rPr>
              <a:t>The special characters underscore ‘_’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The first character of the label must be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An alphabetical letter or underscore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Cannot be a numeral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Cannot be reserved words (ADD, MOV, …)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13</a:t>
            </a:fld>
            <a:r>
              <a:rPr lang="en-US"/>
              <a:t>/18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26" t="5882" r="7212"/>
          <a:stretch/>
        </p:blipFill>
        <p:spPr>
          <a:xfrm>
            <a:off x="7629525" y="2828716"/>
            <a:ext cx="4394127" cy="374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53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3551" y="1189231"/>
            <a:ext cx="7959090" cy="44795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Creating an ARM Assembly Program</a:t>
            </a:r>
            <a:endParaRPr lang="en-US" sz="4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14</a:t>
            </a:fld>
            <a:r>
              <a:rPr lang="en-US"/>
              <a:t>/18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703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cs typeface="B Titr" panose="00000700000000000000" pitchFamily="2" charset="-78"/>
              </a:rPr>
              <a:t>Creating an ARM Assembly Program</a:t>
            </a:r>
            <a:endParaRPr lang="en-US" sz="4000" dirty="0"/>
          </a:p>
        </p:txBody>
      </p:sp>
      <p:sp>
        <p:nvSpPr>
          <p:cNvPr id="6" name="TextBox 5"/>
          <p:cNvSpPr txBox="1"/>
          <p:nvPr/>
        </p:nvSpPr>
        <p:spPr>
          <a:xfrm>
            <a:off x="546027" y="1627639"/>
            <a:ext cx="1010602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Steps to create a program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658" y="1922175"/>
            <a:ext cx="4836634" cy="413129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15</a:t>
            </a:fld>
            <a:r>
              <a:rPr lang="en-US"/>
              <a:t>/18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91" t="7222" r="5405" b="9722"/>
          <a:stretch/>
        </p:blipFill>
        <p:spPr>
          <a:xfrm>
            <a:off x="838200" y="3160138"/>
            <a:ext cx="3256333" cy="230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2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cs typeface="B Titr" panose="00000700000000000000" pitchFamily="2" charset="-78"/>
              </a:rPr>
              <a:t>Creating an ARM Assembly Program</a:t>
            </a:r>
            <a:endParaRPr lang="en-US" sz="4000" dirty="0"/>
          </a:p>
        </p:txBody>
      </p:sp>
      <p:sp>
        <p:nvSpPr>
          <p:cNvPr id="6" name="TextBox 5"/>
          <p:cNvSpPr txBox="1"/>
          <p:nvPr/>
        </p:nvSpPr>
        <p:spPr>
          <a:xfrm>
            <a:off x="546027" y="1627639"/>
            <a:ext cx="1010602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Sample of a </a:t>
            </a:r>
            <a:r>
              <a:rPr lang="en-US" sz="2400" b="1" dirty="0">
                <a:solidFill>
                  <a:srgbClr val="C00000"/>
                </a:solidFill>
              </a:rPr>
              <a:t>Map File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927" y="2502754"/>
            <a:ext cx="9001125" cy="3431263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16</a:t>
            </a:fld>
            <a:r>
              <a:rPr lang="en-US"/>
              <a:t>/18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536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cs typeface="B Titr" panose="00000700000000000000" pitchFamily="2" charset="-78"/>
              </a:rPr>
              <a:t>Creating an ARM Assembly Program</a:t>
            </a:r>
            <a:endParaRPr lang="en-US" sz="4000" dirty="0"/>
          </a:p>
        </p:txBody>
      </p:sp>
      <p:sp>
        <p:nvSpPr>
          <p:cNvPr id="6" name="TextBox 5"/>
          <p:cNvSpPr txBox="1"/>
          <p:nvPr/>
        </p:nvSpPr>
        <p:spPr>
          <a:xfrm>
            <a:off x="546027" y="1627639"/>
            <a:ext cx="1010602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Sample of a </a:t>
            </a:r>
            <a:r>
              <a:rPr lang="en-US" sz="2400" b="1" dirty="0">
                <a:solidFill>
                  <a:srgbClr val="C00000"/>
                </a:solidFill>
              </a:rPr>
              <a:t>List File</a:t>
            </a:r>
            <a:endParaRPr lang="en-US" sz="24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2953202"/>
            <a:ext cx="9581594" cy="2590993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17</a:t>
            </a:fld>
            <a:r>
              <a:rPr lang="en-US"/>
              <a:t>/18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145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cs typeface="B Titr" panose="00000700000000000000" pitchFamily="2" charset="-78"/>
              </a:rPr>
              <a:t>Power up Location for ARM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46027" y="1532389"/>
            <a:ext cx="10106025" cy="4892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Q: At what address does the CPU wake up to when power is applied or when the CPU is reset?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ARM7 microcontrollers: </a:t>
            </a:r>
            <a:r>
              <a:rPr lang="en-US" sz="2200" b="1" dirty="0">
                <a:solidFill>
                  <a:srgbClr val="C00000"/>
                </a:solidFill>
              </a:rPr>
              <a:t>0x00000000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The first instruction is expected to be stored here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C00000"/>
                </a:solidFill>
              </a:rPr>
              <a:t>BUT</a:t>
            </a:r>
            <a:r>
              <a:rPr lang="en-US" sz="2400" b="1" dirty="0"/>
              <a:t>, ARM Cortex-M is different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Reads from 0x00000004-0x00000007 </a:t>
            </a:r>
            <a:r>
              <a:rPr lang="en-US" sz="2200" b="1" dirty="0">
                <a:solidFill>
                  <a:srgbClr val="C00000"/>
                </a:solidFill>
              </a:rPr>
              <a:t>and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Put them into the program counter, </a:t>
            </a:r>
            <a:r>
              <a:rPr lang="en-US" sz="2200" b="1" dirty="0">
                <a:solidFill>
                  <a:srgbClr val="C00000"/>
                </a:solidFill>
              </a:rPr>
              <a:t>then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CPU fetches the first instruction using the content of PC</a:t>
            </a:r>
            <a:endParaRPr lang="en-US" sz="2200" b="1" dirty="0">
              <a:solidFill>
                <a:srgbClr val="C00000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65838D"/>
                </a:solidFill>
              </a:rPr>
              <a:t>The programmer (working with the software tools) shall put the starting address of the program at memory location 0x00000004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18</a:t>
            </a:fld>
            <a:r>
              <a:rPr lang="en-US"/>
              <a:t>/18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48" r="30354" b="22917"/>
          <a:stretch/>
        </p:blipFill>
        <p:spPr>
          <a:xfrm>
            <a:off x="8709729" y="2277737"/>
            <a:ext cx="2805996" cy="275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10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873</Words>
  <Application>Microsoft Office PowerPoint</Application>
  <PresentationFormat>Custom</PresentationFormat>
  <Paragraphs>147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 Microprocessors  and  Assembly Language   Lecture 17    Hamed Farbeh farbeh@aut.ac.ir Fall 2024</vt:lpstr>
      <vt:lpstr>Copyright Notice</vt:lpstr>
      <vt:lpstr>ARM Data Format, Pseudo-instructions and Directives (cont.)</vt:lpstr>
      <vt:lpstr>Assembler Directives</vt:lpstr>
      <vt:lpstr>Assembler Directives</vt:lpstr>
      <vt:lpstr>Assembler Directives</vt:lpstr>
      <vt:lpstr>Assembler Directives</vt:lpstr>
      <vt:lpstr>Assembler Data Allocation Directives</vt:lpstr>
      <vt:lpstr>Assembler Data Allocation Directives</vt:lpstr>
      <vt:lpstr>Assembler Data Allocation Directives</vt:lpstr>
      <vt:lpstr>Assembler Data Allocation Directives</vt:lpstr>
      <vt:lpstr>Assembler Data Allocation Directives</vt:lpstr>
      <vt:lpstr>Rules for Labels in Assembly Language</vt:lpstr>
      <vt:lpstr>Creating an ARM Assembly Program</vt:lpstr>
      <vt:lpstr>Creating an ARM Assembly Program</vt:lpstr>
      <vt:lpstr>Creating an ARM Assembly Program</vt:lpstr>
      <vt:lpstr>Creating an ARM Assembly Program</vt:lpstr>
      <vt:lpstr>Power up Location for ARM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Fatemeh Valeh</dc:creator>
  <cp:lastModifiedBy>Hamed</cp:lastModifiedBy>
  <cp:revision>61</cp:revision>
  <dcterms:created xsi:type="dcterms:W3CDTF">2022-09-03T16:31:37Z</dcterms:created>
  <dcterms:modified xsi:type="dcterms:W3CDTF">2024-08-19T11:33:03Z</dcterms:modified>
</cp:coreProperties>
</file>