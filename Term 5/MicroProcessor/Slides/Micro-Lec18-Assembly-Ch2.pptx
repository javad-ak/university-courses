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58" r:id="rId4"/>
    <p:sldId id="257" r:id="rId5"/>
    <p:sldId id="259" r:id="rId6"/>
    <p:sldId id="263" r:id="rId7"/>
    <p:sldId id="264" r:id="rId8"/>
    <p:sldId id="266" r:id="rId9"/>
    <p:sldId id="260" r:id="rId10"/>
    <p:sldId id="261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A2AA"/>
    <a:srgbClr val="055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-59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143D-C719-4815-B9E2-F0CBA81C24A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143D-C719-4815-B9E2-F0CBA81C24A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9657B-4FF7-4A06-822D-B1223FA21A6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7DF7-5230-4A5A-A0FC-4293B116029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7DF7-5230-4A5A-A0FC-4293B116029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7DF7-5230-4A5A-A0FC-4293B116029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84C0-9B10-4935-8CE9-4FF0815E8D34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63D7-9E9C-444B-840B-B8DB8E4EC40C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DAD7-F189-450F-B3AB-A3EF2EA2EC85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B444-4570-4873-970E-6106A285C00D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531A3-BC76-4DDF-AA0E-E377E05522AB}" type="datetime1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26398-DE5C-45AE-997A-EC31C53695D6}" type="datetime1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D83A2-D810-4524-88B3-4C8EBC6AABCC}" type="datetime1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5AB9-0D3A-46A1-8F88-E858338420E8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1C29A-7873-400C-885E-BC4A5E7BBB71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381A-869E-45A0-B64A-B8F7DEEDAC3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62775-B35F-4EBB-9D44-4F3471C96A7B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50C9C-6CEB-403E-AC25-F5BE7A7FF12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18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BA32B5-5656-47D4-A4F0-1786A0E5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Copyright Notice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5BDBB1F5-C6E9-4597-B809-92336382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D0FE84C-BF1C-4866-B814-1D4AEF10ABC7}"/>
              </a:ext>
            </a:extLst>
          </p:cNvPr>
          <p:cNvSpPr txBox="1"/>
          <p:nvPr/>
        </p:nvSpPr>
        <p:spPr>
          <a:xfrm>
            <a:off x="1074656" y="1882241"/>
            <a:ext cx="101620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Parts (text &amp; figures) of this lecture are adopted from:</a:t>
            </a: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b="1" dirty="0"/>
              <a:t>Arm Assembly Language Programming and Architecture,  Volume 1, 1st edition, Muhammad Ali </a:t>
            </a:r>
            <a:r>
              <a:rPr lang="en-US" sz="2200" b="1" dirty="0" err="1"/>
              <a:t>Mazidi</a:t>
            </a:r>
            <a:r>
              <a:rPr lang="en-US" sz="2200" b="1" dirty="0"/>
              <a:t>, Sarmad </a:t>
            </a:r>
            <a:r>
              <a:rPr lang="en-US" sz="2200" b="1" dirty="0" err="1"/>
              <a:t>Naimi</a:t>
            </a:r>
            <a:r>
              <a:rPr lang="en-US" sz="2200" b="1" dirty="0"/>
              <a:t>, and </a:t>
            </a:r>
            <a:r>
              <a:rPr lang="en-US" sz="2200" b="1" dirty="0" err="1"/>
              <a:t>Sepehr</a:t>
            </a:r>
            <a:r>
              <a:rPr lang="en-US" sz="2200" b="1" dirty="0"/>
              <a:t> </a:t>
            </a:r>
            <a:r>
              <a:rPr lang="en-US" sz="2200" b="1" dirty="0" err="1"/>
              <a:t>Naimi</a:t>
            </a:r>
            <a:r>
              <a:rPr lang="en-US" sz="2200" b="1" dirty="0"/>
              <a:t>, </a:t>
            </a:r>
            <a:r>
              <a:rPr lang="en-US" sz="2200" b="1" dirty="0" err="1"/>
              <a:t>MicroDigitalEd</a:t>
            </a:r>
            <a:r>
              <a:rPr lang="en-US" sz="2200" b="1" dirty="0"/>
              <a:t>, 2013.</a:t>
            </a:r>
          </a:p>
        </p:txBody>
      </p:sp>
    </p:spTree>
    <p:extLst>
      <p:ext uri="{BB962C8B-B14F-4D97-AF65-F5344CB8AC3E}">
        <p14:creationId xmlns:p14="http://schemas.microsoft.com/office/powerpoint/2010/main" val="288799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i="0" u="none" strike="noStrike" dirty="0">
                <a:effectLst/>
              </a:rPr>
              <a:t>Instruction Formation of the ARM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</a:t>
            </a:fld>
            <a:r>
              <a:rPr lang="en-US" dirty="0"/>
              <a:t>/13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07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Instruction 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4907"/>
            <a:ext cx="10515600" cy="4351338"/>
          </a:xfrm>
        </p:spPr>
        <p:txBody>
          <a:bodyPr>
            <a:noAutofit/>
          </a:bodyPr>
          <a:lstStyle/>
          <a:p>
            <a:pPr marL="457200" indent="-45720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General formation of data processing instructions</a:t>
            </a:r>
            <a:endParaRPr lang="en-US" sz="24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12800" indent="-45720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b="0" i="0" u="none" strike="noStrike" dirty="0">
              <a:solidFill>
                <a:srgbClr val="C00000"/>
              </a:solidFill>
            </a:endParaRPr>
          </a:p>
          <a:p>
            <a:pPr marL="812800" indent="-45720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b="0" dirty="0">
              <a:solidFill>
                <a:srgbClr val="C00000"/>
              </a:solidFill>
              <a:effectLst/>
            </a:endParaRPr>
          </a:p>
          <a:p>
            <a:pPr marL="812800" indent="-45720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b="1" i="0" u="none" strike="noStrike" dirty="0">
              <a:solidFill>
                <a:srgbClr val="C00000"/>
              </a:solidFill>
              <a:effectLst/>
            </a:endParaRPr>
          </a:p>
          <a:p>
            <a:pPr marL="35560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200" b="1" i="0" u="none" strike="noStrike" dirty="0">
              <a:solidFill>
                <a:srgbClr val="C00000"/>
              </a:solidFill>
              <a:effectLst/>
            </a:endParaRPr>
          </a:p>
          <a:p>
            <a:pPr marL="698500" indent="-34290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5555E"/>
                </a:solidFill>
                <a:effectLst/>
              </a:rPr>
              <a:t>Cond [31:28]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: Condition field (will be discussed in Ch. 4)</a:t>
            </a:r>
            <a:endParaRPr lang="en-US" sz="2200" b="1" i="0" u="none" strike="noStrike" dirty="0">
              <a:solidFill>
                <a:srgbClr val="C00000"/>
              </a:solidFill>
              <a:effectLst/>
            </a:endParaRPr>
          </a:p>
          <a:p>
            <a:pPr marL="698500" indent="-34290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5555E"/>
                </a:solidFill>
                <a:effectLst/>
              </a:rPr>
              <a:t>[27:26]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: Always “00”</a:t>
            </a:r>
            <a:endParaRPr lang="en-US" sz="2200" b="1" i="0" u="none" strike="noStrike" dirty="0">
              <a:solidFill>
                <a:srgbClr val="C00000"/>
              </a:solidFill>
              <a:effectLst/>
            </a:endParaRPr>
          </a:p>
          <a:p>
            <a:pPr marL="698500" indent="-34290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5555E"/>
                </a:solidFill>
                <a:effectLst/>
              </a:rPr>
              <a:t>I [25]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: Defines the type of second operand</a:t>
            </a:r>
            <a:endParaRPr lang="en-US" sz="2200" dirty="0">
              <a:solidFill>
                <a:srgbClr val="C00000"/>
              </a:solidFill>
            </a:endParaRPr>
          </a:p>
          <a:p>
            <a:pPr marL="1612900" lvl="2" indent="-342900" fontAlgn="base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I = 1: Op2 is an immediate value</a:t>
            </a:r>
          </a:p>
          <a:p>
            <a:pPr marL="698500" indent="-34290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5555E"/>
                </a:solidFill>
                <a:effectLst/>
              </a:rPr>
              <a:t>[24:21]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: Opcode </a:t>
            </a:r>
            <a:endParaRPr lang="en-US" sz="2200" b="1" i="0" u="none" strike="noStrike" dirty="0">
              <a:solidFill>
                <a:srgbClr val="C00000"/>
              </a:solidFill>
              <a:effectLst/>
            </a:endParaRPr>
          </a:p>
          <a:p>
            <a:pPr marL="698500" indent="-34290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5555E"/>
                </a:solidFill>
                <a:effectLst/>
              </a:rPr>
              <a:t>S [20]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: Update CPSR</a:t>
            </a:r>
            <a:endParaRPr lang="en-US" sz="2200" b="1" i="0" u="none" strike="noStrike" dirty="0">
              <a:solidFill>
                <a:srgbClr val="C00000"/>
              </a:solidFill>
              <a:effectLst/>
            </a:endParaRPr>
          </a:p>
          <a:p>
            <a:pPr>
              <a:lnSpc>
                <a:spcPct val="110000"/>
              </a:lnSpc>
            </a:pP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4</a:t>
            </a:fld>
            <a:r>
              <a:rPr lang="en-US" dirty="0"/>
              <a:t>/13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B985D7A6-D20E-6138-BA51-4CB3498F2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127" y="2284464"/>
            <a:ext cx="7172325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95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Instruction 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ADD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 instruction format</a:t>
            </a:r>
            <a:endParaRPr lang="en-US" sz="2400" b="1" i="0" u="none" strike="noStrike" dirty="0">
              <a:solidFill>
                <a:srgbClr val="C00000"/>
              </a:solidFill>
              <a:effectLst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i="0" u="none" strike="noStrike" dirty="0">
              <a:solidFill>
                <a:srgbClr val="C00000"/>
              </a:solidFill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dirty="0">
              <a:solidFill>
                <a:srgbClr val="C00000"/>
              </a:solidFill>
              <a:effectLst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i="0" u="none" strike="noStrike" dirty="0">
              <a:solidFill>
                <a:srgbClr val="C00000"/>
              </a:solidFill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dirty="0">
              <a:solidFill>
                <a:srgbClr val="C00000"/>
              </a:solidFill>
              <a:effectLst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SUB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 instruction format</a:t>
            </a:r>
            <a:endParaRPr lang="en-US" sz="2400" b="1" i="0" u="none" strike="noStrike" dirty="0">
              <a:solidFill>
                <a:srgbClr val="C00000"/>
              </a:solidFill>
              <a:effectLst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i="0" u="none" strike="noStrike" dirty="0">
              <a:solidFill>
                <a:srgbClr val="000000"/>
              </a:solidFill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dirty="0">
              <a:solidFill>
                <a:srgbClr val="000000"/>
              </a:solidFill>
              <a:effectLst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i="0" u="none" strike="noStrike" dirty="0">
              <a:solidFill>
                <a:srgbClr val="000000"/>
              </a:solidFill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dirty="0">
              <a:solidFill>
                <a:srgbClr val="000000"/>
              </a:solidFill>
              <a:effectLst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Branch (</a:t>
            </a: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B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) instruction format</a:t>
            </a:r>
          </a:p>
          <a:p>
            <a:r>
              <a:rPr lang="en-US" sz="2400" b="0" dirty="0">
                <a:effectLst/>
              </a:rPr>
              <a:t/>
            </a:r>
            <a:br>
              <a:rPr lang="en-US" sz="2400" b="0" dirty="0">
                <a:effectLst/>
              </a:rPr>
            </a:b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5</a:t>
            </a:fld>
            <a:r>
              <a:rPr lang="en-US" dirty="0"/>
              <a:t>/13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92949942-327A-759B-7AAC-7FFDA3073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2" y="2214409"/>
            <a:ext cx="7572375" cy="89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xmlns="" id="{2F29B1AE-FC06-5770-8949-8A184FFBC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2" y="3696416"/>
            <a:ext cx="73628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xmlns="" id="{A9BEE436-6166-C922-B892-5E24D9D86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586" y="5233988"/>
            <a:ext cx="736282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33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Little Endian vs. Big Endian War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5555E"/>
                </a:solidFill>
                <a:effectLst/>
              </a:rPr>
              <a:t>Little endian</a:t>
            </a: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88A2AA"/>
                </a:solidFill>
                <a:effectLst/>
              </a:rPr>
              <a:t>Low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 byte goes to the </a:t>
            </a:r>
            <a:r>
              <a:rPr lang="en-US" sz="2200" b="1" i="0" u="none" strike="noStrike" dirty="0">
                <a:solidFill>
                  <a:srgbClr val="88A2AA"/>
                </a:solidFill>
                <a:effectLst/>
              </a:rPr>
              <a:t>low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 memory location</a:t>
            </a:r>
            <a:endParaRPr lang="en-US" sz="2200" b="1" i="0" u="none" strike="noStrike" dirty="0">
              <a:solidFill>
                <a:srgbClr val="7030A0"/>
              </a:solidFill>
              <a:effectLst/>
            </a:endParaRP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88A2AA"/>
                </a:solidFill>
                <a:effectLst/>
              </a:rPr>
              <a:t>High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 byte goes to the </a:t>
            </a:r>
            <a:r>
              <a:rPr lang="en-US" sz="2200" b="1" i="0" u="none" strike="noStrike" dirty="0">
                <a:solidFill>
                  <a:srgbClr val="88A2AA"/>
                </a:solidFill>
                <a:effectLst/>
              </a:rPr>
              <a:t>high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 memory address</a:t>
            </a:r>
            <a:endParaRPr lang="en-US" sz="2200" b="1" i="0" u="none" strike="noStrike" dirty="0">
              <a:solidFill>
                <a:srgbClr val="7030A0"/>
              </a:solidFill>
              <a:effectLst/>
            </a:endParaRP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All </a:t>
            </a:r>
            <a:r>
              <a:rPr lang="en-US" sz="2200" b="1" i="0" u="none" strike="noStrike" dirty="0">
                <a:solidFill>
                  <a:srgbClr val="88A2AA"/>
                </a:solidFill>
                <a:effectLst/>
              </a:rPr>
              <a:t>Intel</a:t>
            </a:r>
            <a:r>
              <a:rPr lang="en-US" sz="2200" b="1" i="0" u="none" strike="noStrike" dirty="0">
                <a:solidFill>
                  <a:srgbClr val="C00000"/>
                </a:solidFill>
                <a:effectLst/>
              </a:rPr>
              <a:t> 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processors</a:t>
            </a: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b="0" i="0" u="none" strike="noStrike" dirty="0">
              <a:solidFill>
                <a:srgbClr val="C00000"/>
              </a:solidFill>
            </a:endParaRP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5555E"/>
                </a:solidFill>
                <a:effectLst/>
              </a:rPr>
              <a:t>Big endian</a:t>
            </a: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88A2AA"/>
                </a:solidFill>
                <a:effectLst/>
              </a:rPr>
              <a:t>Low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 byte goes to the </a:t>
            </a:r>
            <a:r>
              <a:rPr lang="en-US" sz="2200" b="1" i="0" u="none" strike="noStrike" dirty="0">
                <a:solidFill>
                  <a:srgbClr val="88A2AA"/>
                </a:solidFill>
                <a:effectLst/>
              </a:rPr>
              <a:t>high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 memory location</a:t>
            </a:r>
            <a:endParaRPr lang="en-US" sz="2200" b="1" i="0" u="none" strike="noStrike" dirty="0">
              <a:solidFill>
                <a:srgbClr val="7030A0"/>
              </a:solidFill>
              <a:effectLst/>
            </a:endParaRP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88A2AA"/>
                </a:solidFill>
                <a:effectLst/>
              </a:rPr>
              <a:t>High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 byte goes to the </a:t>
            </a:r>
            <a:r>
              <a:rPr lang="en-US" sz="2200" b="1" i="0" u="none" strike="noStrike" dirty="0">
                <a:solidFill>
                  <a:srgbClr val="88A2AA"/>
                </a:solidFill>
                <a:effectLst/>
              </a:rPr>
              <a:t>low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 memory address</a:t>
            </a:r>
            <a:endParaRPr lang="en-US" sz="2200" b="1" i="0" u="none" strike="noStrike" dirty="0">
              <a:solidFill>
                <a:srgbClr val="7030A0"/>
              </a:solidFill>
              <a:effectLst/>
            </a:endParaRP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88A2AA"/>
                </a:solidFill>
                <a:effectLst/>
              </a:rPr>
              <a:t>Freescale</a:t>
            </a:r>
            <a:r>
              <a:rPr lang="en-US" sz="2200" b="1" i="0" u="none" strike="noStrike" dirty="0">
                <a:solidFill>
                  <a:srgbClr val="C00000"/>
                </a:solidFill>
                <a:effectLst/>
              </a:rPr>
              <a:t> 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(formerly Motorola and now NXP)</a:t>
            </a:r>
            <a:endParaRPr lang="en-US" sz="2200" b="1" i="0" u="none" strike="noStrike" dirty="0">
              <a:solidFill>
                <a:srgbClr val="C00000"/>
              </a:solidFill>
              <a:effectLst/>
            </a:endParaRP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b="1" i="0" u="none" strike="noStrike" dirty="0">
              <a:solidFill>
                <a:srgbClr val="C00000"/>
              </a:solidFill>
              <a:effectLst/>
            </a:endParaRP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C00000"/>
                </a:solidFill>
                <a:effectLst/>
              </a:rPr>
              <a:t>ARM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 allows the software designer to choose!</a:t>
            </a:r>
            <a:endParaRPr lang="en-US" sz="2200" b="1" i="0" u="none" strike="noStrike" dirty="0">
              <a:solidFill>
                <a:srgbClr val="C00000"/>
              </a:solidFill>
              <a:effectLst/>
            </a:endParaRP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A hardware switch that is controlled by software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effectLst/>
              </a:rPr>
              <a:t/>
            </a:r>
            <a:br>
              <a:rPr lang="en-US" sz="2400" b="0" dirty="0">
                <a:effectLst/>
              </a:rPr>
            </a:br>
            <a:r>
              <a:rPr lang="en-US" sz="2400" b="0" dirty="0">
                <a:effectLst/>
              </a:rPr>
              <a:t/>
            </a:r>
            <a:br>
              <a:rPr lang="en-US" sz="2400" b="0" dirty="0">
                <a:effectLst/>
              </a:rPr>
            </a:b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6</a:t>
            </a:fld>
            <a:r>
              <a:rPr lang="en-US" dirty="0"/>
              <a:t>/13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554AFB82-085B-4783-946F-61B35F529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823" y="1825625"/>
            <a:ext cx="1883179" cy="231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xmlns="" id="{063C6245-14CA-EB24-DE63-D8E0F0DCF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822" y="4179047"/>
            <a:ext cx="1883179" cy="231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425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More Example for</a:t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Little endian &amp; Big Endian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2400" b="0" i="0" u="none" strike="noStrike" dirty="0">
              <a:solidFill>
                <a:srgbClr val="000000"/>
              </a:solidFill>
              <a:effectLst/>
              <a:highlight>
                <a:srgbClr val="FF0000"/>
              </a:highlight>
              <a:latin typeface="Calibri" panose="020F050202020403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</a:rPr>
              <a:t>4F52 in little endian: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</a:rPr>
              <a:t>52 is stored at storage address 1000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</a:rPr>
              <a:t> and 4F is stored at 1001</a:t>
            </a:r>
          </a:p>
          <a:p>
            <a:r>
              <a:rPr lang="en-US" sz="2400" b="0" dirty="0">
                <a:effectLst/>
                <a:highlight>
                  <a:srgbClr val="FF0000"/>
                </a:highlight>
              </a:rPr>
              <a:t/>
            </a:r>
            <a:br>
              <a:rPr lang="en-US" sz="2400" b="0" dirty="0">
                <a:effectLst/>
                <a:highlight>
                  <a:srgbClr val="FF0000"/>
                </a:highlight>
              </a:rPr>
            </a:br>
            <a:endParaRPr lang="en-US" sz="2400" b="0" dirty="0">
              <a:effectLst/>
              <a:highlight>
                <a:srgbClr val="FF0000"/>
              </a:highlight>
            </a:endParaRPr>
          </a:p>
          <a:p>
            <a:endParaRPr lang="en-US" sz="2400" b="0" dirty="0">
              <a:highlight>
                <a:srgbClr val="FF0000"/>
              </a:highlight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</a:rPr>
              <a:t>4F52 in big endian: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</a:rPr>
              <a:t>4F is stored at storage address 1000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</a:rPr>
              <a:t> and 52 is stored at 1001</a:t>
            </a:r>
          </a:p>
          <a:p>
            <a:r>
              <a:rPr lang="en-US" sz="2400" dirty="0">
                <a:highlight>
                  <a:srgbClr val="FF0000"/>
                </a:highlight>
              </a:rPr>
              <a:t/>
            </a:r>
            <a:br>
              <a:rPr lang="en-US" sz="2400" dirty="0">
                <a:highlight>
                  <a:srgbClr val="FF0000"/>
                </a:highlight>
              </a:rPr>
            </a:br>
            <a:endParaRPr lang="en-US" sz="2400" dirty="0">
              <a:highlight>
                <a:srgbClr val="FF000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7</a:t>
            </a:fld>
            <a:r>
              <a:rPr lang="en-US" dirty="0"/>
              <a:t>/13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xmlns="" id="{240CA261-6942-81B1-3074-9BE8C5803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62543"/>
              </p:ext>
            </p:extLst>
          </p:nvPr>
        </p:nvGraphicFramePr>
        <p:xfrm>
          <a:off x="7472855" y="2321464"/>
          <a:ext cx="260094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473">
                  <a:extLst>
                    <a:ext uri="{9D8B030D-6E8A-4147-A177-3AD203B41FA5}">
                      <a16:colId xmlns:a16="http://schemas.microsoft.com/office/drawing/2014/main" xmlns="" val="2283443412"/>
                    </a:ext>
                  </a:extLst>
                </a:gridCol>
                <a:gridCol w="1300473">
                  <a:extLst>
                    <a:ext uri="{9D8B030D-6E8A-4147-A177-3AD203B41FA5}">
                      <a16:colId xmlns:a16="http://schemas.microsoft.com/office/drawing/2014/main" xmlns="" val="3822756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5555E"/>
                          </a:solidFill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5555E"/>
                          </a:solidFill>
                        </a:rPr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9502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71612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08059930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xmlns="" id="{BA28F290-D414-A0CF-F9A8-93753B963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934275"/>
              </p:ext>
            </p:extLst>
          </p:nvPr>
        </p:nvGraphicFramePr>
        <p:xfrm>
          <a:off x="7472855" y="4094524"/>
          <a:ext cx="2600946" cy="10982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473">
                  <a:extLst>
                    <a:ext uri="{9D8B030D-6E8A-4147-A177-3AD203B41FA5}">
                      <a16:colId xmlns:a16="http://schemas.microsoft.com/office/drawing/2014/main" xmlns="" val="1441462068"/>
                    </a:ext>
                  </a:extLst>
                </a:gridCol>
                <a:gridCol w="1300473">
                  <a:extLst>
                    <a:ext uri="{9D8B030D-6E8A-4147-A177-3AD203B41FA5}">
                      <a16:colId xmlns:a16="http://schemas.microsoft.com/office/drawing/2014/main" xmlns="" val="1279103979"/>
                    </a:ext>
                  </a:extLst>
                </a:gridCol>
              </a:tblGrid>
              <a:tr h="36124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5555E"/>
                          </a:solidFill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5555E"/>
                          </a:solidFill>
                        </a:rPr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49738628"/>
                  </a:ext>
                </a:extLst>
              </a:tr>
              <a:tr h="3662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43859408"/>
                  </a:ext>
                </a:extLst>
              </a:tr>
              <a:tr h="3662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78921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34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5324" y="1336376"/>
            <a:ext cx="8483950" cy="4479540"/>
          </a:xfrm>
        </p:spPr>
        <p:txBody>
          <a:bodyPr>
            <a:norm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i="0" u="none" strike="noStrike" dirty="0">
                <a:effectLst/>
              </a:rPr>
              <a:t/>
            </a:r>
            <a:br>
              <a:rPr lang="en-US" i="0" u="none" strike="noStrike" dirty="0">
                <a:effectLst/>
              </a:rPr>
            </a:br>
            <a:r>
              <a:rPr lang="en-US" i="0" u="none" strike="noStrike" dirty="0">
                <a:effectLst/>
              </a:rPr>
              <a:t/>
            </a:r>
            <a:br>
              <a:rPr lang="en-US" i="0" u="none" strike="noStrike" dirty="0">
                <a:effectLst/>
              </a:rPr>
            </a:br>
            <a:r>
              <a:rPr lang="en-US" i="0" u="none" strike="noStrike" dirty="0">
                <a:effectLst/>
              </a:rPr>
              <a:t>Some ARM Addressing Modes</a:t>
            </a:r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8</a:t>
            </a:fld>
            <a:r>
              <a:rPr lang="en-US" dirty="0"/>
              <a:t>/13</a:t>
            </a:r>
          </a:p>
        </p:txBody>
      </p:sp>
    </p:spTree>
    <p:extLst>
      <p:ext uri="{BB962C8B-B14F-4D97-AF65-F5344CB8AC3E}">
        <p14:creationId xmlns:p14="http://schemas.microsoft.com/office/powerpoint/2010/main" val="70289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Addressing Modes</a:t>
            </a:r>
            <a:r>
              <a:rPr lang="en-US" b="0" dirty="0">
                <a:effectLst/>
              </a:rPr>
              <a:t/>
            </a:r>
            <a:br>
              <a:rPr lang="en-US" b="0" dirty="0">
                <a:effectLst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dirty="0">
                <a:solidFill>
                  <a:srgbClr val="05555E"/>
                </a:solidFill>
                <a:effectLst/>
              </a:rPr>
              <a:t>Addressing Mode</a:t>
            </a: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The various ways operands are specified in the instruction</a:t>
            </a: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Is the way CPU generates address from instruction to read/write the operands</a:t>
            </a:r>
          </a:p>
          <a:p>
            <a:pPr marL="457200" indent="-4572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800" b="0" i="0" u="none" strike="noStrike" dirty="0">
              <a:solidFill>
                <a:srgbClr val="05555E"/>
              </a:solidFill>
            </a:endParaRPr>
          </a:p>
          <a:p>
            <a:pPr marL="457200" indent="-4572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dirty="0">
                <a:solidFill>
                  <a:srgbClr val="05555E"/>
                </a:solidFill>
                <a:effectLst/>
              </a:rPr>
              <a:t>Three basic modes</a:t>
            </a: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Register </a:t>
            </a: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Immediate </a:t>
            </a: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Register indirect (indexed addressing mode) 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9</a:t>
            </a:fld>
            <a:r>
              <a:rPr lang="en-US" dirty="0"/>
              <a:t>/13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037" y="2567739"/>
            <a:ext cx="5401963" cy="382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72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Addressing Modes</a:t>
            </a:r>
            <a:r>
              <a:rPr lang="en-US" b="0" dirty="0">
                <a:effectLst/>
              </a:rPr>
              <a:t/>
            </a:r>
            <a:br>
              <a:rPr lang="en-US" b="0" dirty="0">
                <a:effectLst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Register Addressing Mode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i="0" u="none" strike="noStrike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i="0" u="none" strike="noStrike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Immediate addressing mode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sz="2400" b="0" i="0" u="none" strike="noStrike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i="0" u="none" strike="noStrike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Register Indirect addressing mode (Indexed)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10</a:t>
            </a:fld>
            <a:r>
              <a:rPr lang="en-US" dirty="0"/>
              <a:t>/13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xmlns="" id="{2B98D3E7-0DBC-A2D8-8117-954E7D272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606" y="1555751"/>
            <a:ext cx="4059534" cy="132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xmlns="" id="{99844FD8-3DF8-20A1-B57B-2D809B5F7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73" y="3016250"/>
            <a:ext cx="3406107" cy="59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xmlns="" id="{12D56E7F-EFFB-F9B7-9503-FEB2D3E38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702" y="4487504"/>
            <a:ext cx="3776438" cy="1689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55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6CE6EC-49EE-519F-4F81-7F6B625F2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Addressing Modes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DADFB3-D166-1C55-8718-616AE840B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Register Indirect addressing mode (Indexed)</a:t>
            </a:r>
            <a:endParaRPr lang="en-US" sz="24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Can be used for </a:t>
            </a: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pointer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implementation</a:t>
            </a:r>
            <a:r>
              <a:rPr lang="en-US" sz="2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en-US" sz="2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endParaRPr lang="en-US" sz="2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lvl="2">
              <a:lnSpc>
                <a:spcPct val="100000"/>
              </a:lnSpc>
            </a:pPr>
            <a:r>
              <a:rPr lang="en-US" sz="2000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char *</a:t>
            </a:r>
            <a:r>
              <a:rPr lang="en-US" sz="2000" i="0" u="none" strike="noStrike" dirty="0" err="1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ourPointer</a:t>
            </a:r>
            <a:r>
              <a:rPr lang="en-US" sz="2000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sz="20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/>
            </a:r>
            <a:br>
              <a:rPr lang="en-US" sz="20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000" i="0" u="none" strike="noStrike" dirty="0" err="1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ourPointer</a:t>
            </a:r>
            <a:r>
              <a:rPr lang="en-US" sz="2000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 = (char*) 0x12456; </a:t>
            </a:r>
            <a:r>
              <a:rPr lang="en-US" sz="20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//Point to location 12456</a:t>
            </a:r>
            <a:br>
              <a:rPr lang="en-US" sz="20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000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*</a:t>
            </a:r>
            <a:r>
              <a:rPr lang="en-US" sz="2000" i="0" u="none" strike="noStrike" dirty="0" err="1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ourPointer</a:t>
            </a:r>
            <a:r>
              <a:rPr lang="en-US" sz="2000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 = 25; </a:t>
            </a:r>
            <a:r>
              <a:rPr lang="en-US" sz="20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//store 25 in location 0x12456</a:t>
            </a:r>
            <a:br>
              <a:rPr lang="en-US" sz="20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000" i="0" u="none" strike="noStrike" dirty="0" err="1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ourPointer</a:t>
            </a:r>
            <a:r>
              <a:rPr lang="en-US" sz="2000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 ++; </a:t>
            </a:r>
            <a:r>
              <a:rPr lang="en-US" sz="20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//point to next location </a:t>
            </a:r>
            <a:br>
              <a:rPr lang="en-US" sz="20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endParaRPr lang="en-US" sz="200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lvl="4">
              <a:lnSpc>
                <a:spcPct val="100000"/>
              </a:lnSpc>
            </a:pPr>
            <a:r>
              <a:rPr lang="en-US" sz="2000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LDR R2, =0x12456 </a:t>
            </a:r>
            <a:r>
              <a:rPr lang="en-US" sz="2000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point to location 0x12456</a:t>
            </a:r>
            <a:r>
              <a:rPr lang="en-US" sz="2000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/>
            </a:r>
            <a:br>
              <a:rPr lang="en-US" sz="2000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</a:br>
            <a:r>
              <a:rPr lang="en-US" sz="2000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MOV R0, #25 </a:t>
            </a:r>
            <a:r>
              <a:rPr lang="en-US" sz="2000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R0 = 25</a:t>
            </a:r>
            <a:r>
              <a:rPr lang="en-US" sz="2000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/>
            </a:r>
            <a:br>
              <a:rPr lang="en-US" sz="2000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</a:br>
            <a:r>
              <a:rPr lang="en-US" sz="2000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STRB R0, [R2]</a:t>
            </a:r>
            <a:r>
              <a:rPr lang="en-US" sz="2000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 ; store R0 in location 0x12456</a:t>
            </a:r>
            <a:r>
              <a:rPr lang="en-US" sz="2000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/>
            </a:r>
            <a:br>
              <a:rPr lang="en-US" sz="2000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</a:br>
            <a:r>
              <a:rPr lang="en-US" sz="2000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ADD R2, R2, #1 </a:t>
            </a:r>
            <a:r>
              <a:rPr lang="en-US" sz="2000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increment R2 to point to next location </a:t>
            </a:r>
            <a:endParaRPr lang="en-US" sz="2000" dirty="0">
              <a:solidFill>
                <a:srgbClr val="88A2AA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14A92BD-8A60-BECC-702E-B4C01BB8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11</a:t>
            </a:fld>
            <a:r>
              <a:rPr lang="en-US" dirty="0"/>
              <a:t>/13</a:t>
            </a:r>
          </a:p>
        </p:txBody>
      </p:sp>
    </p:spTree>
    <p:extLst>
      <p:ext uri="{BB962C8B-B14F-4D97-AF65-F5344CB8AC3E}">
        <p14:creationId xmlns:p14="http://schemas.microsoft.com/office/powerpoint/2010/main" val="308852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25" y="-809297"/>
            <a:ext cx="12538841" cy="88712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237E39-2466-2C18-B7E5-FD5C2511E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Example</a:t>
            </a:r>
            <a:r>
              <a:rPr lang="en-US" b="0" dirty="0">
                <a:effectLst/>
              </a:rPr>
              <a:t/>
            </a:r>
            <a:br>
              <a:rPr lang="en-US" b="0" dirty="0">
                <a:effectLst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CC2FC9-A339-65C2-775E-DF4596AC0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MyString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 DCB “Hello world!”, 0</a:t>
            </a:r>
          </a:p>
          <a:p>
            <a:pPr rtl="0">
              <a:spcBef>
                <a:spcPts val="36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AREA </a:t>
            </a:r>
            <a:r>
              <a:rPr lang="en-US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MyCode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, CODE, READONLY</a:t>
            </a:r>
          </a:p>
          <a:p>
            <a:pPr lvl="2">
              <a:spcBef>
                <a:spcPts val="36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ENTRY</a:t>
            </a:r>
          </a:p>
          <a:p>
            <a:pPr marL="971550" lvl="2">
              <a:spcBef>
                <a:spcPts val="36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LDR R0, =</a:t>
            </a:r>
            <a:r>
              <a:rPr lang="en-US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MyString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971550" lvl="2">
              <a:spcBef>
                <a:spcPts val="36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mov R1, #0</a:t>
            </a:r>
          </a:p>
          <a:p>
            <a:pPr marL="57150" rtl="0">
              <a:spcBef>
                <a:spcPts val="360"/>
              </a:spcBef>
              <a:spcAft>
                <a:spcPts val="0"/>
              </a:spcAft>
            </a:pPr>
            <a:r>
              <a:rPr lang="en-US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LoopCount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971550" lvl="2">
              <a:spcBef>
                <a:spcPts val="36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LDRB R2, [R0], #1</a:t>
            </a:r>
          </a:p>
          <a:p>
            <a:pPr marL="971550" lvl="2">
              <a:spcBef>
                <a:spcPts val="36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CBZ R2, Here</a:t>
            </a:r>
          </a:p>
          <a:p>
            <a:pPr marL="971550" lvl="2">
              <a:spcBef>
                <a:spcPts val="36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ADD R0,#1</a:t>
            </a:r>
          </a:p>
          <a:p>
            <a:pPr marL="971550" lvl="2">
              <a:spcBef>
                <a:spcPts val="36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ADD R1,#1</a:t>
            </a:r>
          </a:p>
          <a:p>
            <a:pPr marL="971550" lvl="2">
              <a:spcBef>
                <a:spcPts val="36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B </a:t>
            </a:r>
            <a:r>
              <a:rPr lang="en-US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LoopCount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57150" rtl="0">
              <a:spcBef>
                <a:spcPts val="36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Here B Here</a:t>
            </a:r>
          </a:p>
          <a:p>
            <a:pPr marL="57150" rtl="0">
              <a:spcBef>
                <a:spcPts val="36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END</a:t>
            </a:r>
          </a:p>
          <a:p>
            <a:r>
              <a:rPr lang="en-US" sz="2000" dirty="0">
                <a:highlight>
                  <a:srgbClr val="FF0000"/>
                </a:highlight>
                <a:latin typeface="+mj-lt"/>
              </a:rPr>
              <a:t/>
            </a:r>
            <a:br>
              <a:rPr lang="en-US" sz="2000" dirty="0">
                <a:highlight>
                  <a:srgbClr val="FF0000"/>
                </a:highlight>
                <a:latin typeface="+mj-lt"/>
              </a:rPr>
            </a:br>
            <a:endParaRPr lang="en-US" sz="2000" dirty="0">
              <a:highlight>
                <a:srgbClr val="FF0000"/>
              </a:highlight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A678555-65E4-4E13-B352-68F3BD77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12</a:t>
            </a:fld>
            <a:r>
              <a:rPr lang="en-US" dirty="0"/>
              <a:t>/13</a:t>
            </a:r>
          </a:p>
        </p:txBody>
      </p:sp>
    </p:spTree>
    <p:extLst>
      <p:ext uri="{BB962C8B-B14F-4D97-AF65-F5344CB8AC3E}">
        <p14:creationId xmlns:p14="http://schemas.microsoft.com/office/powerpoint/2010/main" val="152972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Chapter 2!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96E945B-223D-96D4-11B8-BE2137E2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13</a:t>
            </a:fld>
            <a:r>
              <a:rPr lang="en-US" dirty="0"/>
              <a:t>/13</a:t>
            </a:r>
          </a:p>
        </p:txBody>
      </p:sp>
    </p:spTree>
    <p:extLst>
      <p:ext uri="{BB962C8B-B14F-4D97-AF65-F5344CB8AC3E}">
        <p14:creationId xmlns:p14="http://schemas.microsoft.com/office/powerpoint/2010/main" val="475690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10435</TotalTime>
  <Words>315</Words>
  <Application>Microsoft Office PowerPoint</Application>
  <PresentationFormat>Custom</PresentationFormat>
  <Paragraphs>121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 Microprocessors  and  Assembly Language   Lecture 18    Hamed Farbeh farbeh@aut.ac.ir Fall 2024</vt:lpstr>
      <vt:lpstr>Copyright Notice</vt:lpstr>
      <vt:lpstr>Instruction Formation of the ARM</vt:lpstr>
      <vt:lpstr>Instruction Formation</vt:lpstr>
      <vt:lpstr>Instruction Formation</vt:lpstr>
      <vt:lpstr>Little Endian vs. Big Endian War</vt:lpstr>
      <vt:lpstr>More Example for  Little endian &amp; Big Endian</vt:lpstr>
      <vt:lpstr>  Some ARM Addressing Modes  </vt:lpstr>
      <vt:lpstr>  Addressing Modes  </vt:lpstr>
      <vt:lpstr>  Addressing Modes  </vt:lpstr>
      <vt:lpstr>Addressing Modes</vt:lpstr>
      <vt:lpstr>  Example  </vt:lpstr>
      <vt:lpstr>End of Chapter 2!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32</cp:revision>
  <dcterms:created xsi:type="dcterms:W3CDTF">2022-09-03T16:31:37Z</dcterms:created>
  <dcterms:modified xsi:type="dcterms:W3CDTF">2024-08-19T11:35:05Z</dcterms:modified>
</cp:coreProperties>
</file>