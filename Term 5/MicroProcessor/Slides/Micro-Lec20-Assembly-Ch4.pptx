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66" r:id="rId2"/>
    <p:sldId id="256" r:id="rId3"/>
    <p:sldId id="258" r:id="rId4"/>
    <p:sldId id="257" r:id="rId5"/>
    <p:sldId id="279" r:id="rId6"/>
    <p:sldId id="285" r:id="rId7"/>
    <p:sldId id="286" r:id="rId8"/>
    <p:sldId id="278" r:id="rId9"/>
    <p:sldId id="280" r:id="rId10"/>
    <p:sldId id="281" r:id="rId11"/>
    <p:sldId id="263" r:id="rId12"/>
    <p:sldId id="282" r:id="rId13"/>
    <p:sldId id="283" r:id="rId14"/>
    <p:sldId id="268" r:id="rId15"/>
    <p:sldId id="270" r:id="rId16"/>
    <p:sldId id="284" r:id="rId17"/>
    <p:sldId id="27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A2AA"/>
    <a:srgbClr val="0555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-594" y="-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EC36BE-A613-4CBB-9666-AC4A6A426511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11F2AE-6363-4FD6-82B2-4C3A1B5FE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001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4;p13"/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1189231"/>
            <a:ext cx="7193280" cy="4479540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Maiandra GD" panose="020E0502030308020204" pitchFamily="34" charset="0"/>
                <a:ea typeface="Ebrima" panose="02000000000000000000" pitchFamily="2" charset="0"/>
                <a:cs typeface="Ebrima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E2733-2A73-4844-A0A4-5AD93B529FAF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56;p13"/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686" y="274831"/>
            <a:ext cx="914400" cy="914400"/>
          </a:xfrm>
          <a:prstGeom prst="rect">
            <a:avLst/>
          </a:prstGeom>
          <a:noFill/>
          <a:ln>
            <a:noFill/>
          </a:ln>
          <a:effectLst>
            <a:outerShdw blurRad="714375" dist="19050" dir="1440000" algn="bl" rotWithShape="0">
              <a:schemeClr val="dk2">
                <a:alpha val="47000"/>
              </a:schemeClr>
            </a:outerShdw>
          </a:effectLst>
        </p:spPr>
      </p:pic>
      <p:sp>
        <p:nvSpPr>
          <p:cNvPr id="9" name="Google Shape;57;p13"/>
          <p:cNvSpPr txBox="1"/>
          <p:nvPr userDrawn="1"/>
        </p:nvSpPr>
        <p:spPr>
          <a:xfrm>
            <a:off x="168175" y="1189231"/>
            <a:ext cx="2133423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Amirkabir University of Technology</a:t>
            </a: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</a:t>
            </a: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3585061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4;p13"/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1189231"/>
            <a:ext cx="7193280" cy="4479540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Maiandra GD" panose="020E0502030308020204" pitchFamily="34" charset="0"/>
                <a:ea typeface="Ebrima" panose="02000000000000000000" pitchFamily="2" charset="0"/>
                <a:cs typeface="Ebrima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7D08E-1CCA-48C3-B866-104C7E3DD4F6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/17</a:t>
            </a:r>
          </a:p>
        </p:txBody>
      </p:sp>
    </p:spTree>
    <p:extLst>
      <p:ext uri="{BB962C8B-B14F-4D97-AF65-F5344CB8AC3E}">
        <p14:creationId xmlns:p14="http://schemas.microsoft.com/office/powerpoint/2010/main" val="2582954657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Font typeface="Arial" panose="020B0604020202020204" pitchFamily="34" charset="0"/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09932-5881-4C36-AE6A-F82964089026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21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/17</a:t>
            </a:r>
          </a:p>
        </p:txBody>
      </p:sp>
    </p:spTree>
    <p:extLst>
      <p:ext uri="{BB962C8B-B14F-4D97-AF65-F5344CB8AC3E}">
        <p14:creationId xmlns:p14="http://schemas.microsoft.com/office/powerpoint/2010/main" val="3183943044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504CD-38C3-401B-89E4-EC3AB6D697A8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/17</a:t>
            </a:r>
          </a:p>
        </p:txBody>
      </p:sp>
    </p:spTree>
    <p:extLst>
      <p:ext uri="{BB962C8B-B14F-4D97-AF65-F5344CB8AC3E}">
        <p14:creationId xmlns:p14="http://schemas.microsoft.com/office/powerpoint/2010/main" val="1065444030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F7670-CA78-4E4B-B0A8-F2FFA1A688FD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/17</a:t>
            </a:r>
          </a:p>
        </p:txBody>
      </p:sp>
    </p:spTree>
    <p:extLst>
      <p:ext uri="{BB962C8B-B14F-4D97-AF65-F5344CB8AC3E}">
        <p14:creationId xmlns:p14="http://schemas.microsoft.com/office/powerpoint/2010/main" val="3701604236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5FFCE-96C8-4C21-B3EE-8CD42D528FCD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/17</a:t>
            </a:r>
          </a:p>
        </p:txBody>
      </p:sp>
    </p:spTree>
    <p:extLst>
      <p:ext uri="{BB962C8B-B14F-4D97-AF65-F5344CB8AC3E}">
        <p14:creationId xmlns:p14="http://schemas.microsoft.com/office/powerpoint/2010/main" val="4008691987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0BE82-E227-4C0A-B0DC-0B21F800E75D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20955613" flipH="1">
            <a:off x="-2067458" y="-3921437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/17</a:t>
            </a:r>
          </a:p>
        </p:txBody>
      </p:sp>
    </p:spTree>
    <p:extLst>
      <p:ext uri="{BB962C8B-B14F-4D97-AF65-F5344CB8AC3E}">
        <p14:creationId xmlns:p14="http://schemas.microsoft.com/office/powerpoint/2010/main" val="1791201407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BD4CB-F053-45B6-B98D-8C22DC4F8FDE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20955613" flipH="1">
            <a:off x="-2067458" y="-3921437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/17</a:t>
            </a:r>
          </a:p>
        </p:txBody>
      </p:sp>
    </p:spTree>
    <p:extLst>
      <p:ext uri="{BB962C8B-B14F-4D97-AF65-F5344CB8AC3E}">
        <p14:creationId xmlns:p14="http://schemas.microsoft.com/office/powerpoint/2010/main" val="966705281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A5C8A-105D-40CB-B757-C875864CFAF7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1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1915D-8E41-40D9-9F9F-C12D6B72DAF8}" type="datetime1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363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E8752-AEFA-42BB-9F74-8CB2639660D6}" type="datetime1">
              <a:rPr lang="en-US" smtClean="0"/>
              <a:t>8/19/2024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0261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03F9-2D2F-4186-92A8-8C0E32EE1D44}" type="datetime1">
              <a:rPr lang="en-US" smtClean="0"/>
              <a:t>8/19/2024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0638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ED349-C1ED-416D-B861-AD531679A12E}" type="datetime1">
              <a:rPr lang="en-US" smtClean="0"/>
              <a:t>8/19/2024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9860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0A7F1-46BD-4763-8C9D-4A907EB528F7}" type="datetime1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79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14AB9-0C6B-49EE-80E4-65C953D3C8CA}" type="datetime1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301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374B-93E1-4CAC-819A-5C8186E1E6B3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9112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38E53-A74C-4BF6-BDDB-FF71E7215B03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419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10A299-9248-4584-823B-5F1522F3BAC0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80452" y="63882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64249A16-1D3B-4D2A-828B-0F6032C901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75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2" r:id="rId3"/>
    <p:sldLayoutId id="2147483663" r:id="rId4"/>
    <p:sldLayoutId id="2147483668" r:id="rId5"/>
    <p:sldLayoutId id="2147483667" r:id="rId6"/>
    <p:sldLayoutId id="2147483664" r:id="rId7"/>
    <p:sldLayoutId id="2147483665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06C72FF-A5F7-E6BB-A231-B9AFDC88FA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iandra GD" panose="020E0502030308020204" pitchFamily="34" charset="0"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iandra GD" panose="020E0502030308020204" pitchFamily="34" charset="0"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iandra GD" panose="020E0502030308020204" pitchFamily="34" charset="0"/>
                <a:ea typeface="EB Garamond Medium"/>
                <a:cs typeface="EB Garamond Medium"/>
                <a:sym typeface="EB Garamond Medium"/>
              </a:rPr>
              <a:t>Microprocessors</a:t>
            </a:r>
            <a:b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iandra GD" panose="020E0502030308020204" pitchFamily="34" charset="0"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iandra GD" panose="020E0502030308020204" pitchFamily="34" charset="0"/>
                <a:ea typeface="EB Garamond Medium"/>
                <a:cs typeface="EB Garamond Medium"/>
                <a:sym typeface="EB Garamond Medium"/>
              </a:rPr>
              <a:t> and </a:t>
            </a:r>
            <a:b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iandra GD" panose="020E0502030308020204" pitchFamily="34" charset="0"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iandra GD" panose="020E0502030308020204" pitchFamily="34" charset="0"/>
                <a:ea typeface="EB Garamond Medium"/>
                <a:cs typeface="EB Garamond Medium"/>
                <a:sym typeface="EB Garamond Medium"/>
              </a:rPr>
              <a:t>Assembly Language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iandra GD" panose="020E0502030308020204" pitchFamily="34" charset="0"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iandra GD" panose="020E0502030308020204" pitchFamily="34" charset="0"/>
                <a:ea typeface="EB Garamond Medium"/>
                <a:cs typeface="EB Garamond Medium"/>
                <a:sym typeface="EB Garamond Medium"/>
              </a:rPr>
            </a:b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iandra GD" panose="020E0502030308020204" pitchFamily="34" charset="0"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iandra GD" panose="020E0502030308020204" pitchFamily="34" charset="0"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iandra GD" panose="020E0502030308020204" pitchFamily="34" charset="0"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iandra GD" panose="020E0502030308020204" pitchFamily="34" charset="0"/>
                <a:ea typeface="EB Garamond Medium"/>
                <a:cs typeface="EB Garamond Medium"/>
                <a:sym typeface="EB Garamond Medium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iandra GD" panose="020E0502030308020204" pitchFamily="34" charset="0"/>
                <a:ea typeface="EB Garamond Medium"/>
                <a:cs typeface="EB Garamond Medium"/>
                <a:sym typeface="EB Garamond Medium"/>
              </a:rPr>
              <a:t>Lecture 20</a:t>
            </a:r>
            <a:b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iandra GD" panose="020E0502030308020204" pitchFamily="34" charset="0"/>
                <a:ea typeface="EB Garamond Medium"/>
                <a:cs typeface="EB Garamond Medium"/>
                <a:sym typeface="EB Garamond Medium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iandra GD" panose="020E0502030308020204" pitchFamily="34" charset="0"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iandra GD" panose="020E0502030308020204" pitchFamily="34" charset="0"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iandra GD" panose="020E0502030308020204" pitchFamily="34" charset="0"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iandra GD" panose="020E0502030308020204" pitchFamily="34" charset="0"/>
                <a:ea typeface="EB Garamond Medium"/>
                <a:cs typeface="EB Garamond Medium"/>
                <a:sym typeface="EB Garamond Medium"/>
              </a:rPr>
            </a:b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iandra GD" panose="020E0502030308020204" pitchFamily="34" charset="0"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iandra GD" panose="020E0502030308020204" pitchFamily="34" charset="0"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iandra GD" panose="020E0502030308020204" pitchFamily="34" charset="0"/>
                <a:ea typeface="EB Garamond Medium"/>
                <a:cs typeface="EB Garamond Medium"/>
                <a:sym typeface="EB Garamond Medium"/>
              </a:rPr>
              <a:t>Hamed Farbeh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iandra GD" panose="020E0502030308020204" pitchFamily="34" charset="0"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iandra GD" panose="020E0502030308020204" pitchFamily="34" charset="0"/>
                <a:ea typeface="EB Garamond Medium"/>
                <a:cs typeface="EB Garamond Medium"/>
                <a:sym typeface="EB Garamond Medium"/>
              </a:rPr>
            </a:b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iandra GD" panose="020E0502030308020204" pitchFamily="34" charset="0"/>
                <a:ea typeface="EB Garamond Medium"/>
                <a:cs typeface="EB Garamond Medium"/>
                <a:sym typeface="EB Garamond Medium"/>
              </a:rPr>
              <a:t>farbeh@aut.ac.ir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iandra GD" panose="020E0502030308020204" pitchFamily="34" charset="0"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iandra GD" panose="020E0502030308020204" pitchFamily="34" charset="0"/>
                <a:ea typeface="EB Garamond Medium"/>
                <a:cs typeface="EB Garamond Medium"/>
                <a:sym typeface="EB Garamond Medium"/>
              </a:rPr>
            </a:b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iandra GD" panose="020E0502030308020204" pitchFamily="34" charset="0"/>
                <a:ea typeface="EB Garamond Medium"/>
                <a:cs typeface="EB Garamond Medium"/>
                <a:sym typeface="EB Garamond Medium"/>
              </a:rPr>
              <a:t>Fall 2024</a:t>
            </a:r>
            <a:endParaRPr lang="fa-IR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5431E6CD-4837-71A3-51DF-707406814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527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</a:pPr>
            <a:r>
              <a:rPr lang="en-US" b="1" kern="0" dirty="0">
                <a:ea typeface="EB Garamond Medium"/>
                <a:cs typeface="EB Garamond Medium"/>
                <a:sym typeface="EB Garamond Medium"/>
              </a:rPr>
              <a:t>Copyright Notice</a:t>
            </a:r>
            <a:endParaRPr kumimoji="0" lang="en-US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EB Garamond Medium"/>
              <a:cs typeface="EB Garamond Medium"/>
              <a:sym typeface="EB Garamond Medium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483325E4-E01F-FD53-8553-01D64AAD516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69167" y="1863799"/>
            <a:ext cx="10691813" cy="4351338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Parts (text &amp; figures) of this lecture are adopted from:</a:t>
            </a: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Arm Assembly Language Programming and Architecture,  Volume 1, 1st edition, Muhammad Ali </a:t>
            </a:r>
            <a:r>
              <a:rPr kumimoji="0" lang="en-US" sz="2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Mazidi</a:t>
            </a: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, Sarmad </a:t>
            </a:r>
            <a:r>
              <a:rPr kumimoji="0" lang="en-US" sz="2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Naimi</a:t>
            </a: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, and </a:t>
            </a:r>
            <a:r>
              <a:rPr kumimoji="0" lang="en-US" sz="2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Sepehr</a:t>
            </a: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lang="en-US" sz="2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Naimi</a:t>
            </a: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kumimoji="0" lang="en-US" sz="2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MicroDigitalEd</a:t>
            </a: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, 2013.</a:t>
            </a: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indent="0">
              <a:buNone/>
            </a:pPr>
            <a:endParaRPr lang="fa-IR" sz="2200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E6C73766-958C-8473-82F1-223A8862D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04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Branch, Call and Looping in ARM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11A975D6-195F-F60F-270F-3E157A9E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3</a:t>
            </a:fld>
            <a:r>
              <a:rPr lang="en-US"/>
              <a:t>/17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070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250541"/>
            <a:ext cx="10515600" cy="1325563"/>
          </a:xfrm>
        </p:spPr>
        <p:txBody>
          <a:bodyPr/>
          <a:lstStyle/>
          <a:p>
            <a:r>
              <a:rPr lang="en-US" sz="4400" dirty="0">
                <a:ea typeface="Calibri"/>
                <a:cs typeface="Calibri"/>
                <a:sym typeface="Calibri"/>
              </a:rPr>
              <a:t>Looping in ARM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566" y="1342418"/>
            <a:ext cx="10838234" cy="4946416"/>
          </a:xfrm>
        </p:spPr>
        <p:txBody>
          <a:bodyPr>
            <a:normAutofit fontScale="92500" lnSpcReduction="10000"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instruction BNE for looping</a:t>
            </a: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lang="en-US" sz="1100" dirty="0">
              <a:solidFill>
                <a:srgbClr val="05555E"/>
              </a:solidFill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>BACK 	......... </a:t>
            </a:r>
            <a:r>
              <a:rPr lang="en-US" sz="1900" b="1" i="0" u="none" strike="noStrike" cap="none" dirty="0">
                <a:solidFill>
                  <a:srgbClr val="88A2AA"/>
                </a:solidFill>
                <a:latin typeface="Calibri"/>
                <a:ea typeface="Calibri"/>
                <a:cs typeface="Calibri"/>
                <a:sym typeface="Calibri"/>
              </a:rPr>
              <a:t>; start of the loop</a:t>
            </a:r>
            <a:r>
              <a:rPr lang="en-US" sz="1900" b="0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900" b="0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00" b="0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1900" b="1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>......... </a:t>
            </a:r>
            <a:r>
              <a:rPr lang="en-US" sz="1900" b="1" i="0" u="none" strike="noStrike" cap="none" dirty="0">
                <a:solidFill>
                  <a:srgbClr val="88A2AA"/>
                </a:solidFill>
                <a:latin typeface="Calibri"/>
                <a:ea typeface="Calibri"/>
                <a:cs typeface="Calibri"/>
                <a:sym typeface="Calibri"/>
              </a:rPr>
              <a:t>; body of the loop</a:t>
            </a:r>
            <a:r>
              <a:rPr lang="en-US" sz="1900" b="0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900" b="0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00" b="0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1900" b="1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>......... </a:t>
            </a:r>
            <a:r>
              <a:rPr lang="en-US" sz="1900" b="1" i="0" u="none" strike="noStrike" cap="none" dirty="0">
                <a:solidFill>
                  <a:srgbClr val="88A2AA"/>
                </a:solidFill>
                <a:latin typeface="Calibri"/>
                <a:ea typeface="Calibri"/>
                <a:cs typeface="Calibri"/>
                <a:sym typeface="Calibri"/>
              </a:rPr>
              <a:t>; body of the loop</a:t>
            </a:r>
            <a:r>
              <a:rPr lang="en-US" sz="1900" b="0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900" b="0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00" b="0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1900" b="1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>SUBS Rn, Rn, #1 </a:t>
            </a:r>
            <a:r>
              <a:rPr lang="en-US" sz="1900" b="1" i="0" u="none" strike="noStrike" cap="none" dirty="0">
                <a:solidFill>
                  <a:srgbClr val="88A2AA"/>
                </a:solidFill>
                <a:latin typeface="Calibri"/>
                <a:ea typeface="Calibri"/>
                <a:cs typeface="Calibri"/>
                <a:sym typeface="Calibri"/>
              </a:rPr>
              <a:t>; Rn = Rn - 1, set the flag Z = 1 if Rn = 0</a:t>
            </a:r>
            <a:r>
              <a:rPr lang="en-US" sz="1900" b="0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900" b="0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00" b="0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1900" b="1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>BNE BACK </a:t>
            </a:r>
            <a:r>
              <a:rPr lang="en-US" sz="1900" b="1" i="0" u="none" strike="noStrike" cap="none" dirty="0">
                <a:solidFill>
                  <a:srgbClr val="88A2AA"/>
                </a:solidFill>
                <a:latin typeface="Calibri"/>
                <a:ea typeface="Calibri"/>
                <a:cs typeface="Calibri"/>
                <a:sym typeface="Calibri"/>
              </a:rPr>
              <a:t>; branch if Z = 0</a:t>
            </a:r>
            <a:endParaRPr lang="en-US" sz="1900" dirty="0">
              <a:solidFill>
                <a:srgbClr val="88A2AA"/>
              </a:solidFill>
            </a:endParaRPr>
          </a:p>
          <a:p>
            <a:pPr marL="91440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900" b="1" i="0" u="none" strike="noStrike" cap="none" dirty="0">
              <a:solidFill>
                <a:srgbClr val="05555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 dirty="0">
                <a:solidFill>
                  <a:srgbClr val="88A2AA"/>
                </a:solidFill>
                <a:latin typeface="Calibri"/>
                <a:ea typeface="Calibri"/>
                <a:cs typeface="Calibri"/>
                <a:sym typeface="Calibri"/>
              </a:rPr>
              <a:t>; --- this program adds value 9 to the R0 a 1000 times ---</a:t>
            </a:r>
            <a:endParaRPr lang="en-US" sz="1900" dirty="0">
              <a:solidFill>
                <a:srgbClr val="88A2AA"/>
              </a:solidFill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>	AREA EXAMPLE4_1, CODE, READONLY</a:t>
            </a:r>
            <a:endParaRPr lang="en-US" sz="1900" dirty="0">
              <a:solidFill>
                <a:srgbClr val="05555E"/>
              </a:solidFill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>	LDR R2, =1000 </a:t>
            </a:r>
            <a:r>
              <a:rPr lang="en-US" sz="1900" b="1" i="0" u="none" strike="noStrike" cap="none" dirty="0">
                <a:solidFill>
                  <a:srgbClr val="88A2AA"/>
                </a:solidFill>
                <a:latin typeface="Calibri"/>
                <a:ea typeface="Calibri"/>
                <a:cs typeface="Calibri"/>
                <a:sym typeface="Calibri"/>
              </a:rPr>
              <a:t>; R2 = 1000 (decimal) for counter</a:t>
            </a:r>
            <a:endParaRPr lang="en-US" sz="1900" dirty="0">
              <a:solidFill>
                <a:srgbClr val="88A2AA"/>
              </a:solidFill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>	MOV R0, #0 </a:t>
            </a:r>
            <a:r>
              <a:rPr lang="en-US" sz="1900" b="1" i="0" u="none" strike="noStrike" cap="none" dirty="0">
                <a:solidFill>
                  <a:srgbClr val="88A2AA"/>
                </a:solidFill>
                <a:latin typeface="Calibri"/>
                <a:ea typeface="Calibri"/>
                <a:cs typeface="Calibri"/>
                <a:sym typeface="Calibri"/>
              </a:rPr>
              <a:t>; R0 = 0 (sum)</a:t>
            </a:r>
            <a:endParaRPr lang="en-US" sz="1900" dirty="0">
              <a:solidFill>
                <a:srgbClr val="88A2AA"/>
              </a:solidFill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>AGAIN	ADD R0, R0, #9 </a:t>
            </a:r>
            <a:r>
              <a:rPr lang="en-US" sz="1900" b="1" i="0" u="none" strike="noStrike" cap="none" dirty="0">
                <a:solidFill>
                  <a:srgbClr val="88A2AA"/>
                </a:solidFill>
                <a:latin typeface="Calibri"/>
                <a:ea typeface="Calibri"/>
                <a:cs typeface="Calibri"/>
                <a:sym typeface="Calibri"/>
              </a:rPr>
              <a:t>; R0 = R0 + 9 (add 09 to R1, R1 = sum)</a:t>
            </a:r>
            <a:endParaRPr lang="en-US" sz="1900" dirty="0">
              <a:solidFill>
                <a:srgbClr val="88A2AA"/>
              </a:solidFill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>	SUBS R2, R2, #1 </a:t>
            </a:r>
            <a:r>
              <a:rPr lang="en-US" sz="1900" b="1" i="0" u="none" strike="noStrike" cap="none" dirty="0">
                <a:solidFill>
                  <a:srgbClr val="88A2AA"/>
                </a:solidFill>
                <a:latin typeface="Calibri"/>
                <a:ea typeface="Calibri"/>
                <a:cs typeface="Calibri"/>
                <a:sym typeface="Calibri"/>
              </a:rPr>
              <a:t>; Decrement counter and set the flags.</a:t>
            </a:r>
            <a:endParaRPr lang="en-US" sz="1900" dirty="0">
              <a:solidFill>
                <a:srgbClr val="88A2AA"/>
              </a:solidFill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>	BNE AGAIN </a:t>
            </a:r>
            <a:r>
              <a:rPr lang="en-US" sz="1900" b="1" i="0" u="none" strike="noStrike" cap="none" dirty="0">
                <a:solidFill>
                  <a:srgbClr val="88A2AA"/>
                </a:solidFill>
                <a:latin typeface="Calibri"/>
                <a:ea typeface="Calibri"/>
                <a:cs typeface="Calibri"/>
                <a:sym typeface="Calibri"/>
              </a:rPr>
              <a:t>; repeat until COUNT = 0 (when Z = 1)</a:t>
            </a:r>
            <a:endParaRPr lang="en-US" sz="1900" dirty="0">
              <a:solidFill>
                <a:srgbClr val="88A2AA"/>
              </a:solidFill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>	MOV R4, R0 </a:t>
            </a:r>
            <a:r>
              <a:rPr lang="en-US" sz="1900" b="1" i="0" u="none" strike="noStrike" cap="none" dirty="0">
                <a:solidFill>
                  <a:srgbClr val="88A2AA"/>
                </a:solidFill>
                <a:latin typeface="Calibri"/>
                <a:ea typeface="Calibri"/>
                <a:cs typeface="Calibri"/>
                <a:sym typeface="Calibri"/>
              </a:rPr>
              <a:t>; store the sum in R4</a:t>
            </a:r>
            <a:endParaRPr lang="en-US" sz="1900" dirty="0">
              <a:solidFill>
                <a:srgbClr val="88A2AA"/>
              </a:solidFill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>HERE	B HERE </a:t>
            </a:r>
            <a:r>
              <a:rPr lang="en-US" sz="1900" b="1" i="0" u="none" strike="noStrike" cap="none" dirty="0">
                <a:solidFill>
                  <a:srgbClr val="88A2AA"/>
                </a:solidFill>
                <a:latin typeface="Calibri"/>
                <a:ea typeface="Calibri"/>
                <a:cs typeface="Calibri"/>
                <a:sym typeface="Calibri"/>
              </a:rPr>
              <a:t>; stay here</a:t>
            </a:r>
            <a:endParaRPr lang="en-US" sz="1900" dirty="0">
              <a:solidFill>
                <a:srgbClr val="88A2AA"/>
              </a:solidFill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>	END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A169F45-8618-5C24-B70A-EFF8BD139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4</a:t>
            </a:fld>
            <a:r>
              <a:rPr lang="en-US"/>
              <a:t>/17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953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250541"/>
            <a:ext cx="10515600" cy="1325563"/>
          </a:xfrm>
        </p:spPr>
        <p:txBody>
          <a:bodyPr/>
          <a:lstStyle/>
          <a:p>
            <a:r>
              <a:rPr lang="en-US" sz="4400" dirty="0">
                <a:ea typeface="Calibri"/>
                <a:cs typeface="Calibri"/>
                <a:sym typeface="Calibri"/>
              </a:rPr>
              <a:t>Looping in ARM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566" y="1342418"/>
            <a:ext cx="10838234" cy="4946416"/>
          </a:xfrm>
        </p:spPr>
        <p:txBody>
          <a:bodyPr>
            <a:normAutofit lnSpcReduction="10000"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Loop inside a loop</a:t>
            </a:r>
            <a:endParaRPr lang="en-US" dirty="0"/>
          </a:p>
          <a:p>
            <a:pPr marL="91440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>AREA EXAMPLE4_3, CODE, READONLY</a:t>
            </a:r>
            <a:endParaRPr lang="en-US" dirty="0">
              <a:solidFill>
                <a:srgbClr val="05555E"/>
              </a:solidFill>
            </a:endParaRPr>
          </a:p>
          <a:p>
            <a:pPr marL="1828800" marR="0" lvl="4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>MOV R0, #0x55 </a:t>
            </a:r>
            <a:r>
              <a:rPr lang="en-US" sz="1800" b="1" i="0" u="none" strike="noStrike" cap="none" dirty="0">
                <a:solidFill>
                  <a:srgbClr val="88A2AA"/>
                </a:solidFill>
                <a:latin typeface="Calibri"/>
                <a:ea typeface="Calibri"/>
                <a:cs typeface="Calibri"/>
                <a:sym typeface="Calibri"/>
              </a:rPr>
              <a:t>; R0 = 0x55</a:t>
            </a:r>
            <a:endParaRPr lang="en-US" dirty="0">
              <a:solidFill>
                <a:srgbClr val="88A2AA"/>
              </a:solidFill>
            </a:endParaRPr>
          </a:p>
          <a:p>
            <a:pPr marL="1371600" marR="0" lvl="3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>	MOV R2, #16 </a:t>
            </a:r>
            <a:r>
              <a:rPr lang="en-US" sz="1800" b="1" i="0" u="none" strike="noStrike" cap="none" dirty="0">
                <a:solidFill>
                  <a:srgbClr val="88A2AA"/>
                </a:solidFill>
                <a:latin typeface="Calibri"/>
                <a:ea typeface="Calibri"/>
                <a:cs typeface="Calibri"/>
                <a:sym typeface="Calibri"/>
              </a:rPr>
              <a:t>; load 16 into R2 (outer loop count)</a:t>
            </a:r>
            <a:endParaRPr lang="en-US" dirty="0">
              <a:solidFill>
                <a:srgbClr val="88A2AA"/>
              </a:solidFill>
            </a:endParaRPr>
          </a:p>
          <a:p>
            <a:pPr marL="91440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>L1 	LDR R1, =1000000000 </a:t>
            </a:r>
            <a:r>
              <a:rPr lang="en-US" sz="1800" b="1" i="0" u="none" strike="noStrike" cap="none" dirty="0">
                <a:solidFill>
                  <a:srgbClr val="88A2AA"/>
                </a:solidFill>
                <a:latin typeface="Calibri"/>
                <a:ea typeface="Calibri"/>
                <a:cs typeface="Calibri"/>
                <a:sym typeface="Calibri"/>
              </a:rPr>
              <a:t>; R1 = 1,000,000,000 (inner loop count)</a:t>
            </a:r>
            <a:endParaRPr lang="en-US" dirty="0">
              <a:solidFill>
                <a:srgbClr val="88A2AA"/>
              </a:solidFill>
            </a:endParaRPr>
          </a:p>
          <a:p>
            <a:pPr marL="91440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>L2 	EOR R0, R0, #0xFF</a:t>
            </a:r>
            <a:r>
              <a:rPr lang="en-US" sz="1800" b="1" i="0" u="none" strike="noStrike" cap="none" dirty="0">
                <a:solidFill>
                  <a:srgbClr val="88A2AA"/>
                </a:solidFill>
                <a:latin typeface="Calibri"/>
                <a:ea typeface="Calibri"/>
                <a:cs typeface="Calibri"/>
                <a:sym typeface="Calibri"/>
              </a:rPr>
              <a:t> ; complement R0 (R0 = R0 Ex-OR 0xFF)</a:t>
            </a:r>
            <a:endParaRPr lang="en-US" dirty="0">
              <a:solidFill>
                <a:srgbClr val="88A2AA"/>
              </a:solidFill>
            </a:endParaRPr>
          </a:p>
          <a:p>
            <a:pPr marL="1828800" marR="0" lvl="4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>SUBS R1, R1, #1 </a:t>
            </a:r>
            <a:r>
              <a:rPr lang="en-US" sz="1800" b="1" i="0" u="none" strike="noStrike" cap="none" dirty="0">
                <a:solidFill>
                  <a:srgbClr val="88A2AA"/>
                </a:solidFill>
                <a:latin typeface="Calibri"/>
                <a:ea typeface="Calibri"/>
                <a:cs typeface="Calibri"/>
                <a:sym typeface="Calibri"/>
              </a:rPr>
              <a:t>; R1 = R1 – 1, decrement R1 (inner loop)</a:t>
            </a:r>
            <a:endParaRPr lang="en-US" dirty="0">
              <a:solidFill>
                <a:srgbClr val="88A2AA"/>
              </a:solidFill>
            </a:endParaRPr>
          </a:p>
          <a:p>
            <a:pPr marL="1828800" marR="0" lvl="4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>BNE L2 </a:t>
            </a:r>
            <a:r>
              <a:rPr lang="en-US" sz="1800" b="1" i="0" u="none" strike="noStrike" cap="none" dirty="0">
                <a:solidFill>
                  <a:srgbClr val="88A2AA"/>
                </a:solidFill>
                <a:latin typeface="Calibri"/>
                <a:ea typeface="Calibri"/>
                <a:cs typeface="Calibri"/>
                <a:sym typeface="Calibri"/>
              </a:rPr>
              <a:t>; repeat it until R1 = 0</a:t>
            </a:r>
            <a:endParaRPr lang="en-US" dirty="0">
              <a:solidFill>
                <a:srgbClr val="88A2AA"/>
              </a:solidFill>
            </a:endParaRPr>
          </a:p>
          <a:p>
            <a:pPr marL="1828800" marR="0" lvl="4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>SUBS R2, R2, #1 </a:t>
            </a:r>
            <a:r>
              <a:rPr lang="en-US" sz="1800" b="1" i="0" u="none" strike="noStrike" cap="none" dirty="0">
                <a:solidFill>
                  <a:srgbClr val="88A2AA"/>
                </a:solidFill>
                <a:latin typeface="Calibri"/>
                <a:ea typeface="Calibri"/>
                <a:cs typeface="Calibri"/>
                <a:sym typeface="Calibri"/>
              </a:rPr>
              <a:t>; R2 = R2 – 1, decrement R2 (outer loop)</a:t>
            </a:r>
            <a:endParaRPr lang="en-US" dirty="0">
              <a:solidFill>
                <a:srgbClr val="88A2AA"/>
              </a:solidFill>
            </a:endParaRPr>
          </a:p>
          <a:p>
            <a:pPr marL="1828800" marR="0" lvl="4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>BNE L1 </a:t>
            </a:r>
            <a:r>
              <a:rPr lang="en-US" sz="1800" b="1" i="0" u="none" strike="noStrike" cap="none" dirty="0">
                <a:solidFill>
                  <a:srgbClr val="88A2AA"/>
                </a:solidFill>
                <a:latin typeface="Calibri"/>
                <a:ea typeface="Calibri"/>
                <a:cs typeface="Calibri"/>
                <a:sym typeface="Calibri"/>
              </a:rPr>
              <a:t>; repeat it until R2 = 0</a:t>
            </a:r>
            <a:endParaRPr lang="en-US" dirty="0">
              <a:solidFill>
                <a:srgbClr val="88A2AA"/>
              </a:solidFill>
            </a:endParaRPr>
          </a:p>
          <a:p>
            <a:pPr marL="91440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>HERE 	B HERE </a:t>
            </a:r>
            <a:r>
              <a:rPr lang="en-US" sz="1800" b="1" i="0" u="none" strike="noStrike" cap="none" dirty="0">
                <a:solidFill>
                  <a:srgbClr val="88A2AA"/>
                </a:solidFill>
                <a:latin typeface="Calibri"/>
                <a:ea typeface="Calibri"/>
                <a:cs typeface="Calibri"/>
                <a:sym typeface="Calibri"/>
              </a:rPr>
              <a:t>; stay here</a:t>
            </a:r>
            <a:endParaRPr lang="en-US" dirty="0">
              <a:solidFill>
                <a:srgbClr val="88A2AA"/>
              </a:solidFill>
            </a:endParaRPr>
          </a:p>
          <a:p>
            <a:pPr marL="91440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>	END</a:t>
            </a:r>
            <a:endParaRPr lang="en-US" sz="2000" b="1" i="0" u="none" strike="noStrike" cap="none" dirty="0">
              <a:solidFill>
                <a:srgbClr val="05555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11C9A81-3869-25C8-92EC-F4196C452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5</a:t>
            </a:fld>
            <a:r>
              <a:rPr lang="en-US"/>
              <a:t>/17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142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49FA93D-346A-CA30-9C6D-B98FF6760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Looping in ARM</a:t>
            </a:r>
            <a:endParaRPr lang="fa-I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9C1B60A-3FBA-8D53-276F-AB3EED758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Conditional Branch Instructions for Unsigned Data</a:t>
            </a:r>
            <a:endParaRPr lang="en-US" dirty="0"/>
          </a:p>
          <a:p>
            <a:pPr marL="91440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2000" b="0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sz="2000" b="1" i="0" u="none" strike="noStrike" cap="none" dirty="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fa-IR" dirty="0"/>
          </a:p>
        </p:txBody>
      </p:sp>
      <p:pic>
        <p:nvPicPr>
          <p:cNvPr id="6" name="Google Shape;210;p30">
            <a:extLst>
              <a:ext uri="{FF2B5EF4-FFF2-40B4-BE49-F238E27FC236}">
                <a16:creationId xmlns="" xmlns:a16="http://schemas.microsoft.com/office/drawing/2014/main" id="{DC65F8BD-469C-48B5-EB9D-C52DB121A9C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21656" y="2921340"/>
            <a:ext cx="8548688" cy="215990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B21445F0-5160-BEA8-D70F-A0CD17E42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6</a:t>
            </a:fld>
            <a:r>
              <a:rPr lang="en-US"/>
              <a:t>/17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401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49FA93D-346A-CA30-9C6D-B98FF6760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Looping in ARM</a:t>
            </a:r>
            <a:endParaRPr lang="fa-I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9C1B60A-3FBA-8D53-276F-AB3EED758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Comparison of unsigned numbers</a:t>
            </a:r>
            <a:endParaRPr lang="en-US" dirty="0"/>
          </a:p>
          <a:p>
            <a:pPr marL="91440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>CMP  Rn, Op2</a:t>
            </a:r>
          </a:p>
          <a:p>
            <a:pPr marL="91440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>LDR R1, =0x35F </a:t>
            </a:r>
            <a:r>
              <a:rPr lang="en-US" sz="2000" b="1" i="0" u="none" strike="noStrike" cap="none" dirty="0">
                <a:solidFill>
                  <a:srgbClr val="88A2AA"/>
                </a:solidFill>
                <a:latin typeface="Calibri"/>
                <a:ea typeface="Calibri"/>
                <a:cs typeface="Calibri"/>
                <a:sym typeface="Calibri"/>
              </a:rPr>
              <a:t>; R1 = 0x35F</a:t>
            </a:r>
            <a:endParaRPr lang="en-US" dirty="0">
              <a:solidFill>
                <a:srgbClr val="88A2AA"/>
              </a:solidFill>
            </a:endParaRPr>
          </a:p>
          <a:p>
            <a:pPr marL="91440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>LDR R2, =0xCCC </a:t>
            </a:r>
            <a:r>
              <a:rPr lang="en-US" sz="2000" b="1" i="0" u="none" strike="noStrike" cap="none" dirty="0">
                <a:solidFill>
                  <a:srgbClr val="88A2AA"/>
                </a:solidFill>
                <a:latin typeface="Calibri"/>
                <a:ea typeface="Calibri"/>
                <a:cs typeface="Calibri"/>
                <a:sym typeface="Calibri"/>
              </a:rPr>
              <a:t>; R2 = 0xCCC</a:t>
            </a:r>
            <a:endParaRPr lang="en-US" dirty="0">
              <a:solidFill>
                <a:srgbClr val="88A2AA"/>
              </a:solidFill>
            </a:endParaRPr>
          </a:p>
          <a:p>
            <a:pPr marL="91440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>CMP R1, R2 </a:t>
            </a:r>
            <a:r>
              <a:rPr lang="en-US" sz="2000" b="1" i="0" u="none" strike="noStrike" cap="none" dirty="0">
                <a:solidFill>
                  <a:srgbClr val="88A2AA"/>
                </a:solidFill>
                <a:latin typeface="Calibri"/>
                <a:ea typeface="Calibri"/>
                <a:cs typeface="Calibri"/>
                <a:sym typeface="Calibri"/>
              </a:rPr>
              <a:t>; compare 0x35F with 0xCCC</a:t>
            </a:r>
            <a:endParaRPr lang="en-US" dirty="0">
              <a:solidFill>
                <a:srgbClr val="88A2AA"/>
              </a:solidFill>
            </a:endParaRPr>
          </a:p>
          <a:p>
            <a:pPr marL="91440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>BCC OVER</a:t>
            </a:r>
            <a:r>
              <a:rPr lang="en-US" sz="2000" b="1" i="0" u="none" strike="noStrike" cap="none" dirty="0">
                <a:solidFill>
                  <a:srgbClr val="88A2AA"/>
                </a:solidFill>
                <a:latin typeface="Calibri"/>
                <a:ea typeface="Calibri"/>
                <a:cs typeface="Calibri"/>
                <a:sym typeface="Calibri"/>
              </a:rPr>
              <a:t> ; branch if C = 0</a:t>
            </a:r>
            <a:endParaRPr lang="en-US" dirty="0">
              <a:solidFill>
                <a:srgbClr val="88A2AA"/>
              </a:solidFill>
            </a:endParaRPr>
          </a:p>
          <a:p>
            <a:pPr marL="91440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>MOV R1, #0</a:t>
            </a:r>
            <a:r>
              <a:rPr lang="en-US" sz="2000" b="1" i="0" u="none" strike="noStrike" cap="none" dirty="0">
                <a:solidFill>
                  <a:srgbClr val="88A2AA"/>
                </a:solidFill>
                <a:latin typeface="Calibri"/>
                <a:ea typeface="Calibri"/>
                <a:cs typeface="Calibri"/>
                <a:sym typeface="Calibri"/>
              </a:rPr>
              <a:t> ; if C = 1, then clear R1</a:t>
            </a:r>
            <a:endParaRPr lang="en-US" dirty="0">
              <a:solidFill>
                <a:srgbClr val="88A2AA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>OVER     ADD R2, R2, #1 </a:t>
            </a:r>
            <a:endParaRPr lang="en-US" dirty="0">
              <a:solidFill>
                <a:srgbClr val="05555E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000" b="1" dirty="0">
                <a:solidFill>
                  <a:srgbClr val="88A2AA"/>
                </a:solidFill>
                <a:latin typeface="Calibri"/>
                <a:ea typeface="Calibri"/>
                <a:cs typeface="Calibri"/>
                <a:sym typeface="Calibri"/>
              </a:rPr>
              <a:t>; R2 = R2 + 1 = 0xCCC + 1 = 0xCCD</a:t>
            </a:r>
          </a:p>
        </p:txBody>
      </p:sp>
      <p:pic>
        <p:nvPicPr>
          <p:cNvPr id="5" name="Google Shape;219;p31">
            <a:extLst>
              <a:ext uri="{FF2B5EF4-FFF2-40B4-BE49-F238E27FC236}">
                <a16:creationId xmlns="" xmlns:a16="http://schemas.microsoft.com/office/drawing/2014/main" id="{C6229501-18E3-5844-A154-094776AE70B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90674" y="2349310"/>
            <a:ext cx="4163126" cy="1079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20;p31">
            <a:extLst>
              <a:ext uri="{FF2B5EF4-FFF2-40B4-BE49-F238E27FC236}">
                <a16:creationId xmlns="" xmlns:a16="http://schemas.microsoft.com/office/drawing/2014/main" id="{CE6F27D3-15F7-0A23-36C4-6192B28FD67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34308" t="2361" r="1143" b="3326"/>
          <a:stretch/>
        </p:blipFill>
        <p:spPr>
          <a:xfrm>
            <a:off x="7418268" y="3733800"/>
            <a:ext cx="3643432" cy="211666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06DC00B5-444A-E489-DC8A-3396DABC7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7</a:t>
            </a:fld>
            <a:r>
              <a:rPr lang="en-US"/>
              <a:t>/17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356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 Instruction</a:t>
            </a:r>
          </a:p>
        </p:txBody>
      </p:sp>
      <p:pic>
        <p:nvPicPr>
          <p:cNvPr id="4" name="Google Shape;228;p32">
            <a:extLst>
              <a:ext uri="{FF2B5EF4-FFF2-40B4-BE49-F238E27FC236}">
                <a16:creationId xmlns="" xmlns:a16="http://schemas.microsoft.com/office/drawing/2014/main" id="{B885FD63-D1E8-9BF0-A67E-D65EA13F867E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 rotWithShape="1">
          <a:blip r:embed="rId2">
            <a:alphaModFix/>
          </a:blip>
          <a:srcRect/>
          <a:stretch/>
        </p:blipFill>
        <p:spPr>
          <a:xfrm>
            <a:off x="2390774" y="1690688"/>
            <a:ext cx="7410450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29;p32">
            <a:extLst>
              <a:ext uri="{FF2B5EF4-FFF2-40B4-BE49-F238E27FC236}">
                <a16:creationId xmlns="" xmlns:a16="http://schemas.microsoft.com/office/drawing/2014/main" id="{E71AB6F5-D97F-0B85-CB62-0B546C1D25F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1655" y="3919538"/>
            <a:ext cx="8548688" cy="240674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4F97686C-8297-AD59-6E3E-1BCA3EDAE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8</a:t>
            </a:fld>
            <a:r>
              <a:rPr lang="en-US"/>
              <a:t>/17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828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 Instruction</a:t>
            </a:r>
          </a:p>
        </p:txBody>
      </p:sp>
      <p:pic>
        <p:nvPicPr>
          <p:cNvPr id="9" name="Google Shape;237;p33" descr="F4-5_BranchInstruction.jpg">
            <a:extLst>
              <a:ext uri="{FF2B5EF4-FFF2-40B4-BE49-F238E27FC236}">
                <a16:creationId xmlns="" xmlns:a16="http://schemas.microsoft.com/office/drawing/2014/main" id="{3EEDFBE5-36CA-871B-96D1-63FF93C9AED1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 rotWithShape="1">
          <a:blip r:embed="rId2">
            <a:alphaModFix/>
          </a:blip>
          <a:srcRect/>
          <a:stretch/>
        </p:blipFill>
        <p:spPr>
          <a:xfrm>
            <a:off x="1629103" y="1690688"/>
            <a:ext cx="8921475" cy="463415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3A513071-25A0-608E-2726-A346348A6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9</a:t>
            </a:fld>
            <a:r>
              <a:rPr lang="en-US"/>
              <a:t>/17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914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8B7A0E9-959A-35FB-8E2B-3C539D708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  <a:endParaRPr lang="fa-I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29A71D0-7381-66EF-60FE-BAAA0AD14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tabLst/>
              <a:defRPr/>
            </a:pP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Times New Roman"/>
                <a:sym typeface="Times New Roman"/>
              </a:rPr>
              <a:t>Write this line of C code in ARM Assembly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tabLst/>
              <a:defRPr/>
            </a:pP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Times New Roman"/>
                <a:sym typeface="Times New Roman"/>
              </a:rPr>
              <a:t>	if ((R0 &amp;&amp; R1) || R2) R0 = 1;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tabLst/>
              <a:defRPr/>
            </a:pP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Times New Roman"/>
                <a:sym typeface="Times New Roman"/>
              </a:rPr>
              <a:t>	else R0 = 0;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tabLst/>
              <a:defRPr/>
            </a:pPr>
            <a:endParaRPr kumimoji="0" lang="en-US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Times New Roman"/>
              <a:sym typeface="Times New Roman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tabLst/>
              <a:defRPr/>
            </a:pP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Times New Roman"/>
                <a:sym typeface="Times New Roman"/>
              </a:rPr>
              <a:t>Compile the same code and compare it with your assembly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tabLst/>
              <a:defRPr/>
            </a:pPr>
            <a:endParaRPr kumimoji="0" lang="en-US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Times New Roman"/>
              <a:sym typeface="Times New Roman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tabLst/>
              <a:defRPr/>
            </a:pP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Times New Roman"/>
                <a:sym typeface="Times New Roman"/>
              </a:rPr>
              <a:t>The C compiler does Branch Short Circuiting. For example if R0 is zero, it doesn’t evaluate R1. Pay attention to how it achieves this functionality in the compiled assembly.</a:t>
            </a:r>
          </a:p>
          <a:p>
            <a:endParaRPr lang="fa-I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E880837E-B5CF-EBAB-4235-93B0FB7AC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10</a:t>
            </a:fld>
            <a:r>
              <a:rPr lang="en-US"/>
              <a:t>/17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2890" y="-705718"/>
            <a:ext cx="7158324" cy="506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849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Branching beyond 32MB byte limit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749" y="1498060"/>
            <a:ext cx="10809051" cy="4890189"/>
          </a:xfrm>
        </p:spPr>
        <p:txBody>
          <a:bodyPr>
            <a:normAutofit/>
          </a:bodyPr>
          <a:lstStyle/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Branch and exchange</a:t>
            </a:r>
            <a:endParaRPr lang="en-US" dirty="0"/>
          </a:p>
          <a:p>
            <a:pPr lvl="2">
              <a:spcBef>
                <a:spcPts val="0"/>
              </a:spcBef>
            </a:pPr>
            <a:r>
              <a:rPr lang="en-US" sz="2400" dirty="0">
                <a:solidFill>
                  <a:srgbClr val="C00000"/>
                </a:solidFill>
                <a:ea typeface="Calibri"/>
                <a:cs typeface="Calibri"/>
                <a:sym typeface="Calibri"/>
              </a:rPr>
              <a:t>	</a:t>
            </a:r>
            <a:r>
              <a:rPr lang="en-US" sz="2400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BX  Rn</a:t>
            </a:r>
          </a:p>
          <a:p>
            <a:pPr marL="342900" lvl="0" indent="-241300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1600"/>
            </a:pPr>
            <a:endParaRPr lang="en-US" sz="16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pic>
        <p:nvPicPr>
          <p:cNvPr id="4" name="Google Shape;255;p35" descr="F4-6_BX.jpg">
            <a:extLst>
              <a:ext uri="{FF2B5EF4-FFF2-40B4-BE49-F238E27FC236}">
                <a16:creationId xmlns="" xmlns:a16="http://schemas.microsoft.com/office/drawing/2014/main" id="{D5EA8C53-3665-EE6C-0A3A-8F02C54272C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21668" y="2823623"/>
            <a:ext cx="5548662" cy="21641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1D3FDA10-D032-51BB-4935-EB5653E0D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11</a:t>
            </a:fld>
            <a:r>
              <a:rPr lang="en-US"/>
              <a:t>/17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425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077BEA1-8ABD-DED8-25C7-79EFF48CA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Calling Subroutine with BL</a:t>
            </a:r>
            <a:endParaRPr lang="fa-I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099AB91-5E94-18C6-A7DA-B91E57837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5213"/>
            <a:ext cx="10515600" cy="435133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BL</a:t>
            </a: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: Branch and Link</a:t>
            </a:r>
            <a:endParaRPr lang="en-US" sz="2400" dirty="0"/>
          </a:p>
          <a:p>
            <a:endParaRPr lang="fa-IR" dirty="0"/>
          </a:p>
        </p:txBody>
      </p:sp>
      <p:pic>
        <p:nvPicPr>
          <p:cNvPr id="5" name="Google Shape;264;p36" descr="F4-7_BL.jpg">
            <a:extLst>
              <a:ext uri="{FF2B5EF4-FFF2-40B4-BE49-F238E27FC236}">
                <a16:creationId xmlns="" xmlns:a16="http://schemas.microsoft.com/office/drawing/2014/main" id="{BAFC508D-1B73-201C-9CAF-6EFC62F75A9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20745" y="2141536"/>
            <a:ext cx="7550510" cy="435133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77B2B7E-E6B3-F015-1BA5-D1380C170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12</a:t>
            </a:fld>
            <a:r>
              <a:rPr lang="en-US"/>
              <a:t>/17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495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077BEA1-8ABD-DED8-25C7-79EFF48CA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Calling Subroutine with BL</a:t>
            </a:r>
            <a:endParaRPr lang="fa-I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099AB91-5E94-18C6-A7DA-B91E57837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5213"/>
            <a:ext cx="10515600" cy="4614958"/>
          </a:xfrm>
        </p:spPr>
        <p:txBody>
          <a:bodyPr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Delay subroutine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5555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AREA EXAMPLE4_8, CODE, READONLY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5555E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5555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RAM_ADDR EQU 0x40000000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88A2AA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; change the address for your ARM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88A2AA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5555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LDR  	R1, =RAM_ADDR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88A2AA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; R1 = RAM address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88A2AA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5555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AGAIN 	MOV 	R0, #0x55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88A2AA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; R0 = 0x55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88A2AA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5555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STRB 	R0, [R1]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88A2AA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; send it to RAM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88A2AA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5555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BL 	DELAY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88A2AA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; call delay (R14 = PC of next instruction)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88A2AA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5555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MOV 	R0, #0xAA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88A2AA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; R0 = 0xAA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88A2AA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5555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STRB 	R0, [R1]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88A2AA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; send it to RAM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88A2AA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5555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BL 	DELAY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88A2AA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; call delay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88A2AA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5555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B 	AGAIN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88A2AA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; keep doing it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88A2AA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88A2AA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; --------------------DELAY SUBROUTINE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88A2AA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5555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DELAY 	LDR 	R3, =5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88A2AA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; R3 =5, modify this value for different delay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88A2AA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5555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L1 	SUBS 	R3, R3, #1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88A2AA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; R3 = R3 - 1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88A2AA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5555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BNE	L1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5555E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5555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BX 	LR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88A2AA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; return to caller; --------------------end of DELAY subroutine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88A2AA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5555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END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88A2AA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; notice the place for END directive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88A2AA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endParaRPr lang="fa-I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D030D6E6-92C8-4D46-EB30-7EB9E5067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13</a:t>
            </a:fld>
            <a:r>
              <a:rPr lang="en-US"/>
              <a:t>/17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339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79AD6F8-49F5-40A7-7EBC-1C28B9BF7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ea typeface="Calibri"/>
                <a:cs typeface="Calibri"/>
                <a:sym typeface="Calibri"/>
              </a:rPr>
              <a:t>Main Program and Calling Subroutines</a:t>
            </a:r>
            <a:endParaRPr lang="fa-IR" dirty="0"/>
          </a:p>
        </p:txBody>
      </p:sp>
      <p:pic>
        <p:nvPicPr>
          <p:cNvPr id="11" name="Google Shape;280;p38">
            <a:extLst>
              <a:ext uri="{FF2B5EF4-FFF2-40B4-BE49-F238E27FC236}">
                <a16:creationId xmlns="" xmlns:a16="http://schemas.microsoft.com/office/drawing/2014/main" id="{299FC0D1-68CF-5ABC-E575-FDBF7686C9B9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 rotWithShape="1">
          <a:blip r:embed="rId2">
            <a:alphaModFix/>
          </a:blip>
          <a:srcRect/>
          <a:stretch/>
        </p:blipFill>
        <p:spPr>
          <a:xfrm>
            <a:off x="2659118" y="1429407"/>
            <a:ext cx="6424491" cy="486981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16539D0-DA6A-21B1-9B92-7BCB9A800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14</a:t>
            </a:fld>
            <a:r>
              <a:rPr lang="en-US"/>
              <a:t>/17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6854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C27B141-AA1C-51A8-E1DC-08A3BBA4D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04626"/>
            <a:ext cx="10515600" cy="1325563"/>
          </a:xfrm>
        </p:spPr>
        <p:txBody>
          <a:bodyPr/>
          <a:lstStyle/>
          <a:p>
            <a:r>
              <a:rPr lang="en-US" sz="4400" dirty="0">
                <a:ea typeface="Calibri"/>
                <a:cs typeface="Calibri"/>
                <a:sym typeface="Calibri"/>
              </a:rPr>
              <a:t>Conditional Execution</a:t>
            </a:r>
            <a:endParaRPr lang="fa-I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AB8AC74-5CD5-839B-DF42-2D238C780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355544"/>
            <a:ext cx="10515600" cy="4351338"/>
          </a:xfr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 unique feature of ARM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conditional execution for ALL instructions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endParaRPr lang="fa-IR" dirty="0"/>
          </a:p>
        </p:txBody>
      </p:sp>
      <p:pic>
        <p:nvPicPr>
          <p:cNvPr id="4" name="Google Shape;289;p39" descr="F4-11_ConditionField.jpg">
            <a:extLst>
              <a:ext uri="{FF2B5EF4-FFF2-40B4-BE49-F238E27FC236}">
                <a16:creationId xmlns="" xmlns:a16="http://schemas.microsoft.com/office/drawing/2014/main" id="{01C8B333-BFBF-6D6D-C67F-B27A76679F9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03121" y="2112530"/>
            <a:ext cx="7585751" cy="738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90;p39">
            <a:extLst>
              <a:ext uri="{FF2B5EF4-FFF2-40B4-BE49-F238E27FC236}">
                <a16:creationId xmlns="" xmlns:a16="http://schemas.microsoft.com/office/drawing/2014/main" id="{8BB9E965-1308-C906-7EAD-544E6D61EEF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58980" y="2851195"/>
            <a:ext cx="6074032" cy="366899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A7D70193-0F3A-5548-F0C9-856412FDC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15</a:t>
            </a:fld>
            <a:r>
              <a:rPr lang="en-US"/>
              <a:t>/17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7474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27B3FBA-3DEF-DC70-6FE6-1F4579E92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Execution</a:t>
            </a:r>
            <a:endParaRPr lang="fa-I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1694D71-17E1-4F3F-7EF1-7A9C07ACB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Conditional MOV</a:t>
            </a:r>
            <a:endParaRPr lang="en-US"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1" i="0" u="none" strike="noStrike" cap="none"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>MOV	 R1, #10</a:t>
            </a:r>
            <a:r>
              <a:rPr lang="en-US" sz="2000" b="1" i="0" u="none" strike="noStrike" cap="none" dirty="0">
                <a:solidFill>
                  <a:srgbClr val="88A2AA"/>
                </a:solidFill>
                <a:latin typeface="Calibri"/>
                <a:ea typeface="Calibri"/>
                <a:cs typeface="Calibri"/>
                <a:sym typeface="Calibri"/>
              </a:rPr>
              <a:t>; R1 = 10</a:t>
            </a:r>
            <a:r>
              <a:rPr lang="en-US" sz="2000" b="0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2000" b="0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 b="1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>MOV	 R2, #12</a:t>
            </a:r>
            <a:r>
              <a:rPr lang="en-US" sz="2000" b="1" i="0" u="none" strike="noStrike" cap="none" dirty="0">
                <a:solidFill>
                  <a:srgbClr val="88A2AA"/>
                </a:solidFill>
                <a:latin typeface="Calibri"/>
                <a:ea typeface="Calibri"/>
                <a:cs typeface="Calibri"/>
                <a:sym typeface="Calibri"/>
              </a:rPr>
              <a:t>; R2 = 12</a:t>
            </a:r>
            <a:r>
              <a:rPr lang="en-US" sz="2000" b="0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2000" b="0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 b="1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>CMP 	 R2, R1</a:t>
            </a:r>
            <a:r>
              <a:rPr lang="en-US" sz="2000" b="1" i="0" u="none" strike="noStrike" cap="none" dirty="0">
                <a:solidFill>
                  <a:srgbClr val="88A2AA"/>
                </a:solidFill>
                <a:latin typeface="Calibri"/>
                <a:ea typeface="Calibri"/>
                <a:cs typeface="Calibri"/>
                <a:sym typeface="Calibri"/>
              </a:rPr>
              <a:t>;   </a:t>
            </a:r>
            <a:r>
              <a:rPr lang="en-US" sz="2000" dirty="0">
                <a:solidFill>
                  <a:srgbClr val="88A2AA"/>
                </a:solidFill>
                <a:latin typeface="Calibri"/>
                <a:ea typeface="Calibri"/>
                <a:cs typeface="Calibri"/>
                <a:sym typeface="Calibri"/>
              </a:rPr>
              <a:t>compare 12 with 10, Z=0 because they are not equal</a:t>
            </a:r>
            <a:r>
              <a:rPr lang="en-US" sz="2000" b="0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2000" b="0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 b="1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>MOV</a:t>
            </a:r>
            <a:r>
              <a:rPr lang="en-US" sz="2000" b="1" i="0" u="none" strike="noStrike" cap="none" dirty="0">
                <a:solidFill>
                  <a:srgbClr val="88A2AA"/>
                </a:solidFill>
                <a:latin typeface="Calibri"/>
                <a:ea typeface="Calibri"/>
                <a:cs typeface="Calibri"/>
                <a:sym typeface="Calibri"/>
              </a:rPr>
              <a:t>EQ</a:t>
            </a:r>
            <a:r>
              <a:rPr lang="en-US" sz="2000" b="1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>	 R4, #20</a:t>
            </a:r>
            <a:r>
              <a:rPr lang="en-US" sz="2000" b="1" i="0" u="none" strike="noStrike" cap="none" dirty="0">
                <a:solidFill>
                  <a:srgbClr val="88A2AA"/>
                </a:solidFill>
                <a:latin typeface="Calibri"/>
                <a:ea typeface="Calibri"/>
                <a:cs typeface="Calibri"/>
                <a:sym typeface="Calibri"/>
              </a:rPr>
              <a:t>; </a:t>
            </a:r>
            <a:r>
              <a:rPr lang="en-US" sz="2000" dirty="0">
                <a:solidFill>
                  <a:srgbClr val="88A2AA"/>
                </a:solidFill>
                <a:latin typeface="Calibri"/>
                <a:ea typeface="Calibri"/>
                <a:cs typeface="Calibri"/>
                <a:sym typeface="Calibri"/>
              </a:rPr>
              <a:t>this line is not executed because the condition EQ is not met</a:t>
            </a:r>
            <a:endParaRPr lang="en-US" sz="2000" dirty="0">
              <a:solidFill>
                <a:srgbClr val="88A2AA"/>
              </a:solidFill>
              <a:latin typeface="Calibri"/>
              <a:ea typeface="Calibri"/>
              <a:cs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b="1" i="0" u="none" strike="noStrike" cap="none" dirty="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Conditional ADD with ‘S’ suffix</a:t>
            </a:r>
            <a:endParaRPr lang="en-US" dirty="0"/>
          </a:p>
          <a:p>
            <a:pPr marL="342900" marR="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lang="en-US" sz="2400" b="1" dirty="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>ADD</a:t>
            </a:r>
            <a:r>
              <a:rPr lang="en-US" sz="2000" b="1" i="0" u="none" strike="noStrike" cap="none" dirty="0">
                <a:solidFill>
                  <a:srgbClr val="88A2AA"/>
                </a:solidFill>
                <a:latin typeface="Calibri"/>
                <a:ea typeface="Calibri"/>
                <a:cs typeface="Calibri"/>
                <a:sym typeface="Calibri"/>
              </a:rPr>
              <a:t>NE</a:t>
            </a:r>
            <a:r>
              <a:rPr lang="en-US" sz="2000" b="1" i="0" u="none" strike="noStrike" cap="none" dirty="0">
                <a:solidFill>
                  <a:srgbClr val="05555E"/>
                </a:solidFill>
                <a:latin typeface="Calibri"/>
                <a:ea typeface="Calibri"/>
                <a:cs typeface="Calibri"/>
                <a:sym typeface="Calibri"/>
              </a:rPr>
              <a:t>S R1, R1, #10 </a:t>
            </a:r>
            <a:r>
              <a:rPr lang="en-US" sz="2000" b="1" i="0" u="none" strike="noStrike" cap="none" dirty="0">
                <a:solidFill>
                  <a:srgbClr val="88A2AA"/>
                </a:solidFill>
                <a:latin typeface="Calibri"/>
                <a:ea typeface="Calibri"/>
                <a:cs typeface="Calibri"/>
                <a:sym typeface="Calibri"/>
              </a:rPr>
              <a:t>; this line is executed and set the flags if Z = 0</a:t>
            </a:r>
            <a:endParaRPr lang="en-US" dirty="0">
              <a:solidFill>
                <a:srgbClr val="88A2AA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16C728E0-E3F0-F0F8-8CBB-EC40139D8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16</a:t>
            </a:fld>
            <a:r>
              <a:rPr lang="en-US"/>
              <a:t>/17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4627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D1F5A69-EFC3-4E3B-CC5F-B2546F66BF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End of Chapter 4!</a:t>
            </a:r>
            <a:endParaRPr lang="fa-IR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9E22096E-B573-F523-3968-ED513D7F6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17</a:t>
            </a:fld>
            <a:r>
              <a:rPr lang="en-US"/>
              <a:t>/17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151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2334</TotalTime>
  <Words>235</Words>
  <Application>Microsoft Office PowerPoint</Application>
  <PresentationFormat>Custom</PresentationFormat>
  <Paragraphs>110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 Microprocessors  and  Assembly Language   Lecture 20    Hamed Farbeh farbeh@aut.ac.ir Fall 2024</vt:lpstr>
      <vt:lpstr>Copyright Notice</vt:lpstr>
      <vt:lpstr>Branch, Call and Looping in ARM</vt:lpstr>
      <vt:lpstr>Looping in ARM</vt:lpstr>
      <vt:lpstr>Looping in ARM</vt:lpstr>
      <vt:lpstr>Looping in ARM</vt:lpstr>
      <vt:lpstr>Looping in ARM</vt:lpstr>
      <vt:lpstr>Branch Instruction</vt:lpstr>
      <vt:lpstr>Branch Instruction</vt:lpstr>
      <vt:lpstr>Question</vt:lpstr>
      <vt:lpstr>Branching beyond 32MB byte limit</vt:lpstr>
      <vt:lpstr>Calling Subroutine with BL</vt:lpstr>
      <vt:lpstr>Calling Subroutine with BL</vt:lpstr>
      <vt:lpstr>Main Program and Calling Subroutines</vt:lpstr>
      <vt:lpstr>Conditional Execution</vt:lpstr>
      <vt:lpstr>Conditional Execution</vt:lpstr>
      <vt:lpstr>End of Chapter 4!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Fatemeh Valeh</dc:creator>
  <cp:lastModifiedBy>Hamed</cp:lastModifiedBy>
  <cp:revision>96</cp:revision>
  <dcterms:created xsi:type="dcterms:W3CDTF">2022-09-03T16:31:37Z</dcterms:created>
  <dcterms:modified xsi:type="dcterms:W3CDTF">2024-08-19T11:34:36Z</dcterms:modified>
</cp:coreProperties>
</file>