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7" r:id="rId3"/>
    <p:sldId id="258" r:id="rId4"/>
    <p:sldId id="275" r:id="rId5"/>
    <p:sldId id="278" r:id="rId6"/>
    <p:sldId id="279" r:id="rId7"/>
    <p:sldId id="281" r:id="rId8"/>
    <p:sldId id="280" r:id="rId9"/>
    <p:sldId id="28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55E"/>
    <a:srgbClr val="688892"/>
    <a:srgbClr val="88A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62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D303-4BE4-4922-ABA2-616A1264FE6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73050-5ABD-4B43-A484-3D60100A8BEB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6E85-007C-4BB9-8395-60B4C5BC1AB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9E119-B41A-4216-B628-C0466B437F5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DD21F-FB30-422D-87CC-ADC20C9E697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B2A77-D0CE-4142-8275-100330FBBE59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5AE52-97CB-40CE-A51F-5F129977CEA1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9340-1D9B-4659-9CB4-DBD80FFF255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00608-23C7-4F82-8DF5-EDE0EBB6E5C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552D-9558-4FCD-BE12-5B6C04DA3C8D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BEFE-982C-43A0-85A5-BB1CABD4C61A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DFDF6-9C13-42A3-828C-55B0367363EB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F2B9-3544-4CE2-A9EE-E1A6CA3E6561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111FA-3536-441C-80FA-54C4744FAE98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153D6-974F-436A-B917-825E05659BA3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B0DC-EBBA-46A7-9F9A-27133E3845D1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F1D5-D337-4487-BB26-4956B98CD447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5DF44-C98B-46D5-A92B-301E6273BEFC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</a:t>
            </a:r>
            <a:r>
              <a:rPr lang="en-US" sz="2800" kern="0" dirty="0">
                <a:solidFill>
                  <a:srgbClr val="FFFFFF"/>
                </a:solidFill>
                <a:ea typeface="EB Garamond Medium"/>
                <a:cs typeface="EB Garamond Medium"/>
                <a:sym typeface="EB Garamond Medium"/>
              </a:rPr>
              <a:t>21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idx="4294967295"/>
          </p:nvPr>
        </p:nvSpPr>
        <p:spPr>
          <a:xfrm>
            <a:off x="838200" y="44608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Copyright Notice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6577" y="1838325"/>
            <a:ext cx="108870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Parts (text &amp; figures) of this lecture are adopted from: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Arm Assembly Language Programming and Architecture, Volume 1, 1</a:t>
            </a:r>
            <a:r>
              <a:rPr lang="en-US" sz="2200" b="1" baseline="30000" dirty="0"/>
              <a:t>st</a:t>
            </a:r>
            <a:r>
              <a:rPr lang="en-US" sz="2200" b="1" dirty="0"/>
              <a:t> edition, Muhammad Ali </a:t>
            </a:r>
            <a:r>
              <a:rPr lang="en-US" sz="2200" b="1" dirty="0" err="1"/>
              <a:t>Mazidi</a:t>
            </a:r>
            <a:r>
              <a:rPr lang="en-US" sz="2200" b="1" dirty="0"/>
              <a:t>, </a:t>
            </a:r>
            <a:r>
              <a:rPr lang="en-US" sz="2200" b="1" dirty="0" err="1"/>
              <a:t>Sarmad</a:t>
            </a:r>
            <a:r>
              <a:rPr lang="en-US" sz="2200" b="1" dirty="0"/>
              <a:t> </a:t>
            </a:r>
            <a:r>
              <a:rPr lang="en-US" sz="2200" b="1" dirty="0" err="1"/>
              <a:t>Naimi</a:t>
            </a:r>
            <a:r>
              <a:rPr lang="en-US" sz="2200" b="1" dirty="0"/>
              <a:t>, and </a:t>
            </a:r>
            <a:r>
              <a:rPr lang="en-US" sz="2200" b="1" dirty="0" err="1"/>
              <a:t>Sepehr</a:t>
            </a:r>
            <a:r>
              <a:rPr lang="en-US" sz="2200" b="1" dirty="0"/>
              <a:t> </a:t>
            </a:r>
            <a:r>
              <a:rPr lang="en-US" sz="2200" b="1" dirty="0" err="1"/>
              <a:t>Naimi</a:t>
            </a:r>
            <a:r>
              <a:rPr lang="en-US" sz="2200" b="1" dirty="0"/>
              <a:t>, </a:t>
            </a:r>
            <a:r>
              <a:rPr lang="en-US" sz="2200" b="1" dirty="0" err="1"/>
              <a:t>MicroDigitalEd</a:t>
            </a:r>
            <a:r>
              <a:rPr lang="en-US" sz="2200" b="1" dirty="0"/>
              <a:t>, 2013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6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0526" y="1398781"/>
            <a:ext cx="11001374" cy="4479540"/>
          </a:xfrm>
        </p:spPr>
        <p:txBody>
          <a:bodyPr/>
          <a:lstStyle/>
          <a:p>
            <a:r>
              <a:rPr lang="en-US" dirty="0"/>
              <a:t>Signed Integer Numbers Arithmetic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B Titr" panose="00000700000000000000" pitchFamily="2" charset="-78"/>
              </a:rPr>
              <a:t>Signed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684205"/>
            <a:ext cx="11072814" cy="3026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Loading a signed byte</a:t>
            </a:r>
          </a:p>
          <a:p>
            <a:pPr lvl="2">
              <a:spcBef>
                <a:spcPts val="360"/>
              </a:spcBef>
              <a:buClr>
                <a:srgbClr val="00B050"/>
              </a:buClr>
              <a:buSzPts val="1800"/>
            </a:pPr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; assume memory location 0x80000 contains -2 = 1111 1110 and R1=0x80000</a:t>
            </a:r>
            <a:endParaRPr lang="en-US" sz="2000" dirty="0">
              <a:solidFill>
                <a:srgbClr val="88A2AA"/>
              </a:solidFill>
            </a:endParaRPr>
          </a:p>
          <a:p>
            <a:pPr lvl="2">
              <a:spcBef>
                <a:spcPts val="360"/>
              </a:spcBef>
              <a:buClr>
                <a:srgbClr val="0530BB"/>
              </a:buClr>
              <a:buSzPts val="1800"/>
            </a:pPr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LDRB 	R0, [R1] </a:t>
            </a:r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; now R0 = 0000 0000 0000 0000 0000 0000 1111 1110 = 254</a:t>
            </a:r>
            <a:endParaRPr lang="en-US" sz="2000" dirty="0">
              <a:solidFill>
                <a:srgbClr val="88A2AA"/>
              </a:solidFill>
            </a:endParaRPr>
          </a:p>
          <a:p>
            <a:pPr>
              <a:lnSpc>
                <a:spcPct val="150000"/>
              </a:lnSpc>
            </a:pPr>
            <a:endParaRPr lang="en-US" sz="24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LDRB zero-extends the loaded byte to fit 32 bits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We need to sign-extend 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2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B Titr" panose="00000700000000000000" pitchFamily="2" charset="-78"/>
              </a:rPr>
              <a:t>Signed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684205"/>
            <a:ext cx="1107281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Sign extension and avoiding erroneous results</a:t>
            </a:r>
            <a:endParaRPr lang="en-US" dirty="0"/>
          </a:p>
          <a:p>
            <a:pPr lvl="2"/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; assume memory location 0x80000 has +96 = 0110 0000 and R1=0x80000</a:t>
            </a:r>
            <a:endParaRPr lang="en-US" sz="2000" dirty="0">
              <a:solidFill>
                <a:srgbClr val="88A2AA"/>
              </a:solidFill>
            </a:endParaRPr>
          </a:p>
          <a:p>
            <a:pPr lvl="2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LDRSB 	R0, [R1]</a:t>
            </a:r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 ; R0 = 0000 0000 0000 0000 0000 0000 0110 0000</a:t>
            </a:r>
          </a:p>
          <a:p>
            <a:pPr lvl="2"/>
            <a:endParaRPr lang="en-US" sz="2000" dirty="0">
              <a:solidFill>
                <a:srgbClr val="88A2AA"/>
              </a:solidFill>
            </a:endParaRPr>
          </a:p>
          <a:p>
            <a:pPr lvl="2"/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; assume memory location 0x80000 contains -2 = 1111 1110 and R2=0x80000</a:t>
            </a:r>
            <a:endParaRPr lang="en-US" sz="2000" dirty="0">
              <a:solidFill>
                <a:srgbClr val="88A2AA"/>
              </a:solidFill>
            </a:endParaRPr>
          </a:p>
          <a:p>
            <a:pPr lvl="2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LDRSB 	R4, [R2]</a:t>
            </a:r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 ; R4 = 1111 1111 1111 1111 1111 1111 1111 1110</a:t>
            </a:r>
            <a:endParaRPr lang="en-US" sz="2000" dirty="0">
              <a:solidFill>
                <a:srgbClr val="88A2AA"/>
              </a:solidFill>
            </a:endParaRPr>
          </a:p>
          <a:p>
            <a:pPr lvl="2"/>
            <a:endParaRPr lang="en-US" sz="2000" b="1" dirty="0">
              <a:solidFill>
                <a:srgbClr val="88A2AA"/>
              </a:solidFill>
              <a:ea typeface="Calibri"/>
              <a:cs typeface="Calibri"/>
              <a:sym typeface="Calibri"/>
            </a:endParaRPr>
          </a:p>
          <a:p>
            <a:pPr lvl="2"/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; assume 0x80000 contains +260 = 0000 0001 0000 0100 and R1=0x80000</a:t>
            </a:r>
            <a:endParaRPr lang="en-US" sz="2000" dirty="0">
              <a:solidFill>
                <a:srgbClr val="88A2AA"/>
              </a:solidFill>
            </a:endParaRPr>
          </a:p>
          <a:p>
            <a:pPr lvl="2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LDRSH R0, [R1] </a:t>
            </a:r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; R0=0000 0000 0000 0000 0000 0001 0000 0100</a:t>
            </a:r>
            <a:endParaRPr lang="en-US" sz="2000" dirty="0">
              <a:solidFill>
                <a:srgbClr val="88A2AA"/>
              </a:solidFill>
            </a:endParaRPr>
          </a:p>
          <a:p>
            <a:pPr lvl="2"/>
            <a:endParaRPr lang="en-US" sz="2000" b="1" dirty="0">
              <a:solidFill>
                <a:srgbClr val="88A2AA"/>
              </a:solidFill>
              <a:ea typeface="Calibri"/>
              <a:cs typeface="Calibri"/>
              <a:sym typeface="Calibri"/>
            </a:endParaRPr>
          </a:p>
          <a:p>
            <a:pPr lvl="2"/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; assume location 0x20000 has -327660=0x8002 and R2=0x20000</a:t>
            </a:r>
            <a:endParaRPr lang="en-US" sz="2000" dirty="0">
              <a:solidFill>
                <a:srgbClr val="88A2AA"/>
              </a:solidFill>
            </a:endParaRPr>
          </a:p>
          <a:p>
            <a:pPr lvl="2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LDRSH R1, [R2]</a:t>
            </a:r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 ; R1=FFFF8002</a:t>
            </a:r>
            <a:endParaRPr lang="en-US" sz="2000" b="1" dirty="0">
              <a:solidFill>
                <a:srgbClr val="88A2A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28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B Titr" panose="00000700000000000000" pitchFamily="2" charset="-78"/>
              </a:rPr>
              <a:t>Signed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684205"/>
            <a:ext cx="1107281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Signed number multiplication: </a:t>
            </a:r>
            <a:r>
              <a:rPr lang="en-US" sz="2400" b="1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SMULL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R1, =-3500 </a:t>
            </a:r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; R1 = -3500 (0xFFFFF254)</a:t>
            </a:r>
            <a:endParaRPr lang="en-US" dirty="0">
              <a:solidFill>
                <a:srgbClr val="88A2AA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LDR R0, =-100 </a:t>
            </a:r>
            <a:r>
              <a:rPr lang="en-US" sz="2000" b="1" dirty="0">
                <a:solidFill>
                  <a:srgbClr val="88A2AA"/>
                </a:solidFill>
                <a:ea typeface="Calibri"/>
                <a:cs typeface="Calibri"/>
                <a:sym typeface="Calibri"/>
              </a:rPr>
              <a:t>; R0 = -100 (0xFFFFFF9C)</a:t>
            </a:r>
            <a:endParaRPr lang="en-US" dirty="0">
              <a:solidFill>
                <a:srgbClr val="88A2AA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SMULL R2, R3, R0, R1</a:t>
            </a:r>
            <a:endParaRPr lang="en-US" dirty="0">
              <a:solidFill>
                <a:srgbClr val="05555E"/>
              </a:solidFill>
            </a:endParaRPr>
          </a:p>
          <a:p>
            <a:pPr lvl="2"/>
            <a:endParaRPr lang="en-US" sz="2000" b="1" dirty="0">
              <a:solidFill>
                <a:srgbClr val="C00000"/>
              </a:solidFill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Signed number comparison</a:t>
            </a:r>
            <a:endParaRPr lang="en-US" dirty="0"/>
          </a:p>
          <a:p>
            <a:pPr lvl="2"/>
            <a:r>
              <a:rPr lang="en-US" sz="20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CMP Rn, Op2 </a:t>
            </a:r>
            <a:endParaRPr lang="fa-IR" sz="24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lvl="2"/>
            <a:endParaRPr lang="en-US" sz="24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lvl="2"/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Op2 &gt; Rn → V = N</a:t>
            </a:r>
            <a:b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</a:b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Op2 = Rn → Z = 1</a:t>
            </a:r>
            <a:b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</a:b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Op2 &lt; Rn → N ≠ V</a:t>
            </a:r>
            <a:endParaRPr lang="en-US" sz="2200" b="1" dirty="0">
              <a:solidFill>
                <a:schemeClr val="dk1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02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B Titr" panose="00000700000000000000" pitchFamily="2" charset="-78"/>
              </a:rPr>
              <a:t>Signed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684205"/>
            <a:ext cx="11072814" cy="1018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/>
              <a:t>Signed comparison condition codes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endParaRPr lang="en-US" b="1" dirty="0"/>
          </a:p>
        </p:txBody>
      </p:sp>
      <p:graphicFrame>
        <p:nvGraphicFramePr>
          <p:cNvPr id="6" name="Google Shape;218;p31"/>
          <p:cNvGraphicFramePr/>
          <p:nvPr>
            <p:extLst>
              <p:ext uri="{D42A27DB-BD31-4B8C-83A1-F6EECF244321}">
                <p14:modId xmlns:p14="http://schemas.microsoft.com/office/powerpoint/2010/main" val="561614882"/>
              </p:ext>
            </p:extLst>
          </p:nvPr>
        </p:nvGraphicFramePr>
        <p:xfrm>
          <a:off x="2900892" y="2579915"/>
          <a:ext cx="6699777" cy="33376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2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639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118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bg1"/>
                          </a:solidFill>
                        </a:rPr>
                        <a:t>Condition Code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55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55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Flags</a:t>
                      </a:r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555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MI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Negative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N=1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PL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Positive or zero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N=0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VS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Overflow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V=1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VC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No overflow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V=0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GE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Signed greater than or equal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N = V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LT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Signed less than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 != 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GT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Signed greater than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Z=0 &amp; N=V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LE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Signed less than or equal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Z=1 or N != V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10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B Titr" panose="00000700000000000000" pitchFamily="2" charset="-78"/>
              </a:rPr>
              <a:t>Signed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684205"/>
            <a:ext cx="11072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ASR (arithmetic shift right)</a:t>
            </a:r>
            <a:endParaRPr lang="en-US" sz="2400" dirty="0"/>
          </a:p>
          <a:p>
            <a:pPr lvl="2">
              <a:lnSpc>
                <a:spcPct val="150000"/>
              </a:lnSpc>
            </a:pPr>
            <a:r>
              <a:rPr lang="en-US" sz="22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MOV Rn, Op2, ASR count</a:t>
            </a:r>
            <a:endParaRPr lang="en-US" sz="2200" dirty="0">
              <a:solidFill>
                <a:srgbClr val="05555E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or</a:t>
            </a:r>
            <a:endParaRPr lang="en-US" sz="2200" dirty="0"/>
          </a:p>
          <a:p>
            <a:pPr lvl="2">
              <a:lnSpc>
                <a:spcPct val="150000"/>
              </a:lnSpc>
            </a:pPr>
            <a:r>
              <a:rPr lang="en-US" sz="2200" b="1" dirty="0">
                <a:solidFill>
                  <a:srgbClr val="05555E"/>
                </a:solidFill>
                <a:ea typeface="Calibri"/>
                <a:cs typeface="Calibri"/>
                <a:sym typeface="Calibri"/>
              </a:rPr>
              <a:t>ASR Rn, Op2, count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endParaRPr lang="en-US" b="1" dirty="0"/>
          </a:p>
        </p:txBody>
      </p:sp>
      <p:pic>
        <p:nvPicPr>
          <p:cNvPr id="6" name="Google Shape;22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24200" y="4436083"/>
            <a:ext cx="5562600" cy="10786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7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B Titr" panose="00000700000000000000" pitchFamily="2" charset="-78"/>
              </a:rPr>
              <a:t>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4" y="1684205"/>
            <a:ext cx="11072814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An array of 32-bit non-zero signed integers start from memory address 0x80000. We don’t know the size of the array but we do know that the array is terminated with a zero after the last element. Write a program to loop through and find the minimal element of the array.</a:t>
            </a:r>
          </a:p>
        </p:txBody>
      </p:sp>
      <p:graphicFrame>
        <p:nvGraphicFramePr>
          <p:cNvPr id="6" name="Google Shape;237;p33"/>
          <p:cNvGraphicFramePr/>
          <p:nvPr>
            <p:extLst>
              <p:ext uri="{D42A27DB-BD31-4B8C-83A1-F6EECF244321}">
                <p14:modId xmlns:p14="http://schemas.microsoft.com/office/powerpoint/2010/main" val="1337115860"/>
              </p:ext>
            </p:extLst>
          </p:nvPr>
        </p:nvGraphicFramePr>
        <p:xfrm>
          <a:off x="2858406" y="4796414"/>
          <a:ext cx="6784750" cy="741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569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569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037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2102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94607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0x80000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rgbClr val="88A2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0x80004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rgbClr val="88A2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…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rgbClr val="88A2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Last element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rgbClr val="88A2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Terminal element</a:t>
                      </a:r>
                      <a:endParaRPr dirty="0"/>
                    </a:p>
                  </a:txBody>
                  <a:tcPr marL="91450" marR="91450" marT="45725" marB="45725">
                    <a:solidFill>
                      <a:srgbClr val="88A2A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…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0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85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Chapter 5!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/>
              <a:t>/10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5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306</Words>
  <Application>Microsoft Office PowerPoint</Application>
  <PresentationFormat>Custom</PresentationFormat>
  <Paragraphs>93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Microprocessors  and  Assembly Language   Lecture 21    Hamed Farbeh farbeh@aut.ac.ir Fall 2024</vt:lpstr>
      <vt:lpstr>Copyright Notice</vt:lpstr>
      <vt:lpstr>Signed Integer Numbers Arithmetic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Chapter 5!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51</cp:revision>
  <dcterms:created xsi:type="dcterms:W3CDTF">2022-09-03T16:31:37Z</dcterms:created>
  <dcterms:modified xsi:type="dcterms:W3CDTF">2024-08-19T11:35:25Z</dcterms:modified>
</cp:coreProperties>
</file>