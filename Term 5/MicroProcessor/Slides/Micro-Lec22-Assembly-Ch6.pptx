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77" r:id="rId3"/>
    <p:sldId id="258" r:id="rId4"/>
    <p:sldId id="278" r:id="rId5"/>
    <p:sldId id="284" r:id="rId6"/>
    <p:sldId id="285" r:id="rId7"/>
    <p:sldId id="286" r:id="rId8"/>
    <p:sldId id="287" r:id="rId9"/>
    <p:sldId id="289" r:id="rId10"/>
    <p:sldId id="290" r:id="rId11"/>
    <p:sldId id="291" r:id="rId12"/>
    <p:sldId id="292" r:id="rId13"/>
    <p:sldId id="293" r:id="rId14"/>
    <p:sldId id="294" r:id="rId15"/>
    <p:sldId id="26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8892"/>
    <a:srgbClr val="05555E"/>
    <a:srgbClr val="88A2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-420" y="-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EC36BE-A613-4CBB-9666-AC4A6A426511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1F2AE-6363-4FD6-82B2-4C3A1B5FE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001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4;p13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1189231"/>
            <a:ext cx="7193280" cy="4479540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Maiandra GD" panose="020E0502030308020204" pitchFamily="34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D962B-3A5F-43B0-9B87-996C1184CDF4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56;p13"/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686" y="274831"/>
            <a:ext cx="914400" cy="914400"/>
          </a:xfrm>
          <a:prstGeom prst="rect">
            <a:avLst/>
          </a:prstGeom>
          <a:noFill/>
          <a:ln>
            <a:noFill/>
          </a:ln>
          <a:effectLst>
            <a:outerShdw blurRad="714375" dist="19050" dir="1440000" algn="bl" rotWithShape="0">
              <a:schemeClr val="dk2">
                <a:alpha val="47000"/>
              </a:schemeClr>
            </a:outerShdw>
          </a:effectLst>
        </p:spPr>
      </p:pic>
      <p:sp>
        <p:nvSpPr>
          <p:cNvPr id="9" name="Google Shape;57;p13"/>
          <p:cNvSpPr txBox="1"/>
          <p:nvPr userDrawn="1"/>
        </p:nvSpPr>
        <p:spPr>
          <a:xfrm>
            <a:off x="168175" y="1189231"/>
            <a:ext cx="2133423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Amirkabir University of Technology</a:t>
            </a: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</a:t>
            </a: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3585061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4;p13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1189231"/>
            <a:ext cx="7193280" cy="4479540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Maiandra GD" panose="020E0502030308020204" pitchFamily="34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43CC3-0D71-4D9F-ABFB-51B6C91676F2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/15</a:t>
            </a:r>
          </a:p>
        </p:txBody>
      </p:sp>
    </p:spTree>
    <p:extLst>
      <p:ext uri="{BB962C8B-B14F-4D97-AF65-F5344CB8AC3E}">
        <p14:creationId xmlns:p14="http://schemas.microsoft.com/office/powerpoint/2010/main" val="2582954657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Font typeface="Arial" panose="020B0604020202020204" pitchFamily="34" charset="0"/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2014C-3F63-4197-BD75-C55B930B5ABE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21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/15</a:t>
            </a:r>
          </a:p>
        </p:txBody>
      </p:sp>
    </p:spTree>
    <p:extLst>
      <p:ext uri="{BB962C8B-B14F-4D97-AF65-F5344CB8AC3E}">
        <p14:creationId xmlns:p14="http://schemas.microsoft.com/office/powerpoint/2010/main" val="3183943044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BA67B-D4DB-41D7-8B2A-1E58BD9A94C0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5444030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F3D5A-AEBA-4D6E-84B9-2B7AB6765B9C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1604236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2D642-8320-4839-BCEB-1F98A807F13D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8691987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64B4B-3451-4BA0-ACC7-591515117DDE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20955613" flipH="1">
            <a:off x="-2067458" y="-3921437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/15</a:t>
            </a:r>
          </a:p>
        </p:txBody>
      </p:sp>
    </p:spTree>
    <p:extLst>
      <p:ext uri="{BB962C8B-B14F-4D97-AF65-F5344CB8AC3E}">
        <p14:creationId xmlns:p14="http://schemas.microsoft.com/office/powerpoint/2010/main" val="1791201407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FD0F6-8AFB-4620-BF8C-41C84D85A675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20955613" flipH="1">
            <a:off x="-2067458" y="-3921437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/15</a:t>
            </a:r>
          </a:p>
        </p:txBody>
      </p:sp>
    </p:spTree>
    <p:extLst>
      <p:ext uri="{BB962C8B-B14F-4D97-AF65-F5344CB8AC3E}">
        <p14:creationId xmlns:p14="http://schemas.microsoft.com/office/powerpoint/2010/main" val="966705281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78005-B66D-4966-9C6E-468CD1B105F3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1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CA221-8DFA-4063-AC1B-5AF4C2BA309B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363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217BD-6989-4EC8-BFD9-D5E449F891C9}" type="datetime1">
              <a:rPr lang="en-US" smtClean="0"/>
              <a:t>8/19/2024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026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199BD-6BEE-4057-B4AC-73E69A1EA71E}" type="datetime1">
              <a:rPr lang="en-US" smtClean="0"/>
              <a:t>8/19/2024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63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66B33-30EF-4444-AF84-6B866B369919}" type="datetime1">
              <a:rPr lang="en-US" smtClean="0"/>
              <a:t>8/19/2024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9860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ED1A8-C576-4CCD-AC64-66CFDA2E9CC2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79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CAFA0-1A24-417E-8675-8B68EDE885A0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301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BC2F7-1993-4DD0-8D1E-D262DDEAC599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9112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7EA3-F81B-4AFC-A74A-0CD2B6722ABA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419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C45DDF-C17D-41B4-ADF5-76AEF107812E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80452" y="63882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75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2" r:id="rId3"/>
    <p:sldLayoutId id="2147483663" r:id="rId4"/>
    <p:sldLayoutId id="2147483668" r:id="rId5"/>
    <p:sldLayoutId id="2147483667" r:id="rId6"/>
    <p:sldLayoutId id="2147483664" r:id="rId7"/>
    <p:sldLayoutId id="2147483665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797442"/>
            <a:ext cx="7193280" cy="5390707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Microprocessors</a:t>
            </a:r>
            <a:b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 and </a:t>
            </a:r>
            <a:b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Assembly Language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Lecture </a:t>
            </a:r>
            <a:r>
              <a:rPr lang="en-US" sz="2800" kern="0" dirty="0">
                <a:solidFill>
                  <a:srgbClr val="FFFFFF"/>
                </a:solidFill>
                <a:ea typeface="EB Garamond Medium"/>
                <a:cs typeface="EB Garamond Medium"/>
                <a:sym typeface="EB Garamond Medium"/>
              </a:rPr>
              <a:t>22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Hamed Farbeh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farbeh@aut.ac.ir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Fall 2024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04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idx="4294967295"/>
          </p:nvPr>
        </p:nvSpPr>
        <p:spPr>
          <a:xfrm>
            <a:off x="838200" y="44608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Copyright Notice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6577" y="1838325"/>
            <a:ext cx="1088707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Parts (text &amp; figures) of this lecture are adopted from:</a:t>
            </a:r>
            <a:endParaRPr lang="en-US" sz="16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Arm Assembly Language Programming and Architecture, Volume 1, 1</a:t>
            </a:r>
            <a:r>
              <a:rPr lang="en-US" sz="2200" b="1" baseline="30000" dirty="0"/>
              <a:t>st</a:t>
            </a:r>
            <a:r>
              <a:rPr lang="en-US" sz="2200" b="1" dirty="0"/>
              <a:t> edition, Muhammad Ali </a:t>
            </a:r>
            <a:r>
              <a:rPr lang="en-US" sz="2200" b="1" dirty="0" err="1"/>
              <a:t>Mazidi</a:t>
            </a:r>
            <a:r>
              <a:rPr lang="en-US" sz="2200" b="1" dirty="0"/>
              <a:t>, </a:t>
            </a:r>
            <a:r>
              <a:rPr lang="en-US" sz="2200" b="1" dirty="0" err="1"/>
              <a:t>Sarmad</a:t>
            </a:r>
            <a:r>
              <a:rPr lang="en-US" sz="2200" b="1" dirty="0"/>
              <a:t> </a:t>
            </a:r>
            <a:r>
              <a:rPr lang="en-US" sz="2200" b="1" dirty="0" err="1"/>
              <a:t>Naimi</a:t>
            </a:r>
            <a:r>
              <a:rPr lang="en-US" sz="2200" b="1" dirty="0"/>
              <a:t>, and </a:t>
            </a:r>
            <a:r>
              <a:rPr lang="en-US" sz="2200" b="1" dirty="0" err="1"/>
              <a:t>Sepehr</a:t>
            </a:r>
            <a:r>
              <a:rPr lang="en-US" sz="2200" b="1" dirty="0"/>
              <a:t> </a:t>
            </a:r>
            <a:r>
              <a:rPr lang="en-US" sz="2200" b="1" dirty="0" err="1"/>
              <a:t>Naimi</a:t>
            </a:r>
            <a:r>
              <a:rPr lang="en-US" sz="2200" b="1" dirty="0"/>
              <a:t>, </a:t>
            </a:r>
            <a:r>
              <a:rPr lang="en-US" sz="2200" b="1" dirty="0" err="1"/>
              <a:t>MicroDigitalEd</a:t>
            </a:r>
            <a:r>
              <a:rPr lang="en-US" sz="2200" b="1" dirty="0"/>
              <a:t>, 2013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b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467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77588" y="1241126"/>
            <a:ext cx="7565805" cy="4479540"/>
          </a:xfrm>
        </p:spPr>
        <p:txBody>
          <a:bodyPr>
            <a:normAutofit/>
          </a:bodyPr>
          <a:lstStyle/>
          <a:p>
            <a:r>
              <a:rPr lang="en-US" b="1" dirty="0"/>
              <a:t>ARM Memory Map, Memory Access and Stack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3</a:t>
            </a:fld>
            <a:r>
              <a:rPr lang="en-US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070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cs typeface="B Titr" panose="00000700000000000000" pitchFamily="2" charset="-78"/>
              </a:rPr>
              <a:t>Memory Addressing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374" y="1569902"/>
            <a:ext cx="110728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Memory Byte Addressing in ARM</a:t>
            </a:r>
            <a:endParaRPr lang="en-US" sz="2000" b="1" dirty="0"/>
          </a:p>
        </p:txBody>
      </p:sp>
      <p:pic>
        <p:nvPicPr>
          <p:cNvPr id="5" name="Google Shape;194;p28" descr="F6-1_MemByteAddrInARM.jpg"/>
          <p:cNvPicPr preferRelativeResize="0"/>
          <p:nvPr/>
        </p:nvPicPr>
        <p:blipFill rotWithShape="1">
          <a:blip r:embed="rId2">
            <a:alphaModFix/>
            <a:grayscl/>
          </a:blip>
          <a:srcRect/>
          <a:stretch/>
        </p:blipFill>
        <p:spPr>
          <a:xfrm>
            <a:off x="3204887" y="2335813"/>
            <a:ext cx="5782226" cy="393285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4</a:t>
            </a:fld>
            <a:r>
              <a:rPr lang="en-US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287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cs typeface="B Titr" panose="00000700000000000000" pitchFamily="2" charset="-78"/>
              </a:rPr>
              <a:t>Memory Addressing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374" y="1779454"/>
            <a:ext cx="11072814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Sample Memory Space Allocation in ARM</a:t>
            </a:r>
          </a:p>
        </p:txBody>
      </p:sp>
      <p:pic>
        <p:nvPicPr>
          <p:cNvPr id="6" name="Google Shape;203;p29"/>
          <p:cNvPicPr preferRelativeResize="0"/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859151" y="2719388"/>
            <a:ext cx="8416913" cy="247173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5</a:t>
            </a:fld>
            <a:r>
              <a:rPr lang="en-US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747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cs typeface="B Titr" panose="00000700000000000000" pitchFamily="2" charset="-78"/>
              </a:rPr>
              <a:t>AHB and APB buses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403" y="1844757"/>
            <a:ext cx="538309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AHB: advanced high-performance bus</a:t>
            </a:r>
            <a:endParaRPr lang="en-US" dirty="0"/>
          </a:p>
          <a:p>
            <a:pPr marL="800100" lvl="1" indent="-342900">
              <a:lnSpc>
                <a:spcPct val="15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Connects CPU to RAM, ROM, …</a:t>
            </a:r>
          </a:p>
          <a:p>
            <a:pPr lvl="1">
              <a:lnSpc>
                <a:spcPct val="150000"/>
              </a:lnSpc>
              <a:buClr>
                <a:schemeClr val="dk1"/>
              </a:buClr>
              <a:buSzPts val="2000"/>
            </a:pPr>
            <a:endParaRPr lang="en-US" sz="2200" b="1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APB: advanced peripherals bus</a:t>
            </a:r>
            <a:endParaRPr lang="en-US" dirty="0"/>
          </a:p>
          <a:p>
            <a:pPr marL="800100" lvl="1" indent="-342900">
              <a:lnSpc>
                <a:spcPct val="15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Dedicated for communication with the on-chip peripherals</a:t>
            </a:r>
            <a:endParaRPr lang="en-US" sz="2200" dirty="0"/>
          </a:p>
          <a:p>
            <a:pPr marL="1257300" lvl="2" indent="-342900">
              <a:lnSpc>
                <a:spcPct val="150000"/>
              </a:lnSpc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timers, ADC, UART, SPI, I2C, …</a:t>
            </a:r>
            <a:endParaRPr lang="en-US" sz="2000" dirty="0"/>
          </a:p>
        </p:txBody>
      </p:sp>
      <p:pic>
        <p:nvPicPr>
          <p:cNvPr id="7" name="Google Shape;212;p30" descr="F6-4_AHBandAPBinARM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99498" y="2595118"/>
            <a:ext cx="6024154" cy="236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6</a:t>
            </a:fld>
            <a:r>
              <a:rPr lang="en-US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196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cs typeface="B Titr" panose="00000700000000000000" pitchFamily="2" charset="-78"/>
              </a:rPr>
              <a:t>Data Misalignment in SRAM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3742" y="1888312"/>
            <a:ext cx="4434572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Compilers make sure that instructions are always aligned </a:t>
            </a:r>
          </a:p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endParaRPr lang="en-US" dirty="0"/>
          </a:p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Placement of data in SRAM can be nonaligned</a:t>
            </a:r>
            <a:endParaRPr lang="en-US" dirty="0"/>
          </a:p>
          <a:p>
            <a:pPr marL="800100" lvl="1" indent="-342900">
              <a:lnSpc>
                <a:spcPct val="15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Memory access penalty</a:t>
            </a:r>
          </a:p>
        </p:txBody>
      </p:sp>
      <p:pic>
        <p:nvPicPr>
          <p:cNvPr id="7" name="Google Shape;221;p31" descr="F6-5_MemoryAccessforAlignedAndNon-alignedData.jpg"/>
          <p:cNvPicPr preferRelativeResize="0"/>
          <p:nvPr/>
        </p:nvPicPr>
        <p:blipFill rotWithShape="1">
          <a:blip r:embed="rId2">
            <a:alphaModFix/>
          </a:blip>
          <a:srcRect b="67267"/>
          <a:stretch/>
        </p:blipFill>
        <p:spPr>
          <a:xfrm>
            <a:off x="5192486" y="1942768"/>
            <a:ext cx="6605588" cy="1145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22;p31" descr="F6-5_MemoryAccessforAlignedAndNon-alignedData.jpg"/>
          <p:cNvPicPr preferRelativeResize="0"/>
          <p:nvPr/>
        </p:nvPicPr>
        <p:blipFill rotWithShape="1">
          <a:blip r:embed="rId2">
            <a:alphaModFix/>
          </a:blip>
          <a:srcRect t="35789"/>
          <a:stretch/>
        </p:blipFill>
        <p:spPr>
          <a:xfrm>
            <a:off x="5192486" y="3102919"/>
            <a:ext cx="6605588" cy="266607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7</a:t>
            </a:fld>
            <a:r>
              <a:rPr lang="en-US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339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cs typeface="B Titr" panose="00000700000000000000" pitchFamily="2" charset="-78"/>
              </a:rPr>
              <a:t>Data Misalignment in SRAM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2283" y="1508621"/>
            <a:ext cx="6367433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lnSpc>
                <a:spcPct val="150000"/>
              </a:lnSpc>
            </a:pPr>
            <a:r>
              <a:rPr lang="pt-BR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LDR R1, =0x40000000 </a:t>
            </a:r>
            <a:r>
              <a:rPr lang="pt-BR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; R1=0x40000000</a:t>
            </a:r>
            <a:endParaRPr lang="pt-BR" dirty="0">
              <a:solidFill>
                <a:srgbClr val="688892"/>
              </a:solidFill>
            </a:endParaRPr>
          </a:p>
          <a:p>
            <a:pPr lvl="2">
              <a:lnSpc>
                <a:spcPct val="150000"/>
              </a:lnSpc>
            </a:pPr>
            <a:r>
              <a:rPr lang="pt-BR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LDR R2, =0x4598F31E </a:t>
            </a:r>
            <a:r>
              <a:rPr lang="pt-BR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; R2=0x4598F31E</a:t>
            </a:r>
            <a:endParaRPr lang="pt-BR" dirty="0">
              <a:solidFill>
                <a:srgbClr val="688892"/>
              </a:solidFill>
            </a:endParaRPr>
          </a:p>
          <a:p>
            <a:pPr lvl="2">
              <a:lnSpc>
                <a:spcPct val="150000"/>
              </a:lnSpc>
            </a:pPr>
            <a:r>
              <a:rPr lang="pt-BR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STR R2, [R1] </a:t>
            </a:r>
            <a:r>
              <a:rPr lang="pt-BR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; Store R2 to location 0x40000000</a:t>
            </a:r>
            <a:endParaRPr lang="pt-BR" dirty="0">
              <a:solidFill>
                <a:srgbClr val="688892"/>
              </a:solidFill>
            </a:endParaRPr>
          </a:p>
          <a:p>
            <a:pPr lvl="2">
              <a:lnSpc>
                <a:spcPct val="150000"/>
              </a:lnSpc>
            </a:pPr>
            <a:r>
              <a:rPr lang="pt-BR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ADD R1, R1, #1 </a:t>
            </a:r>
            <a:r>
              <a:rPr lang="pt-BR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; R1 = R1 + 1 = 0x40000001</a:t>
            </a:r>
            <a:endParaRPr lang="pt-BR" dirty="0">
              <a:solidFill>
                <a:srgbClr val="688892"/>
              </a:solidFill>
            </a:endParaRPr>
          </a:p>
          <a:p>
            <a:pPr lvl="2">
              <a:lnSpc>
                <a:spcPct val="150000"/>
              </a:lnSpc>
            </a:pPr>
            <a:r>
              <a:rPr lang="pt-BR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STR R2, [R1] </a:t>
            </a:r>
            <a:r>
              <a:rPr lang="pt-BR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; Store R2 to location 0x40000001</a:t>
            </a:r>
            <a:endParaRPr lang="pt-BR" dirty="0">
              <a:solidFill>
                <a:srgbClr val="688892"/>
              </a:solidFill>
            </a:endParaRPr>
          </a:p>
        </p:txBody>
      </p:sp>
      <p:pic>
        <p:nvPicPr>
          <p:cNvPr id="7" name="Google Shape;231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51292" y="3779070"/>
            <a:ext cx="6329160" cy="1283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32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34080" y="5081788"/>
            <a:ext cx="6367433" cy="120938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8</a:t>
            </a:fld>
            <a:r>
              <a:rPr lang="en-US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67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>
            <a:spLocks/>
          </p:cNvSpPr>
          <p:nvPr/>
        </p:nvSpPr>
        <p:spPr>
          <a:xfrm>
            <a:off x="838200" y="39778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200" dirty="0">
                <a:cs typeface="B Titr" panose="00000700000000000000" pitchFamily="2" charset="-78"/>
              </a:rPr>
              <a:t>Advanced Indexed Addressing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374" y="1833885"/>
            <a:ext cx="11072814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Base plus offset addressing modes</a:t>
            </a:r>
          </a:p>
          <a:p>
            <a:pPr marL="742950" lvl="1" indent="-285750">
              <a:lnSpc>
                <a:spcPct val="15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Pre-indexed addressing mode with fixed offset</a:t>
            </a:r>
          </a:p>
          <a:p>
            <a:pPr lvl="2">
              <a:lnSpc>
                <a:spcPct val="150000"/>
              </a:lnSpc>
            </a:pPr>
            <a:r>
              <a:rPr lang="en-US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LDR R5, =0x55667788</a:t>
            </a:r>
            <a:endParaRPr lang="en-US" dirty="0">
              <a:solidFill>
                <a:srgbClr val="05555E"/>
              </a:solidFill>
            </a:endParaRPr>
          </a:p>
          <a:p>
            <a:pPr lvl="2">
              <a:lnSpc>
                <a:spcPct val="150000"/>
              </a:lnSpc>
            </a:pPr>
            <a:r>
              <a:rPr lang="en-US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LDR R1, =0x10000000</a:t>
            </a:r>
            <a:r>
              <a:rPr lang="fa-IR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; load the address of first location</a:t>
            </a:r>
            <a:endParaRPr lang="en-US" dirty="0">
              <a:solidFill>
                <a:srgbClr val="688892"/>
              </a:solidFill>
            </a:endParaRPr>
          </a:p>
          <a:p>
            <a:pPr lvl="2">
              <a:lnSpc>
                <a:spcPct val="150000"/>
              </a:lnSpc>
            </a:pPr>
            <a:r>
              <a:rPr lang="en-US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STR R5, [R1] </a:t>
            </a:r>
            <a:r>
              <a:rPr lang="en-US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; store R5 to location 0x10000000</a:t>
            </a:r>
            <a:endParaRPr lang="en-US" dirty="0">
              <a:solidFill>
                <a:srgbClr val="688892"/>
              </a:solidFill>
            </a:endParaRPr>
          </a:p>
          <a:p>
            <a:pPr lvl="2">
              <a:lnSpc>
                <a:spcPct val="150000"/>
              </a:lnSpc>
            </a:pPr>
            <a:r>
              <a:rPr lang="en-US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STR R5, [R1, #4]</a:t>
            </a:r>
            <a:r>
              <a:rPr lang="fa-IR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; store R5 to location 0x10000000 + 4 (0x10000004)</a:t>
            </a:r>
            <a:endParaRPr lang="en-US" dirty="0">
              <a:solidFill>
                <a:srgbClr val="688892"/>
              </a:solidFill>
            </a:endParaRPr>
          </a:p>
          <a:p>
            <a:pPr lvl="2">
              <a:lnSpc>
                <a:spcPct val="150000"/>
              </a:lnSpc>
            </a:pPr>
            <a:r>
              <a:rPr lang="en-US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STR R5, [R1, #8]</a:t>
            </a:r>
            <a:r>
              <a:rPr lang="fa-IR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; store R5 to location 0x10000000 + 8 (0x10000008)</a:t>
            </a:r>
            <a:endParaRPr lang="en-US" dirty="0">
              <a:solidFill>
                <a:srgbClr val="688892"/>
              </a:solidFill>
            </a:endParaRPr>
          </a:p>
          <a:p>
            <a:pPr lvl="2">
              <a:lnSpc>
                <a:spcPct val="150000"/>
              </a:lnSpc>
            </a:pPr>
            <a:r>
              <a:rPr lang="en-US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STR R5, [R1, #0x0C]</a:t>
            </a:r>
            <a:r>
              <a:rPr lang="fa-IR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; store R5 to location 0x10000000 + 0x0C (0x1000000C)</a:t>
            </a:r>
            <a:endParaRPr lang="en-US" dirty="0">
              <a:solidFill>
                <a:srgbClr val="688892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9</a:t>
            </a:fld>
            <a:r>
              <a:rPr lang="en-US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597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>
            <a:spLocks/>
          </p:cNvSpPr>
          <p:nvPr/>
        </p:nvSpPr>
        <p:spPr>
          <a:xfrm>
            <a:off x="838200" y="39778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200" dirty="0">
                <a:cs typeface="B Titr" panose="00000700000000000000" pitchFamily="2" charset="-78"/>
              </a:rPr>
              <a:t>Advanced Indexed Addressing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374" y="1518191"/>
            <a:ext cx="11072814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Base plus offset addressing modes</a:t>
            </a:r>
          </a:p>
          <a:p>
            <a:pPr marL="742950" lvl="3" indent="-285750">
              <a:lnSpc>
                <a:spcPct val="15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Pre-indexed addressing mode with write</a:t>
            </a:r>
            <a:r>
              <a:rPr lang="fa-IR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back and fixed offset</a:t>
            </a:r>
            <a:endParaRPr lang="en-US" sz="2200" dirty="0"/>
          </a:p>
          <a:p>
            <a:pPr marL="1200150" lvl="4" indent="-285750">
              <a:lnSpc>
                <a:spcPct val="15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The calculated pointer is written back to the pointing register</a:t>
            </a:r>
            <a:endParaRPr lang="en-US" sz="2000" dirty="0"/>
          </a:p>
          <a:p>
            <a:pPr marL="914400" lvl="4">
              <a:lnSpc>
                <a:spcPct val="150000"/>
              </a:lnSpc>
            </a:pPr>
            <a:r>
              <a:rPr lang="en-US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LDR R1, =0x10000000 </a:t>
            </a:r>
            <a:r>
              <a:rPr lang="en-US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; load the address of first location</a:t>
            </a:r>
            <a:endParaRPr lang="en-US" dirty="0">
              <a:solidFill>
                <a:srgbClr val="688892"/>
              </a:solidFill>
            </a:endParaRPr>
          </a:p>
          <a:p>
            <a:pPr marL="914400" lvl="4">
              <a:lnSpc>
                <a:spcPct val="150000"/>
              </a:lnSpc>
            </a:pPr>
            <a:r>
              <a:rPr lang="en-US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STR R5, [R1]</a:t>
            </a:r>
            <a:r>
              <a:rPr lang="en-US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 ; store R5 to location 0x10000000</a:t>
            </a:r>
            <a:endParaRPr lang="en-US" dirty="0">
              <a:solidFill>
                <a:srgbClr val="688892"/>
              </a:solidFill>
            </a:endParaRPr>
          </a:p>
          <a:p>
            <a:pPr marL="914400" lvl="4">
              <a:lnSpc>
                <a:spcPct val="150000"/>
              </a:lnSpc>
            </a:pPr>
            <a:r>
              <a:rPr lang="en-US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STR R5, [R1, #4]!</a:t>
            </a:r>
            <a:r>
              <a:rPr lang="fa-IR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; store R5 to location 0x10000000 + 4 (0x10000004)</a:t>
            </a:r>
            <a:endParaRPr lang="en-US" dirty="0">
              <a:solidFill>
                <a:srgbClr val="688892"/>
              </a:solidFill>
            </a:endParaRPr>
          </a:p>
          <a:p>
            <a:pPr marL="914400" lvl="4">
              <a:lnSpc>
                <a:spcPct val="150000"/>
              </a:lnSpc>
            </a:pPr>
            <a:r>
              <a:rPr lang="en-US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		; write</a:t>
            </a:r>
            <a:r>
              <a:rPr lang="fa-IR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back makes R1 = 0x10000004</a:t>
            </a:r>
            <a:endParaRPr lang="en-US" dirty="0">
              <a:solidFill>
                <a:srgbClr val="688892"/>
              </a:solidFill>
            </a:endParaRPr>
          </a:p>
          <a:p>
            <a:pPr marL="914400" lvl="4">
              <a:lnSpc>
                <a:spcPct val="150000"/>
              </a:lnSpc>
            </a:pPr>
            <a:r>
              <a:rPr lang="en-US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STR R5, [R1, #4]!</a:t>
            </a:r>
            <a:r>
              <a:rPr lang="fa-IR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; store R5 to location 0x10000004 + 4 (0x10000008)</a:t>
            </a:r>
            <a:endParaRPr lang="en-US" dirty="0">
              <a:solidFill>
                <a:srgbClr val="688892"/>
              </a:solidFill>
            </a:endParaRPr>
          </a:p>
          <a:p>
            <a:pPr marL="914400" lvl="4">
              <a:lnSpc>
                <a:spcPct val="150000"/>
              </a:lnSpc>
            </a:pPr>
            <a:r>
              <a:rPr lang="en-US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		; write</a:t>
            </a:r>
            <a:r>
              <a:rPr lang="fa-IR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back makes R1 = 0x10000008</a:t>
            </a:r>
            <a:endParaRPr lang="en-US" dirty="0">
              <a:solidFill>
                <a:srgbClr val="688892"/>
              </a:solidFill>
            </a:endParaRPr>
          </a:p>
          <a:p>
            <a:pPr marL="914400" lvl="4">
              <a:lnSpc>
                <a:spcPct val="150000"/>
              </a:lnSpc>
            </a:pPr>
            <a:r>
              <a:rPr lang="en-US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STR R5, [R1, #4]!</a:t>
            </a:r>
            <a:r>
              <a:rPr lang="fa-IR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; store R5 to location 0x10000008 + 4 (0x1000000C)</a:t>
            </a:r>
            <a:endParaRPr lang="en-US" dirty="0">
              <a:solidFill>
                <a:srgbClr val="688892"/>
              </a:solidFill>
            </a:endParaRPr>
          </a:p>
          <a:p>
            <a:pPr marL="914400" lvl="4">
              <a:lnSpc>
                <a:spcPct val="150000"/>
              </a:lnSpc>
            </a:pPr>
            <a:r>
              <a:rPr lang="en-US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		; write</a:t>
            </a:r>
            <a:r>
              <a:rPr lang="fa-IR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back makes R1 = 0x1000000C</a:t>
            </a:r>
            <a:endParaRPr lang="en-US" dirty="0">
              <a:solidFill>
                <a:srgbClr val="688892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10</a:t>
            </a:fld>
            <a:r>
              <a:rPr lang="en-US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165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>
            <a:spLocks/>
          </p:cNvSpPr>
          <p:nvPr/>
        </p:nvSpPr>
        <p:spPr>
          <a:xfrm>
            <a:off x="838200" y="39778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200" dirty="0">
                <a:cs typeface="B Titr" panose="00000700000000000000" pitchFamily="2" charset="-78"/>
              </a:rPr>
              <a:t>Advanced Indexed Addressing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374" y="1866532"/>
            <a:ext cx="110728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Base plus offset addressing modes</a:t>
            </a:r>
          </a:p>
          <a:p>
            <a:pPr marL="742950" lvl="3" indent="-285750">
              <a:lnSpc>
                <a:spcPct val="15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Post-indexed addressing mode with fixed offset</a:t>
            </a:r>
            <a:endParaRPr lang="en-US" sz="2200" dirty="0"/>
          </a:p>
          <a:p>
            <a:pPr marL="1200150" lvl="4" indent="-285750">
              <a:lnSpc>
                <a:spcPct val="15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Update pointer after the load/store operation </a:t>
            </a:r>
            <a:endParaRPr lang="en-US" sz="2000" dirty="0"/>
          </a:p>
          <a:p>
            <a:pPr marL="914400" lvl="4">
              <a:lnSpc>
                <a:spcPct val="150000"/>
              </a:lnSpc>
            </a:pPr>
            <a:r>
              <a:rPr lang="en-US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STR R1, [R2], #4   </a:t>
            </a:r>
            <a:r>
              <a:rPr lang="en-US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; store R1 into memory pointed to by R2 and then 	write back R2 + 4 to R2</a:t>
            </a:r>
            <a:endParaRPr lang="en-US" dirty="0">
              <a:solidFill>
                <a:srgbClr val="688892"/>
              </a:solidFill>
            </a:endParaRPr>
          </a:p>
          <a:p>
            <a:pPr marL="914400" lvl="4">
              <a:lnSpc>
                <a:spcPct val="150000"/>
              </a:lnSpc>
            </a:pPr>
            <a:r>
              <a:rPr lang="en-US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LDRB R5, [R3], #1 </a:t>
            </a:r>
            <a:r>
              <a:rPr lang="en-US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; load a byte from memory pointed to by R3 and then write back R3 + 1 to R3</a:t>
            </a:r>
          </a:p>
          <a:p>
            <a:pPr lvl="2">
              <a:lnSpc>
                <a:spcPct val="150000"/>
              </a:lnSpc>
            </a:pPr>
            <a:endParaRPr lang="en-US" b="1" dirty="0">
              <a:solidFill>
                <a:srgbClr val="00B050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11</a:t>
            </a:fld>
            <a:r>
              <a:rPr lang="en-US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894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>
            <a:spLocks/>
          </p:cNvSpPr>
          <p:nvPr/>
        </p:nvSpPr>
        <p:spPr>
          <a:xfrm>
            <a:off x="838200" y="39778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200" dirty="0">
                <a:cs typeface="B Titr" panose="00000700000000000000" pitchFamily="2" charset="-78"/>
              </a:rPr>
              <a:t>Advanced Indexed Addressing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374" y="1452873"/>
            <a:ext cx="11072814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Pre-indexed address mode with offset of a shifted register</a:t>
            </a:r>
          </a:p>
          <a:p>
            <a:pPr marL="742950" lvl="3" indent="-285750">
              <a:lnSpc>
                <a:spcPct val="15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Simple format</a:t>
            </a:r>
            <a:endParaRPr lang="en-US" sz="2200" dirty="0"/>
          </a:p>
          <a:p>
            <a:pPr marL="914400" lvl="4"/>
            <a:r>
              <a:rPr lang="en-US" sz="2000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LDR Rd, [Rm, Rn] </a:t>
            </a:r>
            <a:r>
              <a:rPr lang="en-US" sz="2000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; Rd is loaded from location Rm + Rn of memory</a:t>
            </a:r>
            <a:endParaRPr lang="en-US" sz="2000" dirty="0">
              <a:solidFill>
                <a:srgbClr val="688892"/>
              </a:solidFill>
            </a:endParaRPr>
          </a:p>
          <a:p>
            <a:pPr marL="914400" lvl="4"/>
            <a:r>
              <a:rPr lang="en-US" sz="2000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STR </a:t>
            </a:r>
            <a:r>
              <a:rPr lang="en-US" sz="2000" b="1" dirty="0" err="1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Rs</a:t>
            </a:r>
            <a:r>
              <a:rPr lang="en-US" sz="2000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, [Rm, Rn] </a:t>
            </a:r>
            <a:r>
              <a:rPr lang="en-US" sz="2000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; </a:t>
            </a:r>
            <a:r>
              <a:rPr lang="en-US" sz="2000" b="1" dirty="0" err="1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Rs</a:t>
            </a:r>
            <a:r>
              <a:rPr lang="en-US" sz="2000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 is stored to location Rm + Rn of memory</a:t>
            </a:r>
            <a:endParaRPr lang="en-US" sz="2000" dirty="0">
              <a:solidFill>
                <a:srgbClr val="688892"/>
              </a:solidFill>
            </a:endParaRPr>
          </a:p>
          <a:p>
            <a:pPr marL="800100" lvl="3" indent="-342900">
              <a:lnSpc>
                <a:spcPct val="15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General format</a:t>
            </a:r>
            <a:endParaRPr lang="en-US" sz="2200" dirty="0"/>
          </a:p>
          <a:p>
            <a:pPr marL="914400" lvl="4"/>
            <a:r>
              <a:rPr lang="en-US" sz="2000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LDR Rd, [Rm, Rn, &lt;shift&gt;] </a:t>
            </a:r>
            <a:r>
              <a:rPr lang="en-US" sz="2000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; (Shifted Rn) + Rm is used as the address</a:t>
            </a:r>
            <a:endParaRPr lang="en-US" sz="2000" dirty="0">
              <a:solidFill>
                <a:srgbClr val="688892"/>
              </a:solidFill>
            </a:endParaRPr>
          </a:p>
          <a:p>
            <a:pPr marL="914400" lvl="4"/>
            <a:r>
              <a:rPr lang="en-US" sz="2000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STR Rd, [Rm, Rn, &lt;shift&gt;] </a:t>
            </a:r>
            <a:r>
              <a:rPr lang="en-US" sz="2000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; (Shifted Rn) + Rm is used as the address</a:t>
            </a:r>
            <a:endParaRPr lang="en-US" sz="2000" dirty="0">
              <a:solidFill>
                <a:srgbClr val="688892"/>
              </a:solidFill>
            </a:endParaRPr>
          </a:p>
          <a:p>
            <a:pPr marL="914400" lvl="4"/>
            <a:endParaRPr lang="en-US" sz="1400" b="1" dirty="0">
              <a:solidFill>
                <a:srgbClr val="05555E"/>
              </a:solidFill>
              <a:ea typeface="Calibri"/>
              <a:cs typeface="Calibri"/>
              <a:sym typeface="Calibri"/>
            </a:endParaRPr>
          </a:p>
          <a:p>
            <a:pPr marL="914400" lvl="4"/>
            <a:endParaRPr lang="en-US" sz="1400" b="1" dirty="0">
              <a:solidFill>
                <a:srgbClr val="05555E"/>
              </a:solidFill>
              <a:ea typeface="Calibri"/>
              <a:cs typeface="Calibri"/>
              <a:sym typeface="Calibri"/>
            </a:endParaRPr>
          </a:p>
          <a:p>
            <a:pPr marL="914400" lvl="4"/>
            <a:r>
              <a:rPr lang="en-US" sz="2000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LDR R1, [R2, R3, LSL #2] </a:t>
            </a:r>
            <a:r>
              <a:rPr lang="en-US" sz="2000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; R2 + (R3 × 4) is used as the address</a:t>
            </a:r>
            <a:endParaRPr lang="en-US" sz="2000" dirty="0">
              <a:solidFill>
                <a:srgbClr val="688892"/>
              </a:solidFill>
            </a:endParaRPr>
          </a:p>
          <a:p>
            <a:pPr marL="914400" lvl="4"/>
            <a:r>
              <a:rPr lang="en-US" sz="2000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STR R1, [R2, R3, LSL #1] </a:t>
            </a:r>
            <a:r>
              <a:rPr lang="en-US" sz="2000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; R2 + (R3 × 2) is used as the address</a:t>
            </a:r>
            <a:endParaRPr lang="en-US" sz="2000" dirty="0">
              <a:solidFill>
                <a:srgbClr val="688892"/>
              </a:solidFill>
            </a:endParaRPr>
          </a:p>
          <a:p>
            <a:pPr marL="914400" lvl="4"/>
            <a:r>
              <a:rPr lang="en-US" sz="2000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STRB R1, [R2, R3, LSL #2] </a:t>
            </a:r>
            <a:r>
              <a:rPr lang="en-US" sz="2000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; R2 + (R3 × 4) is used as the address</a:t>
            </a:r>
            <a:endParaRPr lang="en-US" sz="2000" dirty="0">
              <a:solidFill>
                <a:srgbClr val="688892"/>
              </a:solidFill>
            </a:endParaRPr>
          </a:p>
          <a:p>
            <a:pPr marL="914400" lvl="4"/>
            <a:r>
              <a:rPr lang="en-US" sz="2000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; least significant byte of R1 is stored at location R2 + (R3 × 4)</a:t>
            </a:r>
            <a:endParaRPr lang="en-US" sz="2000" dirty="0">
              <a:solidFill>
                <a:srgbClr val="688892"/>
              </a:solidFill>
            </a:endParaRPr>
          </a:p>
          <a:p>
            <a:pPr marL="914400" lvl="4"/>
            <a:r>
              <a:rPr lang="en-US" sz="2000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LDR R1, [R2, R3, LSR #2] </a:t>
            </a:r>
            <a:r>
              <a:rPr lang="en-US" sz="2000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; R2 + (R3 / 4) is used as the address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12</a:t>
            </a:fld>
            <a:r>
              <a:rPr lang="en-US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383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>
            <a:spLocks/>
          </p:cNvSpPr>
          <p:nvPr/>
        </p:nvSpPr>
        <p:spPr>
          <a:xfrm>
            <a:off x="838200" y="39778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200" dirty="0">
                <a:cs typeface="B Titr" panose="00000700000000000000" pitchFamily="2" charset="-78"/>
              </a:rPr>
              <a:t>Advanced Indexed Addressing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374" y="1594388"/>
            <a:ext cx="1107281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highlight>
                  <a:schemeClr val="lt1"/>
                </a:highlight>
                <a:ea typeface="Calibri"/>
                <a:cs typeface="Calibri"/>
                <a:sym typeface="Calibri"/>
              </a:rPr>
              <a:t>Write back sign ! in pre-indexed load/store with scaled register</a:t>
            </a:r>
            <a:endParaRPr lang="en-US" sz="2000" b="1" dirty="0">
              <a:solidFill>
                <a:schemeClr val="dk1"/>
              </a:solidFill>
              <a:highlight>
                <a:schemeClr val="lt1"/>
              </a:highlight>
              <a:ea typeface="Calibri"/>
              <a:cs typeface="Calibri"/>
              <a:sym typeface="Calibri"/>
            </a:endParaRPr>
          </a:p>
          <a:p>
            <a:pPr marL="914400" lvl="4"/>
            <a:r>
              <a:rPr lang="en-US" sz="2000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LDR R1, [R2, R3, LSL #2]! </a:t>
            </a:r>
            <a:r>
              <a:rPr lang="en-US" sz="2000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; R2 + (R3 × 4) is used as the address,</a:t>
            </a:r>
            <a:endParaRPr lang="en-US" dirty="0">
              <a:solidFill>
                <a:srgbClr val="688892"/>
              </a:solidFill>
            </a:endParaRPr>
          </a:p>
          <a:p>
            <a:pPr marL="1828800" lvl="6"/>
            <a:r>
              <a:rPr lang="en-US" sz="2000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	; content of location R2 + (R3 × 4) is loaded to R1</a:t>
            </a:r>
            <a:endParaRPr lang="en-US" dirty="0">
              <a:solidFill>
                <a:srgbClr val="688892"/>
              </a:solidFill>
            </a:endParaRPr>
          </a:p>
          <a:p>
            <a:pPr marL="1828800" lvl="6"/>
            <a:r>
              <a:rPr lang="en-US" sz="2000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	; R2 = R2 + (R3 × 4) (R2 is updated.)</a:t>
            </a:r>
            <a:endParaRPr lang="en-US" dirty="0">
              <a:solidFill>
                <a:srgbClr val="688892"/>
              </a:solidFill>
            </a:endParaRPr>
          </a:p>
          <a:p>
            <a:pPr marL="914400" lvl="4"/>
            <a:r>
              <a:rPr lang="en-US" sz="2000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STR R1, [R2, R3, LSL #1]! </a:t>
            </a:r>
            <a:r>
              <a:rPr lang="en-US" sz="2000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; R2 + (R3 × 2) is used as the address</a:t>
            </a:r>
            <a:endParaRPr lang="en-US" dirty="0">
              <a:solidFill>
                <a:srgbClr val="688892"/>
              </a:solidFill>
            </a:endParaRPr>
          </a:p>
          <a:p>
            <a:pPr marL="2743200" lvl="8"/>
            <a:r>
              <a:rPr lang="en-US" sz="2000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; R1 is stored to location R2 + (R3 × 2)</a:t>
            </a:r>
            <a:endParaRPr lang="en-US" dirty="0">
              <a:solidFill>
                <a:srgbClr val="688892"/>
              </a:solidFill>
            </a:endParaRPr>
          </a:p>
          <a:p>
            <a:pPr marL="1828800" lvl="6"/>
            <a:r>
              <a:rPr lang="en-US" sz="2000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	; R2 = R2 + (R3 × 2) (R2 is updated)</a:t>
            </a:r>
            <a:endParaRPr lang="en-US" dirty="0">
              <a:solidFill>
                <a:srgbClr val="688892"/>
              </a:solidFill>
            </a:endParaRPr>
          </a:p>
          <a:p>
            <a:pPr marL="1828800" lvl="6"/>
            <a:endParaRPr lang="en-US" sz="2000" b="1" dirty="0">
              <a:solidFill>
                <a:srgbClr val="00B050"/>
              </a:solidFill>
              <a:ea typeface="Calibri"/>
              <a:cs typeface="Calibri"/>
              <a:sym typeface="Calibri"/>
            </a:endParaRPr>
          </a:p>
          <a:p>
            <a:pPr marL="285750" lvl="2" indent="-2857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Scaled register post-indexed</a:t>
            </a:r>
            <a:endParaRPr lang="en-US" dirty="0"/>
          </a:p>
          <a:p>
            <a:pPr marL="914400" lvl="4"/>
            <a:r>
              <a:rPr lang="en-US" sz="2000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STR R1, [R2], R3, LSL #2 </a:t>
            </a:r>
            <a:r>
              <a:rPr lang="en-US" sz="2000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; store R1 at location R2 of memory</a:t>
            </a:r>
            <a:r>
              <a:rPr lang="en-US" sz="2000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2000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and write back R2 + (R3 × 4) to R2</a:t>
            </a:r>
            <a:r>
              <a:rPr lang="en-US" sz="2000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/>
            </a:r>
            <a:br>
              <a:rPr lang="en-US" sz="2000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</a:br>
            <a:r>
              <a:rPr lang="en-US" sz="2000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LDR R1, [R2], R3, LSL #2 </a:t>
            </a:r>
            <a:r>
              <a:rPr lang="en-US" sz="2000" b="1" dirty="0">
                <a:solidFill>
                  <a:srgbClr val="688892"/>
                </a:solidFill>
                <a:ea typeface="Calibri"/>
                <a:cs typeface="Calibri"/>
                <a:sym typeface="Calibri"/>
              </a:rPr>
              <a:t>; load location R2 of memory to R1 and write back R2 + (R3 × 4) to R2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13</a:t>
            </a:fld>
            <a:r>
              <a:rPr lang="en-US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584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714374" y="1594388"/>
            <a:ext cx="11072814" cy="1572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ea typeface="Calibri"/>
                <a:cs typeface="Calibri"/>
                <a:sym typeface="Calibri"/>
              </a:rPr>
              <a:t>There are ‘n’ 32-bit unsigned numbers starting from the memory address 0x80000. Assuming ‘n’ is stored in R0, write a program to sort them with Bubble Sort.</a:t>
            </a:r>
          </a:p>
          <a:p>
            <a:pPr marL="285750" lvl="0" indent="-28575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endParaRPr lang="en-US" b="1" dirty="0">
              <a:solidFill>
                <a:srgbClr val="00B050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200" dirty="0">
                <a:cs typeface="B Titr" panose="00000700000000000000" pitchFamily="2" charset="-78"/>
              </a:rPr>
              <a:t>Question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14</a:t>
            </a:fld>
            <a:r>
              <a:rPr lang="en-US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827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 be </a:t>
            </a:r>
            <a:r>
              <a:rPr lang="en-US"/>
              <a:t>Continued</a:t>
            </a:r>
            <a:r>
              <a:rPr lang="en-US" smtClean="0"/>
              <a:t>!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15</a:t>
            </a:fld>
            <a:r>
              <a:rPr lang="en-US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555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1174</TotalTime>
  <Words>713</Words>
  <Application>Microsoft Office PowerPoint</Application>
  <PresentationFormat>Custom</PresentationFormat>
  <Paragraphs>98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 Microprocessors  and  Assembly Language   Lecture 22    Hamed Farbeh farbeh@aut.ac.ir Fall 2024</vt:lpstr>
      <vt:lpstr>Copyright Notice</vt:lpstr>
      <vt:lpstr>ARM Memory Map, Memory Access and Stack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 be Continued!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Fatemeh Valeh</dc:creator>
  <cp:lastModifiedBy>Hamed</cp:lastModifiedBy>
  <cp:revision>61</cp:revision>
  <dcterms:created xsi:type="dcterms:W3CDTF">2022-09-03T16:31:37Z</dcterms:created>
  <dcterms:modified xsi:type="dcterms:W3CDTF">2024-08-19T11:33:02Z</dcterms:modified>
</cp:coreProperties>
</file>