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7" r:id="rId4"/>
    <p:sldId id="259" r:id="rId5"/>
    <p:sldId id="263" r:id="rId6"/>
    <p:sldId id="264" r:id="rId7"/>
    <p:sldId id="260" r:id="rId8"/>
    <p:sldId id="279" r:id="rId9"/>
    <p:sldId id="269" r:id="rId10"/>
    <p:sldId id="270" r:id="rId11"/>
    <p:sldId id="271" r:id="rId12"/>
    <p:sldId id="272" r:id="rId13"/>
    <p:sldId id="273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55E"/>
    <a:srgbClr val="88A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-67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143D-C719-4815-B9E2-F0CBA81C24AF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143D-C719-4815-B9E2-F0CBA81C24AF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9657B-4FF7-4A06-822D-B1223FA21A6F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>
                <a:solidFill>
                  <a:schemeClr val="dk1"/>
                </a:solidFill>
                <a:latin typeface="Maiandra GD" panose="020E0502030308020204" pitchFamily="34" charset="0"/>
              </a:rPr>
              <a:t>Spring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2023, 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>
                <a:solidFill>
                  <a:schemeClr val="dk1"/>
                </a:solidFill>
                <a:latin typeface="Maiandra GD" panose="020E0502030308020204" pitchFamily="34" charset="0"/>
              </a:rPr>
              <a:t>Spring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2023, 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>
                <a:solidFill>
                  <a:schemeClr val="dk1"/>
                </a:solidFill>
                <a:latin typeface="Maiandra GD" panose="020E0502030308020204" pitchFamily="34" charset="0"/>
              </a:rPr>
              <a:t>Spring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2023, 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>
                <a:solidFill>
                  <a:schemeClr val="dk1"/>
                </a:solidFill>
                <a:latin typeface="Maiandra GD" panose="020E0502030308020204" pitchFamily="34" charset="0"/>
              </a:rPr>
              <a:t>Spring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2023, 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84C0-9B10-4935-8CE9-4FF0815E8D34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>
                <a:solidFill>
                  <a:schemeClr val="dk1"/>
                </a:solidFill>
                <a:latin typeface="Maiandra GD" panose="020E0502030308020204" pitchFamily="34" charset="0"/>
              </a:rPr>
              <a:t>Spring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2023, 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63D7-9E9C-444B-840B-B8DB8E4EC40C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>
                <a:solidFill>
                  <a:schemeClr val="dk1"/>
                </a:solidFill>
                <a:latin typeface="Maiandra GD" panose="020E0502030308020204" pitchFamily="34" charset="0"/>
              </a:rPr>
              <a:t>Spring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2023, 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DAD7-F189-450F-B3AB-A3EF2EA2EC85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B444-4570-4873-970E-6106A285C00D}" type="datetime1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531A3-BC76-4DDF-AA0E-E377E05522AB}" type="datetime1">
              <a:rPr lang="en-US" smtClean="0"/>
              <a:t>12/14/2024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6398-DE5C-45AE-997A-EC31C53695D6}" type="datetime1">
              <a:rPr lang="en-US" smtClean="0"/>
              <a:t>12/14/2024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D83A2-D810-4524-88B3-4C8EBC6AABCC}" type="datetime1">
              <a:rPr lang="en-US" smtClean="0"/>
              <a:t>12/14/2024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5AB9-0D3A-46A1-8F88-E858338420E8}" type="datetime1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C29A-7873-400C-885E-BC4A5E7BBB71}" type="datetime1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381A-869E-45A0-B64A-B8F7DEEDAC3F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62775-B35F-4EBB-9D44-4F3471C96A7B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50C9C-6CEB-403E-AC25-F5BE7A7FF12F}" type="datetime1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23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Spring 2023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D159BC-88EE-4531-A477-CEEF1D39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75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Copyright Notice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916460F-8044-436C-A78E-6361FD2F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452" y="6492875"/>
            <a:ext cx="2743200" cy="365125"/>
          </a:xfrm>
        </p:spPr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3141C9A-4B6A-45A0-9527-36FCA07CB62C}"/>
              </a:ext>
            </a:extLst>
          </p:cNvPr>
          <p:cNvSpPr txBox="1"/>
          <p:nvPr/>
        </p:nvSpPr>
        <p:spPr>
          <a:xfrm>
            <a:off x="797743" y="1814002"/>
            <a:ext cx="105965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Parts (text &amp; figures) of this lecture are adopted from: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2200" b="0" dirty="0"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Arm Assembly Language Programming and Architecture,  Volume 1, </a:t>
            </a:r>
            <a:r>
              <a:rPr lang="en-US" sz="2200" b="1" dirty="0"/>
              <a:t>1</a:t>
            </a:r>
            <a:r>
              <a:rPr lang="en-US" sz="2200" b="1" baseline="30000" dirty="0"/>
              <a:t>st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edition, Muhammad Ali </a:t>
            </a:r>
            <a:r>
              <a:rPr lang="en-US" sz="22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Mazidi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Sarmad </a:t>
            </a:r>
            <a:r>
              <a:rPr lang="en-US" sz="22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Naimi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and </a:t>
            </a:r>
            <a:r>
              <a:rPr lang="en-US" sz="22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Sepehr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2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Naimi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22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MicroDigitalEd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2013.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68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Stack and Stack Usage in 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4906"/>
            <a:ext cx="10515600" cy="4964059"/>
          </a:xfrm>
        </p:spPr>
        <p:txBody>
          <a:bodyPr>
            <a:noAutofit/>
          </a:bodyPr>
          <a:lstStyle/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Stack:  A data structure that allows easy access to the top of the stack</a:t>
            </a:r>
          </a:p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Stack in assembly: A section of memory to store data temporarily</a:t>
            </a:r>
          </a:p>
          <a:p>
            <a:pPr marL="800100" lvl="1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Hardware support to facilitate the creation and maintenance of stack</a:t>
            </a:r>
          </a:p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All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the general registers can be used as a stack pointer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Descending stack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pointing to a lower address after push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Ascending stack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pointing to a higher address after push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Empty stack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point to where the new data will be stored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Full Stack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: point to where the old data will be taken off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instructions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PUSH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POP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interrupt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handling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assume the stack to be 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</a:rPr>
              <a:t>full descending</a:t>
            </a:r>
            <a:endParaRPr lang="en-US" sz="2200" dirty="0">
              <a:solidFill>
                <a:srgbClr val="05555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3</a:t>
            </a:fld>
            <a:r>
              <a:rPr lang="en-US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Stack and Stack Usage in ARM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u="none" strike="noStrike" dirty="0">
                <a:solidFill>
                  <a:srgbClr val="000000"/>
                </a:solidFill>
                <a:effectLst/>
              </a:rPr>
              <a:t>Full descending stack</a:t>
            </a:r>
          </a:p>
          <a:p>
            <a:pPr marL="800100" lvl="1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i="0" u="none" strike="noStrike" dirty="0">
                <a:solidFill>
                  <a:srgbClr val="000000"/>
                </a:solidFill>
                <a:effectLst/>
              </a:rPr>
              <a:t>Stack pointer is pointing to the </a:t>
            </a:r>
            <a:r>
              <a:rPr lang="en-US" sz="2100" i="0" u="none" strike="noStrike" dirty="0">
                <a:solidFill>
                  <a:srgbClr val="C00000"/>
                </a:solidFill>
                <a:effectLst/>
              </a:rPr>
              <a:t>last word </a:t>
            </a:r>
            <a:r>
              <a:rPr lang="en-US" sz="2100" i="0" u="none" strike="noStrike" dirty="0">
                <a:solidFill>
                  <a:srgbClr val="000000"/>
                </a:solidFill>
                <a:effectLst/>
              </a:rPr>
              <a:t>of data put onto the stack</a:t>
            </a:r>
          </a:p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If the stack is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empty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 (no data stored in the stack yet)</a:t>
            </a:r>
          </a:p>
          <a:p>
            <a:pPr marL="800100" lvl="1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i="0" u="none" strike="noStrike" dirty="0">
                <a:solidFill>
                  <a:srgbClr val="000000"/>
                </a:solidFill>
                <a:effectLst/>
              </a:rPr>
              <a:t>SP is pointing to the word </a:t>
            </a:r>
            <a:r>
              <a:rPr lang="en-US" sz="2100" b="1" i="0" u="none" strike="noStrike" dirty="0">
                <a:solidFill>
                  <a:srgbClr val="C00000"/>
                </a:solidFill>
                <a:effectLst/>
              </a:rPr>
              <a:t>immediately below </a:t>
            </a:r>
            <a:r>
              <a:rPr lang="en-US" sz="2100" b="1" i="0" u="none" strike="noStrike" dirty="0">
                <a:solidFill>
                  <a:srgbClr val="000000"/>
                </a:solidFill>
                <a:effectLst/>
              </a:rPr>
              <a:t>the stack</a:t>
            </a:r>
          </a:p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Initializing the stack pointer in ARM</a:t>
            </a:r>
          </a:p>
          <a:p>
            <a:pPr marL="800100" lvl="1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i="0" u="none" strike="noStrike" dirty="0">
                <a:solidFill>
                  <a:srgbClr val="000000"/>
                </a:solidFill>
                <a:effectLst/>
              </a:rPr>
              <a:t>The </a:t>
            </a:r>
            <a:r>
              <a:rPr lang="en-US" sz="2100" b="1" i="0" u="none" strike="noStrike" dirty="0">
                <a:solidFill>
                  <a:srgbClr val="C00000"/>
                </a:solidFill>
                <a:effectLst/>
              </a:rPr>
              <a:t>R13 (SP) </a:t>
            </a:r>
            <a:r>
              <a:rPr lang="en-US" sz="2100" b="1" i="0" u="none" strike="noStrike" dirty="0">
                <a:solidFill>
                  <a:srgbClr val="000000"/>
                </a:solidFill>
                <a:effectLst/>
              </a:rPr>
              <a:t>register contains value 0 at power up</a:t>
            </a:r>
          </a:p>
          <a:p>
            <a:pPr marL="800100" lvl="1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i="0" u="none" strike="noStrike" dirty="0">
                <a:solidFill>
                  <a:srgbClr val="000000"/>
                </a:solidFill>
                <a:effectLst/>
              </a:rPr>
              <a:t>We must </a:t>
            </a:r>
            <a:r>
              <a:rPr lang="en-US" sz="2100" b="1" i="0" u="none" strike="noStrike" dirty="0">
                <a:solidFill>
                  <a:srgbClr val="C00000"/>
                </a:solidFill>
                <a:effectLst/>
              </a:rPr>
              <a:t>initialize</a:t>
            </a:r>
            <a:r>
              <a:rPr lang="en-US" sz="2100" b="1" i="0" u="none" strike="noStrike" dirty="0">
                <a:solidFill>
                  <a:srgbClr val="000000"/>
                </a:solidFill>
                <a:effectLst/>
              </a:rPr>
              <a:t> the SP at the beginning of the program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u="none" strike="noStrike" dirty="0">
                <a:solidFill>
                  <a:srgbClr val="000000"/>
                </a:solidFill>
                <a:effectLst/>
              </a:rPr>
              <a:t>Point to somewhere in the </a:t>
            </a:r>
            <a:r>
              <a:rPr lang="en-US" sz="2100" b="1" i="0" u="none" strike="noStrike" dirty="0">
                <a:solidFill>
                  <a:srgbClr val="C00000"/>
                </a:solidFill>
                <a:effectLst/>
              </a:rPr>
              <a:t>internal SRAM</a:t>
            </a:r>
            <a:endParaRPr 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4</a:t>
            </a:fld>
            <a:r>
              <a:rPr lang="en-US" dirty="0"/>
              <a:t>/14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006" y="2332776"/>
            <a:ext cx="4352994" cy="333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Stack and Stack Usage in 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6348" y="1880289"/>
            <a:ext cx="4264742" cy="4351338"/>
          </a:xfrm>
        </p:spPr>
        <p:txBody>
          <a:bodyPr>
            <a:normAutofit lnSpcReduction="1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 err="1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Stack_Top</a:t>
            </a: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b="1" i="0" u="none" strike="noStrike" dirty="0" err="1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equ</a:t>
            </a: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 0x40008000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AREA EXAMPLE_6_17, CODE, READONLY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R13, =</a:t>
            </a:r>
            <a:r>
              <a:rPr lang="en-US" sz="1800" b="1" i="0" u="none" strike="noStrike" dirty="0" err="1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Stack_Top</a:t>
            </a: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88A2AA"/>
                </a:solidFill>
                <a:latin typeface="Calibri" panose="020F0502020204030204" pitchFamily="34" charset="0"/>
              </a:rPr>
              <a:t>; load SP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R0, =0x125 </a:t>
            </a: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R0 = 0x125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R1, =0x144 </a:t>
            </a:r>
            <a:r>
              <a:rPr lang="en-US" sz="1800" dirty="0">
                <a:solidFill>
                  <a:srgbClr val="88A2AA"/>
                </a:solidFill>
                <a:latin typeface="Calibri" panose="020F0502020204030204" pitchFamily="34" charset="0"/>
              </a:rPr>
              <a:t>; R1 = 0x144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R2, #0x56 </a:t>
            </a:r>
            <a:r>
              <a:rPr lang="en-US" sz="1800" dirty="0">
                <a:solidFill>
                  <a:srgbClr val="88A2AA"/>
                </a:solidFill>
                <a:latin typeface="Calibri" panose="020F0502020204030204" pitchFamily="34" charset="0"/>
              </a:rPr>
              <a:t>; R2 = 0x56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BL MY_SUB </a:t>
            </a:r>
            <a:r>
              <a:rPr lang="en-US" sz="1800" dirty="0">
                <a:solidFill>
                  <a:srgbClr val="88A2AA"/>
                </a:solidFill>
                <a:latin typeface="Calibri" panose="020F0502020204030204" pitchFamily="34" charset="0"/>
              </a:rPr>
              <a:t>; call a subroutine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ADD R3, R0, R1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ADD R3, R3, R2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HERE B HERE </a:t>
            </a:r>
            <a:r>
              <a:rPr lang="en-US" sz="1800" dirty="0">
                <a:solidFill>
                  <a:srgbClr val="88A2AA"/>
                </a:solidFill>
                <a:latin typeface="Calibri" panose="020F0502020204030204" pitchFamily="34" charset="0"/>
              </a:rPr>
              <a:t>; stay here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MY_SUB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save R0, R1, and R2 on stack before use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SUB R13, R13, #4  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STR R0, [R13]</a:t>
            </a: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 ; save R0 on stack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SUB R13, R13, #4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STR R1, [R13] </a:t>
            </a: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save R1 on stack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SUB R13, R13, #4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STR R2, [R13] </a:t>
            </a: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save R2 on stack</a:t>
            </a:r>
            <a:endParaRPr lang="en-US" dirty="0">
              <a:solidFill>
                <a:srgbClr val="88A2A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5</a:t>
            </a:fld>
            <a:r>
              <a:rPr lang="en-US" dirty="0"/>
              <a:t>/14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EA7CC8C-8AD8-1CE6-9D31-98ED5E1C83CF}"/>
              </a:ext>
            </a:extLst>
          </p:cNvPr>
          <p:cNvSpPr txBox="1"/>
          <p:nvPr/>
        </p:nvSpPr>
        <p:spPr>
          <a:xfrm>
            <a:off x="6540910" y="1880289"/>
            <a:ext cx="52832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-------- modify R0, R1, and R2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R0, #15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R1, #25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SUB R2, R0, R1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STR R2, [LR, #4]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restore the original registers contents </a:t>
            </a: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from stack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R2, [R13] ; restore R2 from stack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ADD R13, R13, #4 </a:t>
            </a: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R13 = R13 + 4 to increment the stack pointer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R1, [R13] </a:t>
            </a: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restore R1 from stack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ADD R13, R13, #4 ; 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R0, [R13] </a:t>
            </a: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restore R0 from stack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ADD R13, R13, #4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BX LR </a:t>
            </a:r>
            <a:r>
              <a:rPr lang="en-US" sz="18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return to caller</a:t>
            </a:r>
            <a:endParaRPr lang="en-US" b="0" dirty="0">
              <a:solidFill>
                <a:srgbClr val="88A2AA"/>
              </a:solidFill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END</a:t>
            </a:r>
            <a:endParaRPr lang="en-US" b="0" dirty="0">
              <a:solidFill>
                <a:srgbClr val="05555E"/>
              </a:solidFill>
              <a:effectLst/>
            </a:endParaRP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Stack and Stack Usage in 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STM and LDM</a:t>
            </a:r>
          </a:p>
          <a:p>
            <a:pPr marL="800100" lvl="1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To store and load multiple registers with a single instruction</a:t>
            </a: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0" dirty="0">
                <a:effectLst/>
              </a:rPr>
              <a:t/>
            </a:r>
            <a:br>
              <a:rPr lang="en-US" sz="2100" b="0" dirty="0">
                <a:effectLst/>
              </a:rPr>
            </a:br>
            <a:r>
              <a:rPr lang="en-US" sz="2100" b="1" i="0" u="none" strike="noStrike" dirty="0">
                <a:solidFill>
                  <a:srgbClr val="05555E"/>
                </a:solidFill>
                <a:effectLst/>
              </a:rPr>
              <a:t>MY_SUB</a:t>
            </a:r>
            <a:endParaRPr lang="en-US" sz="2100" b="0" dirty="0">
              <a:solidFill>
                <a:srgbClr val="05555E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88A2AA"/>
                </a:solidFill>
                <a:effectLst/>
              </a:rPr>
              <a:t>; --------save R0, R1, and R2 on stack before they are used by a loop</a:t>
            </a:r>
            <a:endParaRPr lang="en-US" sz="2100" b="0" dirty="0">
              <a:solidFill>
                <a:srgbClr val="88A2AA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05555E"/>
                </a:solidFill>
                <a:effectLst/>
              </a:rPr>
              <a:t>STMFA R13, {R0-R2} ; save R0, R1, R2 on stack using Full Ascending</a:t>
            </a:r>
            <a:endParaRPr lang="en-US" sz="2100" b="0" dirty="0">
              <a:solidFill>
                <a:srgbClr val="05555E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88A2AA"/>
                </a:solidFill>
                <a:effectLst/>
              </a:rPr>
              <a:t>; --------R0, R1, and R2 are changed</a:t>
            </a:r>
            <a:endParaRPr lang="en-US" sz="2100" b="0" dirty="0">
              <a:solidFill>
                <a:srgbClr val="88A2AA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05555E"/>
                </a:solidFill>
                <a:effectLst/>
              </a:rPr>
              <a:t>MOV R0, #0 ; R0=0</a:t>
            </a:r>
            <a:endParaRPr lang="en-US" sz="2100" b="0" dirty="0">
              <a:solidFill>
                <a:srgbClr val="05555E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05555E"/>
                </a:solidFill>
                <a:effectLst/>
              </a:rPr>
              <a:t>MOV R1, #0 ; R1=0</a:t>
            </a:r>
            <a:endParaRPr lang="en-US" sz="2100" b="0" dirty="0">
              <a:solidFill>
                <a:srgbClr val="05555E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05555E"/>
                </a:solidFill>
                <a:effectLst/>
              </a:rPr>
              <a:t>MOV R2, #0 ; R2=0</a:t>
            </a:r>
            <a:endParaRPr lang="en-US" sz="2100" b="0" dirty="0">
              <a:solidFill>
                <a:srgbClr val="05555E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88A2AA"/>
                </a:solidFill>
                <a:effectLst/>
              </a:rPr>
              <a:t>; ---------restore the original registers contents from stack</a:t>
            </a:r>
            <a:endParaRPr lang="en-US" sz="2100" b="0" dirty="0">
              <a:solidFill>
                <a:srgbClr val="88A2AA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05555E"/>
                </a:solidFill>
                <a:effectLst/>
              </a:rPr>
              <a:t>LDMFA R13, {R0-R2}</a:t>
            </a:r>
            <a:endParaRPr lang="en-US" sz="2100" b="0" dirty="0">
              <a:solidFill>
                <a:srgbClr val="05555E"/>
              </a:solidFill>
              <a:effectLst/>
            </a:endParaRPr>
          </a:p>
          <a:p>
            <a:pPr marL="914400" rtl="0">
              <a:spcBef>
                <a:spcPts val="0"/>
              </a:spcBef>
              <a:spcAft>
                <a:spcPts val="0"/>
              </a:spcAft>
            </a:pPr>
            <a:r>
              <a:rPr lang="en-US" sz="2100" b="1" i="0" u="none" strike="noStrike" dirty="0">
                <a:solidFill>
                  <a:srgbClr val="88A2AA"/>
                </a:solidFill>
                <a:effectLst/>
              </a:rPr>
              <a:t>; restore R0, R1, and R2 from stack using Full Ascending</a:t>
            </a:r>
            <a:endParaRPr lang="en-US" sz="2100" b="0" dirty="0">
              <a:solidFill>
                <a:srgbClr val="88A2AA"/>
              </a:solidFill>
              <a:effectLst/>
            </a:endParaRPr>
          </a:p>
          <a:p>
            <a:r>
              <a:rPr lang="en-US" sz="2100" b="1" i="0" u="none" strike="noStrike" dirty="0">
                <a:solidFill>
                  <a:srgbClr val="05555E"/>
                </a:solidFill>
                <a:effectLst/>
              </a:rPr>
              <a:t>	BX LR ; return to caller</a:t>
            </a:r>
            <a:endParaRPr lang="en-US" sz="2100" dirty="0">
              <a:solidFill>
                <a:srgbClr val="05555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6</a:t>
            </a:fld>
            <a:r>
              <a:rPr lang="en-US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Stack and Stack Usage in 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Options for LDM and STM instructions</a:t>
            </a: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0000"/>
              </a:solidFill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C00000"/>
                </a:solidFill>
                <a:effectLst/>
              </a:rPr>
              <a:t>PUSH is an alias of “STMDB R13!”</a:t>
            </a:r>
            <a:endParaRPr lang="en-US" sz="2000" b="0" dirty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C00000"/>
                </a:solidFill>
                <a:effectLst/>
              </a:rPr>
              <a:t>POP is an alias of “LDMIA R13!”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7</a:t>
            </a:fld>
            <a:r>
              <a:rPr lang="en-US" dirty="0"/>
              <a:t>/14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8D4ED030-3BF7-BDB2-6AFC-8E8CD7622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376" y="2208244"/>
            <a:ext cx="2506489" cy="155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3C6BB78C-B65A-669D-932B-54CB48CAB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900" y="3928151"/>
            <a:ext cx="7796200" cy="161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Subroutine Call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342900" indent="-34290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Stack frame</a:t>
            </a:r>
            <a:endParaRPr lang="en-US" sz="2200" b="1" i="0" u="none" strike="noStrike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block of memory on the stack for a subroutine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Parameters are pushed onto the stack by the caller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return address is pushed onto the stack from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R14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Subroutine moves the stack pointer to leave a block of memory space for the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local variables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stack pointer is copied to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another register 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 be used for access into the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stack frame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subroutine should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preserve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any register it is going to use and </a:t>
            </a: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restore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them before return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8</a:t>
            </a:fld>
            <a:r>
              <a:rPr lang="en-US" dirty="0"/>
              <a:t>/14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474" y="-382168"/>
            <a:ext cx="5474206" cy="387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9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43DC50-48BC-DE53-2830-AA8590A3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Subroutine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15C342-C826-B905-760D-F5AACE2C9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Example of the compiler setting up the stack frame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i="0" u="none" strike="noStrike" dirty="0">
              <a:solidFill>
                <a:srgbClr val="000000"/>
              </a:solidFill>
              <a:effectLst/>
            </a:endParaRPr>
          </a:p>
          <a:p>
            <a:pPr marL="800100" rtl="0">
              <a:spcBef>
                <a:spcPts val="360"/>
              </a:spcBef>
              <a:spcAft>
                <a:spcPts val="0"/>
              </a:spcAft>
            </a:pPr>
            <a:r>
              <a:rPr lang="en-US" sz="2200" i="0" u="none" strike="noStrike" dirty="0">
                <a:solidFill>
                  <a:srgbClr val="05555E"/>
                </a:solidFill>
                <a:effectLst/>
              </a:rPr>
              <a:t>extern void </a:t>
            </a:r>
            <a:r>
              <a:rPr lang="en-US" sz="2200" i="0" u="none" strike="noStrike" dirty="0" err="1">
                <a:solidFill>
                  <a:srgbClr val="000000"/>
                </a:solidFill>
                <a:effectLst/>
              </a:rPr>
              <a:t>somefunc</a:t>
            </a: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sz="2200" i="0" u="none" strike="noStrike" dirty="0">
                <a:solidFill>
                  <a:srgbClr val="05555E"/>
                </a:solidFill>
                <a:effectLst/>
              </a:rPr>
              <a:t>int</a:t>
            </a:r>
            <a:r>
              <a:rPr lang="en-US" sz="2200" i="0" u="none" strike="noStrike" dirty="0">
                <a:solidFill>
                  <a:srgbClr val="569CD6"/>
                </a:solidFill>
                <a:effectLst/>
              </a:rPr>
              <a:t> </a:t>
            </a: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a);</a:t>
            </a:r>
            <a:endParaRPr lang="en-US" sz="2200" dirty="0">
              <a:effectLst/>
            </a:endParaRPr>
          </a:p>
          <a:p>
            <a:pPr marL="800100" rtl="0">
              <a:spcBef>
                <a:spcPts val="360"/>
              </a:spcBef>
              <a:spcAft>
                <a:spcPts val="0"/>
              </a:spcAft>
            </a:pPr>
            <a:r>
              <a:rPr lang="en-US" sz="2200" dirty="0">
                <a:effectLst/>
              </a:rPr>
              <a:t/>
            </a:r>
            <a:br>
              <a:rPr lang="en-US" sz="2200" dirty="0">
                <a:effectLst/>
              </a:rPr>
            </a:br>
            <a:r>
              <a:rPr lang="en-US" sz="2200" i="0" u="none" strike="noStrike" dirty="0">
                <a:solidFill>
                  <a:srgbClr val="05555E"/>
                </a:solidFill>
                <a:effectLst/>
              </a:rPr>
              <a:t>void</a:t>
            </a:r>
            <a:r>
              <a:rPr lang="en-US" sz="2200" i="0" u="none" strike="noStrike" dirty="0">
                <a:solidFill>
                  <a:srgbClr val="D4D4D4"/>
                </a:solidFill>
                <a:effectLst/>
              </a:rPr>
              <a:t> </a:t>
            </a:r>
            <a:r>
              <a:rPr lang="en-US" sz="2200" i="0" u="none" strike="noStrike" dirty="0" err="1">
                <a:solidFill>
                  <a:srgbClr val="000000"/>
                </a:solidFill>
                <a:effectLst/>
              </a:rPr>
              <a:t>func</a:t>
            </a: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sz="2200" i="0" u="none" strike="noStrike" dirty="0">
                <a:solidFill>
                  <a:srgbClr val="05555E"/>
                </a:solidFill>
                <a:effectLst/>
              </a:rPr>
              <a:t>int</a:t>
            </a:r>
            <a:r>
              <a:rPr lang="en-US" sz="2200" i="0" u="none" strike="noStrike" dirty="0">
                <a:solidFill>
                  <a:srgbClr val="D4D4D4"/>
                </a:solidFill>
                <a:effectLst/>
              </a:rPr>
              <a:t> </a:t>
            </a: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input)</a:t>
            </a:r>
            <a:endParaRPr lang="en-US" sz="2200" dirty="0">
              <a:effectLst/>
            </a:endParaRPr>
          </a:p>
          <a:p>
            <a:pPr marL="800100" rtl="0">
              <a:spcBef>
                <a:spcPts val="360"/>
              </a:spcBef>
              <a:spcAft>
                <a:spcPts val="0"/>
              </a:spcAft>
            </a:pP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{</a:t>
            </a:r>
            <a:endParaRPr lang="en-US" sz="2200" dirty="0">
              <a:effectLst/>
            </a:endParaRPr>
          </a:p>
          <a:p>
            <a:pPr marL="800100" rtl="0">
              <a:spcBef>
                <a:spcPts val="360"/>
              </a:spcBef>
              <a:spcAft>
                <a:spcPts val="0"/>
              </a:spcAft>
            </a:pPr>
            <a:r>
              <a:rPr lang="en-US" sz="2200" i="0" u="none" strike="noStrike" dirty="0">
                <a:solidFill>
                  <a:srgbClr val="D4D4D4"/>
                </a:solidFill>
                <a:effectLst/>
              </a:rPr>
              <a:t>  </a:t>
            </a:r>
            <a:r>
              <a:rPr lang="en-US" sz="2200" i="0" u="none" strike="noStrike" dirty="0">
                <a:solidFill>
                  <a:srgbClr val="05555E"/>
                </a:solidFill>
                <a:effectLst/>
              </a:rPr>
              <a:t> int </a:t>
            </a:r>
            <a:r>
              <a:rPr lang="en-US" sz="2200" i="0" u="none" strike="noStrike" dirty="0" err="1">
                <a:solidFill>
                  <a:srgbClr val="000000"/>
                </a:solidFill>
                <a:effectLst/>
              </a:rPr>
              <a:t>a,b,c</a:t>
            </a: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;</a:t>
            </a:r>
            <a:endParaRPr lang="en-US" sz="2200" dirty="0">
              <a:effectLst/>
            </a:endParaRPr>
          </a:p>
          <a:p>
            <a:pPr marL="800100" rtl="0">
              <a:spcBef>
                <a:spcPts val="360"/>
              </a:spcBef>
              <a:spcAft>
                <a:spcPts val="0"/>
              </a:spcAft>
            </a:pP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   </a:t>
            </a:r>
            <a:r>
              <a:rPr lang="en-US" sz="2200" i="0" u="none" strike="noStrike" dirty="0" err="1">
                <a:solidFill>
                  <a:srgbClr val="000000"/>
                </a:solidFill>
                <a:effectLst/>
              </a:rPr>
              <a:t>somefunc</a:t>
            </a: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(a);</a:t>
            </a:r>
            <a:endParaRPr lang="en-US" sz="2200" dirty="0">
              <a:effectLst/>
            </a:endParaRPr>
          </a:p>
          <a:p>
            <a:pPr marL="800100" rtl="0">
              <a:spcBef>
                <a:spcPts val="360"/>
              </a:spcBef>
              <a:spcAft>
                <a:spcPts val="0"/>
              </a:spcAft>
            </a:pPr>
            <a:r>
              <a:rPr lang="en-US" sz="2200" i="0" u="none" strike="noStrike" dirty="0">
                <a:solidFill>
                  <a:srgbClr val="000000"/>
                </a:solidFill>
                <a:effectLst/>
              </a:rPr>
              <a:t>}</a:t>
            </a:r>
            <a:endParaRPr lang="en-US" sz="2200" dirty="0">
              <a:effectLst/>
            </a:endParaRPr>
          </a:p>
          <a:p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9BDD6C-49A8-1693-43E4-7E5F237B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372508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331E07-B278-688B-CE1F-2455C5A5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Subroutine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9F213B-A0BC-790C-CA35-5CE23EB8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527971" cy="4455432"/>
          </a:xfrm>
        </p:spPr>
        <p:txBody>
          <a:bodyPr>
            <a:normAutofit fontScale="70000" lnSpcReduction="20000"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00" i="0" u="none" strike="noStrike" dirty="0">
                <a:solidFill>
                  <a:srgbClr val="000000"/>
                </a:solidFill>
                <a:effectLst/>
              </a:rPr>
              <a:t>Compiles into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2800" i="0" u="none" strike="noStrike" dirty="0">
              <a:solidFill>
                <a:srgbClr val="000000"/>
              </a:solidFill>
              <a:effectLst/>
            </a:endParaRPr>
          </a:p>
          <a:p>
            <a:pPr marL="800100" rtl="0">
              <a:spcBef>
                <a:spcPts val="300"/>
              </a:spcBef>
              <a:spcAft>
                <a:spcPts val="0"/>
              </a:spcAft>
            </a:pP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func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 :</a:t>
            </a:r>
          </a:p>
          <a:p>
            <a:pPr marL="800100" rtl="0">
              <a:spcBef>
                <a:spcPts val="300"/>
              </a:spcBef>
              <a:spcAft>
                <a:spcPts val="0"/>
              </a:spcAft>
            </a:pPr>
            <a:endParaRPr lang="en-US" sz="2800" dirty="0">
              <a:solidFill>
                <a:srgbClr val="05555E"/>
              </a:solidFill>
              <a:effectLst/>
            </a:endParaRPr>
          </a:p>
          <a:p>
            <a:pPr marL="800100" rtl="0">
              <a:spcBef>
                <a:spcPts val="30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rgbClr val="05555E"/>
                </a:solidFill>
                <a:effectLst/>
              </a:rPr>
              <a:t>      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push {r11, 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lr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}     </a:t>
            </a:r>
            <a:r>
              <a:rPr lang="en-US" sz="2800" i="0" u="none" strike="noStrike" dirty="0">
                <a:solidFill>
                  <a:srgbClr val="88A2AA"/>
                </a:solidFill>
                <a:effectLst/>
              </a:rPr>
              <a:t> ;   push r11 and link register to stack</a:t>
            </a:r>
            <a:endParaRPr lang="en-US" sz="2800" dirty="0">
              <a:solidFill>
                <a:srgbClr val="88A2AA"/>
              </a:solidFill>
              <a:effectLst/>
            </a:endParaRPr>
          </a:p>
          <a:p>
            <a:pPr marL="800100" rtl="0">
              <a:spcBef>
                <a:spcPts val="300"/>
              </a:spcBef>
              <a:spcAft>
                <a:spcPts val="0"/>
              </a:spcAft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mov r11, 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sp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      </a:t>
            </a:r>
            <a:r>
              <a:rPr lang="en-US" sz="2800" i="0" u="none" strike="noStrike" dirty="0">
                <a:solidFill>
                  <a:srgbClr val="88A2AA"/>
                </a:solidFill>
                <a:effectLst/>
              </a:rPr>
              <a:t>  ;   stack pointer is copied to another</a:t>
            </a:r>
            <a:endParaRPr lang="en-US" sz="2800" dirty="0">
              <a:solidFill>
                <a:srgbClr val="88A2AA"/>
              </a:solidFill>
              <a:effectLst/>
            </a:endParaRPr>
          </a:p>
          <a:p>
            <a:pPr marL="800100" rtl="0">
              <a:spcBef>
                <a:spcPts val="300"/>
              </a:spcBef>
              <a:spcAft>
                <a:spcPts val="0"/>
              </a:spcAft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                                    </a:t>
            </a:r>
            <a:r>
              <a:rPr lang="en-US" sz="2900" dirty="0">
                <a:solidFill>
                  <a:srgbClr val="88A2AA"/>
                </a:solidFill>
              </a:rPr>
              <a:t>;   register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</a:t>
            </a:r>
            <a:endParaRPr lang="en-US" sz="2800" dirty="0">
              <a:solidFill>
                <a:srgbClr val="05555E"/>
              </a:solidFill>
              <a:effectLst/>
            </a:endParaRPr>
          </a:p>
          <a:p>
            <a:pPr marL="800100" rtl="0">
              <a:spcBef>
                <a:spcPts val="300"/>
              </a:spcBef>
              <a:spcAft>
                <a:spcPts val="0"/>
              </a:spcAft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sub 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sp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, 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sp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, #16   </a:t>
            </a:r>
            <a:r>
              <a:rPr lang="en-US" sz="2900" dirty="0">
                <a:solidFill>
                  <a:srgbClr val="88A2AA"/>
                </a:solidFill>
              </a:rPr>
              <a:t>;   stack grows by 16 bytes for the 4 </a:t>
            </a:r>
          </a:p>
          <a:p>
            <a:pPr marL="800100" rtl="0">
              <a:spcBef>
                <a:spcPts val="300"/>
              </a:spcBef>
              <a:spcAft>
                <a:spcPts val="0"/>
              </a:spcAft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                                    </a:t>
            </a:r>
            <a:r>
              <a:rPr lang="en-US" sz="2900" dirty="0">
                <a:solidFill>
                  <a:srgbClr val="88A2AA"/>
                </a:solidFill>
              </a:rPr>
              <a:t>;   local variables ‘input’, ‘a’, ‘b’ and ‘c’</a:t>
            </a:r>
          </a:p>
          <a:p>
            <a:pPr marL="800100" rtl="0">
              <a:spcBef>
                <a:spcPts val="300"/>
              </a:spcBef>
              <a:spcAft>
                <a:spcPts val="0"/>
              </a:spcAft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str r0, [r11, #-4] </a:t>
            </a:r>
            <a:r>
              <a:rPr lang="en-US" sz="2900" dirty="0">
                <a:solidFill>
                  <a:srgbClr val="88A2AA"/>
                </a:solidFill>
              </a:rPr>
              <a:t>;   store r0 (input) in the stack</a:t>
            </a:r>
          </a:p>
          <a:p>
            <a:pPr marL="800100">
              <a:spcBef>
                <a:spcPts val="300"/>
              </a:spcBef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ldr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 r0, [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sp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, #8]    </a:t>
            </a:r>
            <a:r>
              <a:rPr lang="en-US" sz="2900" dirty="0">
                <a:solidFill>
                  <a:srgbClr val="88A2AA"/>
                </a:solidFill>
              </a:rPr>
              <a:t>;   load ‘a’ from the stack into r0</a:t>
            </a:r>
          </a:p>
          <a:p>
            <a:pPr marL="800100">
              <a:spcBef>
                <a:spcPts val="300"/>
              </a:spcBef>
              <a:spcAft>
                <a:spcPts val="0"/>
              </a:spcAft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bl  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somefunc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</a:t>
            </a:r>
            <a:r>
              <a:rPr lang="en-US" sz="2900" dirty="0">
                <a:solidFill>
                  <a:srgbClr val="88A2AA"/>
                </a:solidFill>
              </a:rPr>
              <a:t>;   call </a:t>
            </a:r>
            <a:r>
              <a:rPr lang="en-US" sz="2900" dirty="0" err="1">
                <a:solidFill>
                  <a:srgbClr val="88A2AA"/>
                </a:solidFill>
              </a:rPr>
              <a:t>somefunc</a:t>
            </a:r>
            <a:endParaRPr lang="en-US" sz="2900" dirty="0">
              <a:solidFill>
                <a:srgbClr val="88A2AA"/>
              </a:solidFill>
            </a:endParaRPr>
          </a:p>
          <a:p>
            <a:pPr marL="800100">
              <a:spcBef>
                <a:spcPts val="300"/>
              </a:spcBef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mov 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sp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, r11        </a:t>
            </a:r>
            <a:r>
              <a:rPr lang="en-US" sz="2900" dirty="0">
                <a:solidFill>
                  <a:srgbClr val="88A2AA"/>
                </a:solidFill>
              </a:rPr>
              <a:t>;   restore stack pointer</a:t>
            </a:r>
          </a:p>
          <a:p>
            <a:pPr marL="800100">
              <a:spcBef>
                <a:spcPts val="300"/>
              </a:spcBef>
              <a:spcAft>
                <a:spcPts val="0"/>
              </a:spcAft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pop {r11, 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lr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}       </a:t>
            </a:r>
            <a:r>
              <a:rPr lang="en-US" sz="2900" dirty="0">
                <a:solidFill>
                  <a:srgbClr val="88A2AA"/>
                </a:solidFill>
              </a:rPr>
              <a:t>;   restore r11 and link register</a:t>
            </a:r>
          </a:p>
          <a:p>
            <a:pPr marL="800100">
              <a:spcBef>
                <a:spcPts val="300"/>
              </a:spcBef>
            </a:pP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bx  </a:t>
            </a:r>
            <a:r>
              <a:rPr lang="en-US" sz="2800" i="0" u="none" strike="noStrike" dirty="0" err="1">
                <a:solidFill>
                  <a:srgbClr val="05555E"/>
                </a:solidFill>
                <a:effectLst/>
              </a:rPr>
              <a:t>lr</a:t>
            </a:r>
            <a:r>
              <a:rPr lang="en-US" sz="2800" i="0" u="none" strike="noStrike" dirty="0">
                <a:solidFill>
                  <a:srgbClr val="05555E"/>
                </a:solidFill>
                <a:effectLst/>
              </a:rPr>
              <a:t>                    </a:t>
            </a:r>
            <a:r>
              <a:rPr lang="en-US" sz="2900" dirty="0">
                <a:solidFill>
                  <a:srgbClr val="88A2AA"/>
                </a:solidFill>
              </a:rPr>
              <a:t>;   return from the subroutine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72F0319-044E-47EA-34F4-A833BAF3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dirty="0"/>
              <a:t>/14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6CB015D5-7B87-68EF-7AAC-B43B781F3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228417"/>
              </p:ext>
            </p:extLst>
          </p:nvPr>
        </p:nvGraphicFramePr>
        <p:xfrm>
          <a:off x="8294915" y="3313839"/>
          <a:ext cx="2950028" cy="1778850"/>
        </p:xfrm>
        <a:graphic>
          <a:graphicData uri="http://schemas.openxmlformats.org/drawingml/2006/table">
            <a:tbl>
              <a:tblPr/>
              <a:tblGrid>
                <a:gridCol w="820865">
                  <a:extLst>
                    <a:ext uri="{9D8B030D-6E8A-4147-A177-3AD203B41FA5}">
                      <a16:colId xmlns:a16="http://schemas.microsoft.com/office/drawing/2014/main" xmlns="" val="1629540043"/>
                    </a:ext>
                  </a:extLst>
                </a:gridCol>
                <a:gridCol w="939340">
                  <a:extLst>
                    <a:ext uri="{9D8B030D-6E8A-4147-A177-3AD203B41FA5}">
                      <a16:colId xmlns:a16="http://schemas.microsoft.com/office/drawing/2014/main" xmlns="" val="3609759794"/>
                    </a:ext>
                  </a:extLst>
                </a:gridCol>
                <a:gridCol w="1189823">
                  <a:extLst>
                    <a:ext uri="{9D8B030D-6E8A-4147-A177-3AD203B41FA5}">
                      <a16:colId xmlns:a16="http://schemas.microsoft.com/office/drawing/2014/main" xmlns="" val="355805952"/>
                    </a:ext>
                  </a:extLst>
                </a:gridCol>
              </a:tblGrid>
              <a:tr h="56868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input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#12]</a:t>
                      </a:r>
                      <a:endParaRPr lang="en-US" sz="20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[r11, #-4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18003454"/>
                  </a:ext>
                </a:extLst>
              </a:tr>
              <a:tr h="4033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#8]</a:t>
                      </a:r>
                      <a:endParaRPr lang="en-US" sz="20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[r11, #-8]</a:t>
                      </a:r>
                      <a:endParaRPr lang="en-US" sz="20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946737073"/>
                  </a:ext>
                </a:extLst>
              </a:tr>
              <a:tr h="4033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[sp,  #4]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[r11, #-12]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29964817"/>
                  </a:ext>
                </a:extLst>
              </a:tr>
              <a:tr h="4033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endParaRPr lang="en-US" sz="24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[sp]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[r11, #-16]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59563672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B4FD28C9-E636-6F3D-545C-0E6709D3B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590" y="545827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9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066700-77A9-2BE4-3CA6-73A79FCC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ARM Bit-Addressable Memory Region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57509C-5B1E-A359-FE22-5E9A4F9F4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</a:rPr>
              <a:t>Bit-banding </a:t>
            </a: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option</a:t>
            </a:r>
            <a:endParaRPr lang="en-US" sz="2200" b="1" i="0" u="none" strike="noStrike" dirty="0">
              <a:solidFill>
                <a:srgbClr val="C00000"/>
              </a:solidFill>
              <a:effectLst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Generally available in M3 and M4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To mitigate the issues of Read-Modify-Write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Only few small regions are bit-banded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6A807D8-EFBD-9B15-44DE-FD0C3627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dirty="0"/>
              <a:t>/14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B0C08E08-8503-11A6-841F-4F1178A54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253" y="3348806"/>
            <a:ext cx="4432725" cy="296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41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D17480-5F7B-5FD9-686D-02AFDAAD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ARM Bit-Addressable Memory Region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B7891D-A05A-B780-8BB7-AA45CECB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793"/>
            <a:ext cx="10515600" cy="4351338"/>
          </a:xfrm>
        </p:spPr>
        <p:txBody>
          <a:bodyPr>
            <a:noAutofit/>
          </a:bodyPr>
          <a:lstStyle/>
          <a:p>
            <a:pPr marL="3429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program to set HIGH the D6 of the SRAM location 0x20000001 </a:t>
            </a:r>
          </a:p>
          <a:p>
            <a:pPr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5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R1, =0x20000001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 ; load the address of the byte</a:t>
            </a:r>
            <a:endParaRPr lang="en-US" sz="2200" b="0" dirty="0">
              <a:solidFill>
                <a:srgbClr val="88A2AA"/>
              </a:solidFill>
              <a:effectLst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LDRB R2, [R1]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get the byte</a:t>
            </a:r>
            <a:endParaRPr lang="en-US" sz="2200" b="0" dirty="0">
              <a:solidFill>
                <a:srgbClr val="88A2AA"/>
              </a:solidFill>
              <a:effectLst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ORR R2, R2, #2_01000000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make D6 bit high</a:t>
            </a:r>
            <a:endParaRPr lang="en-US" sz="2200" b="0" dirty="0">
              <a:solidFill>
                <a:srgbClr val="88A2AA"/>
              </a:solidFill>
              <a:effectLst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(binary representation in Keil for 0b01000000)</a:t>
            </a:r>
            <a:endParaRPr lang="en-US" sz="2200" b="0" dirty="0">
              <a:solidFill>
                <a:srgbClr val="88A2AA"/>
              </a:solidFill>
              <a:effectLst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STRB R2, [R1]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write it back</a:t>
            </a:r>
            <a:endParaRPr lang="en-US" sz="2200" b="0" dirty="0">
              <a:solidFill>
                <a:srgbClr val="88A2AA"/>
              </a:solidFill>
              <a:effectLst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0" dirty="0">
                <a:solidFill>
                  <a:srgbClr val="05555E"/>
                </a:solidFill>
                <a:effectLst/>
              </a:rPr>
              <a:t/>
            </a:r>
            <a:br>
              <a:rPr lang="en-US" sz="2200" b="0" dirty="0">
                <a:solidFill>
                  <a:srgbClr val="05555E"/>
                </a:solidFill>
                <a:effectLst/>
              </a:rPr>
            </a:br>
            <a:r>
              <a:rPr lang="en-US" sz="2200" b="0" dirty="0">
                <a:solidFill>
                  <a:srgbClr val="05555E"/>
                </a:solidFill>
                <a:effectLst/>
              </a:rPr>
              <a:t/>
            </a:r>
            <a:br>
              <a:rPr lang="en-US" sz="2200" b="0" dirty="0">
                <a:solidFill>
                  <a:srgbClr val="05555E"/>
                </a:solidFill>
                <a:effectLst/>
              </a:rPr>
            </a:b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R1, =0x22000038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load the alias address of the bit</a:t>
            </a:r>
            <a:r>
              <a:rPr lang="en-US" sz="2200" b="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n-US" sz="2200" b="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</a:b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R2, #1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R2 = 1</a:t>
            </a:r>
            <a:r>
              <a:rPr lang="en-US" sz="2200" b="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n-US" sz="2200" b="0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</a:b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STR R2, [R1]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Write one to D6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n-US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n-US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endParaRPr lang="en-US" sz="2200" b="0" dirty="0">
              <a:effectLst/>
            </a:endParaRPr>
          </a:p>
          <a:p>
            <a:pPr>
              <a:lnSpc>
                <a:spcPct val="110000"/>
              </a:lnSpc>
            </a:pPr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F5A3E27-5669-38B2-E90F-ED618005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98136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F3C8EA-2966-93B4-99E7-3AB395E4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ADR, LDR, and PC Relative Addressing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36CE25-7A61-AFD4-FCC9-5A4E5AB3E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85750" indent="-28575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Using PC (R15) register as the pointer register</a:t>
            </a:r>
            <a:endParaRPr lang="en-US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    	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  R0, [PC, #4]</a:t>
            </a:r>
            <a:endParaRPr lang="en-US" sz="2200" b="0" dirty="0">
              <a:solidFill>
                <a:srgbClr val="05555E"/>
              </a:solidFill>
              <a:effectLst/>
            </a:endParaRPr>
          </a:p>
          <a:p>
            <a:pPr marL="285750" indent="-28575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What is the value of R0 if LDR is in address 0x00000004?</a:t>
            </a:r>
            <a:endParaRPr lang="en-US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530BB"/>
                </a:solidFill>
                <a:latin typeface="Calibri" panose="020F0502020204030204" pitchFamily="34" charset="0"/>
              </a:rPr>
              <a:t>            	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R0= </a:t>
            </a:r>
            <a:r>
              <a:rPr lang="en-US" sz="2200" b="1" i="0" u="none" strike="noStrike" smtClean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mem[0x00000004 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+ 4 </a:t>
            </a:r>
            <a:r>
              <a:rPr lang="en-US" sz="2200" b="1" i="0" u="none" strike="noStrike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+ </a:t>
            </a:r>
            <a:r>
              <a:rPr lang="en-US" sz="2200" b="1" i="0" u="none" strike="noStrike" smtClean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8]</a:t>
            </a:r>
            <a:endParaRPr lang="en-US" sz="2200" b="0" dirty="0">
              <a:solidFill>
                <a:srgbClr val="05555E"/>
              </a:solidFill>
              <a:effectLst/>
            </a:endParaRPr>
          </a:p>
          <a:p>
            <a:pPr marL="285750" indent="-28575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ADR Pseudo-instruction</a:t>
            </a:r>
            <a:endParaRPr lang="en-US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    	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ADR   Rn, Label   </a:t>
            </a:r>
            <a:r>
              <a:rPr lang="en-US" sz="22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⬄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  ADD Rn, PC, #offset</a:t>
            </a:r>
            <a:endParaRPr lang="en-US" sz="2000" b="0" i="0" u="none" strike="noStrike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Implementing the LDR Pseudo-instruction</a:t>
            </a:r>
            <a:endParaRPr lang="en-US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    	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  R2, =0x12345678</a:t>
            </a:r>
            <a:endParaRPr lang="en-US" sz="2200" b="0" dirty="0">
              <a:solidFill>
                <a:srgbClr val="05555E"/>
              </a:solidFill>
            </a:endParaRPr>
          </a:p>
          <a:p>
            <a:pPr marL="80010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Assembler stores the value as a constant in program memory</a:t>
            </a:r>
            <a:endParaRPr lang="en-US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9144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R2, [PC, #0x0008]</a:t>
            </a:r>
            <a:endParaRPr lang="en-US" sz="2200" b="0" dirty="0">
              <a:solidFill>
                <a:srgbClr val="05555E"/>
              </a:solidFill>
              <a:effectLst/>
            </a:endParaRPr>
          </a:p>
          <a:p>
            <a:pPr>
              <a:lnSpc>
                <a:spcPct val="110000"/>
              </a:lnSpc>
            </a:pP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2039FBD-F09D-9183-46E9-57B56ED5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44307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10D9A36-FD65-8B22-2A37-D0DBAF38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97709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572</Words>
  <Application>Microsoft Office PowerPoint</Application>
  <PresentationFormat>Custom</PresentationFormat>
  <Paragraphs>174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 Microprocessors  and  Assembly Language   Lecture 23    Hamed Farbeh farbeh@aut.ac.ir Spring 2023</vt:lpstr>
      <vt:lpstr>Copyright Notice</vt:lpstr>
      <vt:lpstr>Stack and Stack Usage in ARM</vt:lpstr>
      <vt:lpstr>Stack and Stack Usage in ARM</vt:lpstr>
      <vt:lpstr>Stack and Stack Usage in ARM</vt:lpstr>
      <vt:lpstr>Stack and Stack Usage in ARM</vt:lpstr>
      <vt:lpstr>Stack and Stack Usage in ARM</vt:lpstr>
      <vt:lpstr>Subroutine Call</vt:lpstr>
      <vt:lpstr>Subroutine Call</vt:lpstr>
      <vt:lpstr>Subroutine Call</vt:lpstr>
      <vt:lpstr>ARM Bit-Addressable Memory Region</vt:lpstr>
      <vt:lpstr>ARM Bit-Addressable Memory Region</vt:lpstr>
      <vt:lpstr>ADR, LDR, and PC Relative Addressing</vt:lpstr>
      <vt:lpstr>The End!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30</cp:revision>
  <dcterms:created xsi:type="dcterms:W3CDTF">2022-09-03T16:31:37Z</dcterms:created>
  <dcterms:modified xsi:type="dcterms:W3CDTF">2024-12-14T12:29:33Z</dcterms:modified>
</cp:coreProperties>
</file>