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64"/>
  </p:notesMasterIdLst>
  <p:sldIdLst>
    <p:sldId id="256" r:id="rId2"/>
    <p:sldId id="257" r:id="rId3"/>
    <p:sldId id="258" r:id="rId4"/>
    <p:sldId id="260" r:id="rId5"/>
    <p:sldId id="263" r:id="rId6"/>
    <p:sldId id="268" r:id="rId7"/>
    <p:sldId id="293" r:id="rId8"/>
    <p:sldId id="272" r:id="rId9"/>
    <p:sldId id="294" r:id="rId10"/>
    <p:sldId id="274" r:id="rId11"/>
    <p:sldId id="277" r:id="rId12"/>
    <p:sldId id="279" r:id="rId13"/>
    <p:sldId id="295" r:id="rId14"/>
    <p:sldId id="281" r:id="rId15"/>
    <p:sldId id="282" r:id="rId16"/>
    <p:sldId id="283" r:id="rId17"/>
    <p:sldId id="284" r:id="rId18"/>
    <p:sldId id="285" r:id="rId19"/>
    <p:sldId id="286" r:id="rId20"/>
    <p:sldId id="288" r:id="rId21"/>
    <p:sldId id="292" r:id="rId22"/>
    <p:sldId id="297" r:id="rId23"/>
    <p:sldId id="296" r:id="rId24"/>
    <p:sldId id="334" r:id="rId25"/>
    <p:sldId id="335" r:id="rId26"/>
    <p:sldId id="336" r:id="rId27"/>
    <p:sldId id="337" r:id="rId28"/>
    <p:sldId id="298" r:id="rId29"/>
    <p:sldId id="299" r:id="rId30"/>
    <p:sldId id="300" r:id="rId31"/>
    <p:sldId id="301" r:id="rId32"/>
    <p:sldId id="302" r:id="rId33"/>
    <p:sldId id="304" r:id="rId34"/>
    <p:sldId id="303" r:id="rId35"/>
    <p:sldId id="305" r:id="rId36"/>
    <p:sldId id="326" r:id="rId37"/>
    <p:sldId id="327" r:id="rId38"/>
    <p:sldId id="329" r:id="rId39"/>
    <p:sldId id="328" r:id="rId40"/>
    <p:sldId id="330" r:id="rId41"/>
    <p:sldId id="331" r:id="rId42"/>
    <p:sldId id="332" r:id="rId43"/>
    <p:sldId id="333" r:id="rId44"/>
    <p:sldId id="306" r:id="rId45"/>
    <p:sldId id="308" r:id="rId46"/>
    <p:sldId id="309" r:id="rId47"/>
    <p:sldId id="310" r:id="rId48"/>
    <p:sldId id="311" r:id="rId49"/>
    <p:sldId id="312" r:id="rId50"/>
    <p:sldId id="313" r:id="rId51"/>
    <p:sldId id="314" r:id="rId52"/>
    <p:sldId id="315" r:id="rId53"/>
    <p:sldId id="318" r:id="rId54"/>
    <p:sldId id="316" r:id="rId55"/>
    <p:sldId id="317" r:id="rId56"/>
    <p:sldId id="319" r:id="rId57"/>
    <p:sldId id="320" r:id="rId58"/>
    <p:sldId id="321" r:id="rId59"/>
    <p:sldId id="323" r:id="rId60"/>
    <p:sldId id="322" r:id="rId61"/>
    <p:sldId id="324" r:id="rId62"/>
    <p:sldId id="325"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59" autoAdjust="0"/>
    <p:restoredTop sz="94660"/>
  </p:normalViewPr>
  <p:slideViewPr>
    <p:cSldViewPr>
      <p:cViewPr varScale="1">
        <p:scale>
          <a:sx n="94" d="100"/>
          <a:sy n="94" d="100"/>
        </p:scale>
        <p:origin x="1046" y="32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4B50D2-E070-4889-8FB1-9E2F84BEB257}" type="datetimeFigureOut">
              <a:rPr lang="en-US" smtClean="0"/>
              <a:t>11/6/2023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B409A-EE5A-40C2-89FC-A3BE972C1AC2}" type="slidenum">
              <a:rPr lang="en-US" smtClean="0"/>
              <a:t>‹#›</a:t>
            </a:fld>
            <a:endParaRPr lang="en-US"/>
          </a:p>
        </p:txBody>
      </p:sp>
    </p:spTree>
    <p:extLst>
      <p:ext uri="{BB962C8B-B14F-4D97-AF65-F5344CB8AC3E}">
        <p14:creationId xmlns:p14="http://schemas.microsoft.com/office/powerpoint/2010/main" val="81536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5B409A-EE5A-40C2-89FC-A3BE972C1AC2}" type="slidenum">
              <a:rPr lang="en-US" smtClean="0"/>
              <a:t>29</a:t>
            </a:fld>
            <a:endParaRPr lang="en-US"/>
          </a:p>
        </p:txBody>
      </p:sp>
    </p:spTree>
    <p:extLst>
      <p:ext uri="{BB962C8B-B14F-4D97-AF65-F5344CB8AC3E}">
        <p14:creationId xmlns:p14="http://schemas.microsoft.com/office/powerpoint/2010/main" val="3047447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F60D5C83-F4BC-4EBA-A12B-22E976168CC4}" type="datetimeFigureOut">
              <a:rPr lang="en-US" smtClean="0"/>
              <a:t>11/6/2023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3AF99A7-BA23-44A9-B86B-E875412916F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0D5C83-F4BC-4EBA-A12B-22E976168CC4}"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60D5C83-F4BC-4EBA-A12B-22E976168CC4}"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F99A7-BA23-44A9-B86B-E875412916F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60D5C83-F4BC-4EBA-A12B-22E976168CC4}" type="datetimeFigureOut">
              <a:rPr lang="en-US" smtClean="0"/>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F60D5C83-F4BC-4EBA-A12B-22E976168CC4}" type="datetimeFigureOut">
              <a:rPr lang="en-US" smtClean="0"/>
              <a:t>11/6/2023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60D5C83-F4BC-4EBA-A12B-22E976168CC4}" type="datetimeFigureOut">
              <a:rPr lang="en-US" smtClean="0"/>
              <a:t>11/6/2023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0D5C83-F4BC-4EBA-A12B-22E976168CC4}" type="datetimeFigureOut">
              <a:rPr lang="en-US" smtClean="0"/>
              <a:t>11/6/2023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60D5C83-F4BC-4EBA-A12B-22E976168CC4}" type="datetimeFigureOut">
              <a:rPr lang="en-US" smtClean="0"/>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60D5C83-F4BC-4EBA-A12B-22E976168CC4}" type="datetimeFigureOut">
              <a:rPr lang="en-US" smtClean="0"/>
              <a:t>11/6/2023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3AF99A7-BA23-44A9-B86B-E875412916F1}"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0D5C83-F4BC-4EBA-A12B-22E976168CC4}"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60D5C83-F4BC-4EBA-A12B-22E976168CC4}"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F99A7-BA23-44A9-B86B-E875412916F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60D5C83-F4BC-4EBA-A12B-22E976168CC4}" type="datetimeFigureOut">
              <a:rPr lang="en-US" smtClean="0"/>
              <a:t>11/6/2023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F99A7-BA23-44A9-B86B-E875412916F1}" type="slidenum">
              <a:rPr lang="en-US" smtClean="0"/>
              <a:t>‹#›</a:t>
            </a:fld>
            <a:endParaRPr lang="en-US"/>
          </a:p>
        </p:txBody>
      </p:sp>
    </p:spTree>
    <p:extLst>
      <p:ext uri="{BB962C8B-B14F-4D97-AF65-F5344CB8AC3E}">
        <p14:creationId xmlns:p14="http://schemas.microsoft.com/office/powerpoint/2010/main" val="1496120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F60D5C83-F4BC-4EBA-A12B-22E976168CC4}" type="datetimeFigureOut">
              <a:rPr lang="en-US" smtClean="0"/>
              <a:t>11/6/2023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3AF99A7-BA23-44A9-B86B-E875412916F1}"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webp"/><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hyperlink" Target="https://www.zdnet.com/article/microsoft-researchers-weve-trained-ai-to-find-software-bugs-using-hide-and-seek/" TargetMode="Externa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4" Type="http://schemas.openxmlformats.org/officeDocument/2006/relationships/image" Target="../media/image18.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 to Scrum</a:t>
            </a:r>
            <a:endParaRPr lang="en-US"/>
          </a:p>
        </p:txBody>
      </p:sp>
      <p:sp>
        <p:nvSpPr>
          <p:cNvPr id="3" name="Text Placeholder 2"/>
          <p:cNvSpPr>
            <a:spLocks noGrp="1"/>
          </p:cNvSpPr>
          <p:nvPr>
            <p:ph type="body" idx="1"/>
          </p:nvPr>
        </p:nvSpPr>
        <p:spPr/>
        <p:txBody>
          <a:bodyPr/>
          <a:lstStyle/>
          <a:p>
            <a:pPr algn="just"/>
            <a:r>
              <a:rPr lang="en-US" dirty="0" smtClean="0"/>
              <a:t>Scrum is an agile framework for managing projects and product development. It emphasizes collaboration, adaptability, and delivering value to customers.</a:t>
            </a:r>
          </a:p>
          <a:p>
            <a:pPr algn="just"/>
            <a:r>
              <a:rPr lang="en-US" dirty="0">
                <a:solidFill>
                  <a:srgbClr val="C00000"/>
                </a:solidFill>
              </a:rPr>
              <a:t>Scrum, the agile powerhouse, challenges the old-fashioned, </a:t>
            </a:r>
            <a:r>
              <a:rPr lang="en-US" dirty="0" err="1">
                <a:solidFill>
                  <a:srgbClr val="C00000"/>
                </a:solidFill>
              </a:rPr>
              <a:t>siloed</a:t>
            </a:r>
            <a:r>
              <a:rPr lang="en-US" dirty="0">
                <a:solidFill>
                  <a:srgbClr val="C00000"/>
                </a:solidFill>
              </a:rPr>
              <a:t> approaches with a relentless spirit of adaptability and collaboration, turning every obstacle into a stepping stone to innovation and excellence.</a:t>
            </a:r>
          </a:p>
        </p:txBody>
      </p:sp>
    </p:spTree>
    <p:extLst>
      <p:ext uri="{BB962C8B-B14F-4D97-AF65-F5344CB8AC3E}">
        <p14:creationId xmlns:p14="http://schemas.microsoft.com/office/powerpoint/2010/main" val="13441140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Principles</a:t>
            </a:r>
            <a:endParaRPr lang="en-US" dirty="0"/>
          </a:p>
        </p:txBody>
      </p:sp>
      <p:sp>
        <p:nvSpPr>
          <p:cNvPr id="3" name="Text Placeholder 2"/>
          <p:cNvSpPr>
            <a:spLocks noGrp="1"/>
          </p:cNvSpPr>
          <p:nvPr>
            <p:ph type="body" idx="1"/>
          </p:nvPr>
        </p:nvSpPr>
        <p:spPr/>
        <p:txBody>
          <a:bodyPr>
            <a:normAutofit fontScale="85000" lnSpcReduction="20000"/>
          </a:bodyPr>
          <a:lstStyle/>
          <a:p>
            <a:pPr algn="just"/>
            <a:r>
              <a:rPr lang="en-US" dirty="0" smtClean="0"/>
              <a:t>Scrum principles include:</a:t>
            </a:r>
          </a:p>
          <a:p>
            <a:pPr marL="880110" lvl="1" indent="-514350" algn="just">
              <a:buFont typeface="+mj-lt"/>
              <a:buAutoNum type="arabicPeriod"/>
            </a:pPr>
            <a:r>
              <a:rPr lang="en-US" b="1" dirty="0" smtClean="0"/>
              <a:t>Transparency</a:t>
            </a:r>
            <a:r>
              <a:rPr lang="en-US" dirty="0" smtClean="0"/>
              <a:t>: </a:t>
            </a:r>
            <a:r>
              <a:rPr lang="en-US" dirty="0"/>
              <a:t>in Scrum ensures that all aspects of work are visible, promoting trust and informed decision-making.</a:t>
            </a:r>
          </a:p>
          <a:p>
            <a:pPr marL="880110" lvl="1" indent="-514350" algn="just">
              <a:buFont typeface="+mj-lt"/>
              <a:buAutoNum type="arabicPeriod"/>
            </a:pPr>
            <a:r>
              <a:rPr lang="en-US" b="1" dirty="0"/>
              <a:t>Inspection</a:t>
            </a:r>
            <a:r>
              <a:rPr lang="en-US" dirty="0"/>
              <a:t> </a:t>
            </a:r>
            <a:r>
              <a:rPr lang="en-US" dirty="0" smtClean="0"/>
              <a:t>: involves </a:t>
            </a:r>
            <a:r>
              <a:rPr lang="en-US" dirty="0"/>
              <a:t>regular examination of the product and processes, enabling early issue detection and continuous improvement.</a:t>
            </a:r>
          </a:p>
          <a:p>
            <a:pPr marL="880110" lvl="1" indent="-514350" algn="just">
              <a:buFont typeface="+mj-lt"/>
              <a:buAutoNum type="arabicPeriod"/>
            </a:pPr>
            <a:r>
              <a:rPr lang="en-US" b="1" dirty="0" smtClean="0"/>
              <a:t>Adaptation</a:t>
            </a:r>
            <a:r>
              <a:rPr lang="en-US" dirty="0" smtClean="0"/>
              <a:t>:  </a:t>
            </a:r>
            <a:r>
              <a:rPr lang="en-US" dirty="0"/>
              <a:t>allows Scrum teams to make flexible changes based on inspection results, responding to evolving needs.</a:t>
            </a:r>
          </a:p>
          <a:p>
            <a:pPr marL="880110" lvl="1" indent="-514350" algn="just">
              <a:buFont typeface="+mj-lt"/>
              <a:buAutoNum type="arabicPeriod"/>
            </a:pPr>
            <a:r>
              <a:rPr lang="en-US" b="1" dirty="0"/>
              <a:t>Self-organizing </a:t>
            </a:r>
            <a:r>
              <a:rPr lang="en-US" b="1" dirty="0" smtClean="0"/>
              <a:t>teams</a:t>
            </a:r>
            <a:r>
              <a:rPr lang="en-US" dirty="0" smtClean="0"/>
              <a:t>:  </a:t>
            </a:r>
            <a:r>
              <a:rPr lang="en-US" dirty="0"/>
              <a:t>empower individuals to take ownership of their work, fostering motivation and creativity.</a:t>
            </a:r>
          </a:p>
          <a:p>
            <a:pPr marL="880110" lvl="1" indent="-514350" algn="just">
              <a:buFont typeface="+mj-lt"/>
              <a:buAutoNum type="arabicPeriod"/>
            </a:pPr>
            <a:r>
              <a:rPr lang="en-US" b="1" dirty="0" smtClean="0"/>
              <a:t>Collaboration</a:t>
            </a:r>
            <a:r>
              <a:rPr lang="en-US" dirty="0" smtClean="0"/>
              <a:t>: is </a:t>
            </a:r>
            <a:r>
              <a:rPr lang="en-US" dirty="0"/>
              <a:t>at the heart of Scrum, promoting open communication and shared responsibility among team members and stakeholders.</a:t>
            </a:r>
          </a:p>
          <a:p>
            <a:pPr marL="880110" lvl="1" indent="-514350" algn="just">
              <a:buFont typeface="+mj-lt"/>
              <a:buAutoNum type="arabicPeriod"/>
            </a:pPr>
            <a:r>
              <a:rPr lang="en-US" b="1" dirty="0"/>
              <a:t>Time-boxed </a:t>
            </a:r>
            <a:r>
              <a:rPr lang="en-US" b="1" dirty="0" smtClean="0"/>
              <a:t>sprints</a:t>
            </a:r>
            <a:r>
              <a:rPr lang="en-US" dirty="0" smtClean="0"/>
              <a:t>:  </a:t>
            </a:r>
            <a:r>
              <a:rPr lang="en-US" dirty="0"/>
              <a:t>provide focused periods for work completion, fostering predictability and enabling iterative delivery.</a:t>
            </a:r>
          </a:p>
          <a:p>
            <a:pPr algn="just"/>
            <a:endParaRPr lang="en-US" dirty="0"/>
          </a:p>
        </p:txBody>
      </p:sp>
    </p:spTree>
    <p:extLst>
      <p:ext uri="{BB962C8B-B14F-4D97-AF65-F5344CB8AC3E}">
        <p14:creationId xmlns:p14="http://schemas.microsoft.com/office/powerpoint/2010/main" val="26854674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Process &amp; Roles</a:t>
            </a:r>
            <a:endParaRPr lang="en-US" dirty="0"/>
          </a:p>
        </p:txBody>
      </p:sp>
      <p:sp>
        <p:nvSpPr>
          <p:cNvPr id="3" name="Text Placeholder 2"/>
          <p:cNvSpPr>
            <a:spLocks noGrp="1"/>
          </p:cNvSpPr>
          <p:nvPr>
            <p:ph type="body" idx="1"/>
          </p:nvPr>
        </p:nvSpPr>
        <p:spPr/>
        <p:txBody>
          <a:bodyPr/>
          <a:lstStyle/>
          <a:p>
            <a:r>
              <a:rPr lang="en-US" dirty="0" smtClean="0"/>
              <a:t>The Scrum process includes the Product Backlog (list of work), Sprint (</a:t>
            </a:r>
            <a:r>
              <a:rPr lang="en-US" dirty="0" err="1" smtClean="0"/>
              <a:t>timeboxed</a:t>
            </a:r>
            <a:r>
              <a:rPr lang="en-US" dirty="0" smtClean="0"/>
              <a:t> development cycle), and Increment (potentially shippable product increment).</a:t>
            </a:r>
          </a:p>
          <a:p>
            <a:r>
              <a:rPr lang="en-US" dirty="0" smtClean="0"/>
              <a:t>Scrum roles consist of the Product Owner (maximizing value), Scrum Master (servant-leader), and Development Team (self-organizing, cross-functional).</a:t>
            </a:r>
          </a:p>
          <a:p>
            <a:endParaRPr lang="en-US" dirty="0"/>
          </a:p>
        </p:txBody>
      </p:sp>
    </p:spTree>
    <p:extLst>
      <p:ext uri="{BB962C8B-B14F-4D97-AF65-F5344CB8AC3E}">
        <p14:creationId xmlns:p14="http://schemas.microsoft.com/office/powerpoint/2010/main" val="22727984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Roles</a:t>
            </a:r>
            <a:endParaRPr lang="en-US" dirty="0"/>
          </a:p>
        </p:txBody>
      </p:sp>
      <p:sp>
        <p:nvSpPr>
          <p:cNvPr id="3" name="Text Placeholder 2"/>
          <p:cNvSpPr>
            <a:spLocks noGrp="1"/>
          </p:cNvSpPr>
          <p:nvPr>
            <p:ph type="body" idx="1"/>
          </p:nvPr>
        </p:nvSpPr>
        <p:spPr/>
        <p:txBody>
          <a:bodyPr>
            <a:normAutofit/>
          </a:bodyPr>
          <a:lstStyle/>
          <a:p>
            <a:r>
              <a:rPr lang="en-US" dirty="0" smtClean="0"/>
              <a:t>The Product Owner is responsible for defining and prioritizing items in the Product Backlog, ensuring the team delivers the most value.</a:t>
            </a:r>
          </a:p>
          <a:p>
            <a:r>
              <a:rPr lang="en-US" dirty="0" smtClean="0"/>
              <a:t>The Scrum Master supports the team in adhering to Scrum principles, removing obstacles, and facilitating ceremonies.</a:t>
            </a:r>
          </a:p>
          <a:p>
            <a:r>
              <a:rPr lang="en-US" dirty="0" smtClean="0"/>
              <a:t>The Development Team is a self-organizing group responsible for delivering a potentially shippable product increment.</a:t>
            </a:r>
          </a:p>
          <a:p>
            <a:endParaRPr lang="en-US" dirty="0" smtClean="0"/>
          </a:p>
          <a:p>
            <a:endParaRPr lang="en-US" dirty="0"/>
          </a:p>
        </p:txBody>
      </p:sp>
    </p:spTree>
    <p:extLst>
      <p:ext uri="{BB962C8B-B14F-4D97-AF65-F5344CB8AC3E}">
        <p14:creationId xmlns:p14="http://schemas.microsoft.com/office/powerpoint/2010/main" val="1552193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Sprint (</a:t>
            </a:r>
            <a:r>
              <a:rPr lang="en-US" sz="4000" dirty="0" smtClean="0"/>
              <a:t>Planning, Review, Retrospective</a:t>
            </a:r>
            <a:r>
              <a:rPr lang="en-US" dirty="0" smtClean="0"/>
              <a:t>)</a:t>
            </a:r>
            <a:endParaRPr lang="en-US" dirty="0"/>
          </a:p>
        </p:txBody>
      </p:sp>
      <p:sp>
        <p:nvSpPr>
          <p:cNvPr id="3" name="Text Placeholder 2"/>
          <p:cNvSpPr>
            <a:spLocks noGrp="1"/>
          </p:cNvSpPr>
          <p:nvPr>
            <p:ph type="body" idx="1"/>
          </p:nvPr>
        </p:nvSpPr>
        <p:spPr/>
        <p:txBody>
          <a:bodyPr>
            <a:normAutofit/>
          </a:bodyPr>
          <a:lstStyle/>
          <a:p>
            <a:r>
              <a:rPr lang="en-US" dirty="0" smtClean="0"/>
              <a:t>Sprint Planning involves selecting items from the Product Backlog and creating a Sprint Backlog, defining what can be delivered during the Sprint.</a:t>
            </a:r>
          </a:p>
          <a:p>
            <a:r>
              <a:rPr lang="en-US" dirty="0" smtClean="0"/>
              <a:t>The Sprint Review is a meeting at the end of the Sprint to review the Increment with stakeholders and adapt the Product Backlog.</a:t>
            </a:r>
          </a:p>
          <a:p>
            <a:r>
              <a:rPr lang="en-US" dirty="0" smtClean="0"/>
              <a:t>The Sprint Retrospective is a meeting after the Sprint Review to reflect on the Sprint and identify areas for improvement.</a:t>
            </a:r>
          </a:p>
          <a:p>
            <a:endParaRPr lang="en-US" dirty="0" smtClean="0"/>
          </a:p>
          <a:p>
            <a:endParaRPr lang="en-US" dirty="0"/>
          </a:p>
        </p:txBody>
      </p:sp>
    </p:spTree>
    <p:extLst>
      <p:ext uri="{BB962C8B-B14F-4D97-AF65-F5344CB8AC3E}">
        <p14:creationId xmlns:p14="http://schemas.microsoft.com/office/powerpoint/2010/main" val="9045849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Scrum Artifacts</a:t>
            </a:r>
            <a:endParaRPr lang="en-US"/>
          </a:p>
        </p:txBody>
      </p:sp>
      <p:sp>
        <p:nvSpPr>
          <p:cNvPr id="3" name="Text Placeholder 2"/>
          <p:cNvSpPr>
            <a:spLocks noGrp="1"/>
          </p:cNvSpPr>
          <p:nvPr>
            <p:ph type="body" idx="1"/>
          </p:nvPr>
        </p:nvSpPr>
        <p:spPr/>
        <p:txBody>
          <a:bodyPr>
            <a:normAutofit/>
          </a:bodyPr>
          <a:lstStyle/>
          <a:p>
            <a:r>
              <a:rPr lang="en-US" dirty="0" smtClean="0"/>
              <a:t>Scrum artifacts include Product Backlog, Sprint Backlog, and Increment.</a:t>
            </a:r>
          </a:p>
          <a:p>
            <a:pPr lvl="1"/>
            <a:r>
              <a:rPr lang="en-US" dirty="0" smtClean="0"/>
              <a:t>The Product Backlog is a prioritized list of work items, often represented as user stories or features.</a:t>
            </a:r>
          </a:p>
          <a:p>
            <a:pPr lvl="1"/>
            <a:r>
              <a:rPr lang="en-US" dirty="0" smtClean="0"/>
              <a:t>The Sprint Backlog is a subset of the Product Backlog items chosen for the current Sprint.</a:t>
            </a:r>
          </a:p>
          <a:p>
            <a:pPr lvl="1"/>
            <a:r>
              <a:rPr lang="en-US" dirty="0" smtClean="0"/>
              <a:t>The Increment is the sum of all completed Sprint Backlog items. It should be potentially shippable.</a:t>
            </a:r>
          </a:p>
          <a:p>
            <a:endParaRPr lang="en-US" dirty="0" smtClean="0"/>
          </a:p>
          <a:p>
            <a:endParaRPr lang="en-US" dirty="0" smtClean="0"/>
          </a:p>
          <a:p>
            <a:endParaRPr lang="en-US" dirty="0"/>
          </a:p>
        </p:txBody>
      </p:sp>
    </p:spTree>
    <p:extLst>
      <p:ext uri="{BB962C8B-B14F-4D97-AF65-F5344CB8AC3E}">
        <p14:creationId xmlns:p14="http://schemas.microsoft.com/office/powerpoint/2010/main" val="30521793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hapter 6 of &quot;Essential Scrum&quot;: Product Backlog | Innolu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7" name="Picture 3" descr="C:\Users\zahra\Desktop\06fig02_modifi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04799"/>
            <a:ext cx="5638800" cy="300513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roduct Backlog vs Sprint Backlog - projectcubic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295649"/>
            <a:ext cx="6705600" cy="3562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3775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Scrum Events and Planning</a:t>
            </a:r>
            <a:endParaRPr lang="en-US" dirty="0"/>
          </a:p>
        </p:txBody>
      </p:sp>
      <p:sp>
        <p:nvSpPr>
          <p:cNvPr id="3" name="Text Placeholder 2"/>
          <p:cNvSpPr>
            <a:spLocks noGrp="1"/>
          </p:cNvSpPr>
          <p:nvPr>
            <p:ph type="body" idx="1"/>
          </p:nvPr>
        </p:nvSpPr>
        <p:spPr/>
        <p:txBody>
          <a:bodyPr/>
          <a:lstStyle/>
          <a:p>
            <a:r>
              <a:rPr lang="en-US" dirty="0" smtClean="0"/>
              <a:t>Scrum events include Sprint Planning, Daily Scrum, Sprint Review, and Sprint Retrospective.</a:t>
            </a:r>
          </a:p>
          <a:p>
            <a:r>
              <a:rPr lang="en-US" dirty="0" smtClean="0"/>
              <a:t>Sprint Planning involves selecting items from the Product Backlog and creating a Sprint Backlog, defining what can be delivered during the Sprint.</a:t>
            </a:r>
          </a:p>
          <a:p>
            <a:pPr marL="0" indent="0">
              <a:buNone/>
            </a:pPr>
            <a:endParaRPr lang="en-US" dirty="0"/>
          </a:p>
        </p:txBody>
      </p:sp>
    </p:spTree>
    <p:extLst>
      <p:ext uri="{BB962C8B-B14F-4D97-AF65-F5344CB8AC3E}">
        <p14:creationId xmlns:p14="http://schemas.microsoft.com/office/powerpoint/2010/main" val="33355813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zahra\Desktop\scrum-framework-9.29.2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1447800"/>
            <a:ext cx="8572501"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1005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 to DevOps</a:t>
            </a:r>
            <a:endParaRPr lang="en-US"/>
          </a:p>
        </p:txBody>
      </p:sp>
      <p:sp>
        <p:nvSpPr>
          <p:cNvPr id="3" name="Text Placeholder 2"/>
          <p:cNvSpPr>
            <a:spLocks noGrp="1"/>
          </p:cNvSpPr>
          <p:nvPr>
            <p:ph type="body" idx="1"/>
          </p:nvPr>
        </p:nvSpPr>
        <p:spPr/>
        <p:txBody>
          <a:bodyPr>
            <a:normAutofit/>
          </a:bodyPr>
          <a:lstStyle/>
          <a:p>
            <a:pPr algn="just"/>
            <a:r>
              <a:rPr lang="en-US" dirty="0" err="1" smtClean="0"/>
              <a:t>DevOps</a:t>
            </a:r>
            <a:r>
              <a:rPr lang="en-US" dirty="0" smtClean="0"/>
              <a:t> is a set of practices that aims to automate and integrate the processes between software development and IT operations.</a:t>
            </a:r>
          </a:p>
          <a:p>
            <a:pPr algn="just"/>
            <a:r>
              <a:rPr lang="en-US" dirty="0" err="1" smtClean="0"/>
              <a:t>DevOps</a:t>
            </a:r>
            <a:r>
              <a:rPr lang="en-US" dirty="0" smtClean="0"/>
              <a:t> principles include collaboration, automation, measurement, and sharing (CAMS).</a:t>
            </a:r>
          </a:p>
          <a:p>
            <a:pPr algn="just"/>
            <a:r>
              <a:rPr lang="en-US" dirty="0" err="1" smtClean="0"/>
              <a:t>DevOps</a:t>
            </a:r>
            <a:r>
              <a:rPr lang="en-US" dirty="0" smtClean="0"/>
              <a:t> promotes a culture of collaboration, shared responsibility, and continuous improvement.</a:t>
            </a:r>
          </a:p>
          <a:p>
            <a:pPr algn="just"/>
            <a:endParaRPr lang="en-US" dirty="0" smtClean="0"/>
          </a:p>
          <a:p>
            <a:pPr algn="just"/>
            <a:endParaRPr lang="en-US" dirty="0"/>
          </a:p>
        </p:txBody>
      </p:sp>
    </p:spTree>
    <p:extLst>
      <p:ext uri="{BB962C8B-B14F-4D97-AF65-F5344CB8AC3E}">
        <p14:creationId xmlns:p14="http://schemas.microsoft.com/office/powerpoint/2010/main" val="25856709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DevOps</a:t>
            </a:r>
            <a:r>
              <a:rPr lang="en-US" dirty="0" smtClean="0"/>
              <a:t> Process and Tools</a:t>
            </a:r>
            <a:endParaRPr lang="en-US" dirty="0"/>
          </a:p>
        </p:txBody>
      </p:sp>
      <p:sp>
        <p:nvSpPr>
          <p:cNvPr id="3" name="Text Placeholder 2"/>
          <p:cNvSpPr>
            <a:spLocks noGrp="1"/>
          </p:cNvSpPr>
          <p:nvPr>
            <p:ph type="body" idx="1"/>
          </p:nvPr>
        </p:nvSpPr>
        <p:spPr/>
        <p:txBody>
          <a:bodyPr/>
          <a:lstStyle/>
          <a:p>
            <a:r>
              <a:rPr lang="en-US" dirty="0" smtClean="0"/>
              <a:t>The </a:t>
            </a:r>
            <a:r>
              <a:rPr lang="en-US" dirty="0" err="1" smtClean="0"/>
              <a:t>DevOps</a:t>
            </a:r>
            <a:r>
              <a:rPr lang="en-US" dirty="0" smtClean="0"/>
              <a:t> process involves planning, coding, building, testing, releasing, deploying, operating, and monitoring.</a:t>
            </a:r>
          </a:p>
          <a:p>
            <a:r>
              <a:rPr lang="en-US" dirty="0" err="1" smtClean="0"/>
              <a:t>DevOps</a:t>
            </a:r>
            <a:r>
              <a:rPr lang="en-US" dirty="0" smtClean="0"/>
              <a:t> utilizes various tools such as Jenkins, </a:t>
            </a:r>
            <a:r>
              <a:rPr lang="en-US" dirty="0" err="1" smtClean="0"/>
              <a:t>Docker</a:t>
            </a:r>
            <a:r>
              <a:rPr lang="en-US" dirty="0" smtClean="0"/>
              <a:t>, </a:t>
            </a:r>
            <a:r>
              <a:rPr lang="en-US" dirty="0" err="1" smtClean="0"/>
              <a:t>Ansible</a:t>
            </a:r>
            <a:r>
              <a:rPr lang="en-US" dirty="0" smtClean="0"/>
              <a:t>, and </a:t>
            </a:r>
            <a:r>
              <a:rPr lang="en-US" dirty="0" err="1" smtClean="0"/>
              <a:t>Kubernetes</a:t>
            </a:r>
            <a:r>
              <a:rPr lang="en-US" dirty="0" smtClean="0"/>
              <a:t> for automation and orchestration.</a:t>
            </a:r>
          </a:p>
          <a:p>
            <a:endParaRPr lang="en-US" dirty="0"/>
          </a:p>
        </p:txBody>
      </p:sp>
    </p:spTree>
    <p:extLst>
      <p:ext uri="{BB962C8B-B14F-4D97-AF65-F5344CB8AC3E}">
        <p14:creationId xmlns:p14="http://schemas.microsoft.com/office/powerpoint/2010/main" val="28841437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Continuous Integration (CI) and Delivery (CD)</a:t>
            </a:r>
            <a:endParaRPr lang="en-US" dirty="0"/>
          </a:p>
        </p:txBody>
      </p:sp>
      <p:sp>
        <p:nvSpPr>
          <p:cNvPr id="3" name="Text Placeholder 2"/>
          <p:cNvSpPr>
            <a:spLocks noGrp="1"/>
          </p:cNvSpPr>
          <p:nvPr>
            <p:ph type="body" idx="1"/>
          </p:nvPr>
        </p:nvSpPr>
        <p:spPr/>
        <p:txBody>
          <a:bodyPr/>
          <a:lstStyle/>
          <a:p>
            <a:r>
              <a:rPr lang="en-US" dirty="0" smtClean="0"/>
              <a:t>CI is the practice of frequently merging code changes into a shared repository and running automated tests.</a:t>
            </a:r>
          </a:p>
          <a:p>
            <a:r>
              <a:rPr lang="en-US" dirty="0" smtClean="0"/>
              <a:t>CD extends CI by automatically deploying code changes to production or staging environments.</a:t>
            </a:r>
          </a:p>
          <a:p>
            <a:endParaRPr lang="en-US" dirty="0"/>
          </a:p>
        </p:txBody>
      </p:sp>
    </p:spTree>
    <p:extLst>
      <p:ext uri="{BB962C8B-B14F-4D97-AF65-F5344CB8AC3E}">
        <p14:creationId xmlns:p14="http://schemas.microsoft.com/office/powerpoint/2010/main" val="28204131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zahra\Desktop\DevSecOp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0"/>
            <a:ext cx="80391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7850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Infrastructure as Code (IaC)</a:t>
            </a:r>
            <a:endParaRPr lang="en-US"/>
          </a:p>
        </p:txBody>
      </p:sp>
      <p:sp>
        <p:nvSpPr>
          <p:cNvPr id="3" name="Text Placeholder 2"/>
          <p:cNvSpPr>
            <a:spLocks noGrp="1"/>
          </p:cNvSpPr>
          <p:nvPr>
            <p:ph type="body" idx="1"/>
          </p:nvPr>
        </p:nvSpPr>
        <p:spPr/>
        <p:txBody>
          <a:bodyPr>
            <a:normAutofit/>
          </a:bodyPr>
          <a:lstStyle/>
          <a:p>
            <a:pPr algn="just"/>
            <a:r>
              <a:rPr lang="en-US" dirty="0" err="1" smtClean="0"/>
              <a:t>IaC</a:t>
            </a:r>
            <a:r>
              <a:rPr lang="en-US" dirty="0" smtClean="0"/>
              <a:t> is the practice of managing and provisioning infrastructure through code and automation. </a:t>
            </a:r>
            <a:r>
              <a:rPr lang="en-US" dirty="0" err="1" smtClean="0"/>
              <a:t>IaC</a:t>
            </a:r>
            <a:r>
              <a:rPr lang="en-US" dirty="0" smtClean="0"/>
              <a:t> </a:t>
            </a:r>
            <a:r>
              <a:rPr lang="en-US" dirty="0"/>
              <a:t>in </a:t>
            </a:r>
            <a:r>
              <a:rPr lang="en-US" dirty="0" err="1"/>
              <a:t>DevOps</a:t>
            </a:r>
            <a:r>
              <a:rPr lang="en-US" dirty="0"/>
              <a:t> involves automating infrastructure provisioning and management using code.</a:t>
            </a:r>
          </a:p>
          <a:p>
            <a:pPr lvl="1" algn="just"/>
            <a:r>
              <a:rPr lang="en-US" dirty="0"/>
              <a:t>Steps to implement </a:t>
            </a:r>
            <a:r>
              <a:rPr lang="en-US" dirty="0" err="1"/>
              <a:t>IaC</a:t>
            </a:r>
            <a:r>
              <a:rPr lang="en-US" dirty="0"/>
              <a:t> include selecting a tool, defining infrastructure, version control, automation, testing, deployment, monitoring, and continuous updates.</a:t>
            </a:r>
          </a:p>
          <a:p>
            <a:pPr lvl="1" algn="just"/>
            <a:r>
              <a:rPr lang="en-US" dirty="0"/>
              <a:t>Benefits of </a:t>
            </a:r>
            <a:r>
              <a:rPr lang="en-US" dirty="0" err="1"/>
              <a:t>IaC</a:t>
            </a:r>
            <a:r>
              <a:rPr lang="en-US" dirty="0"/>
              <a:t> include automation, version control, scalability, cost efficiency, faster deployment, reduced risk, consistency, collaboration, flexibility, and enhanced security.</a:t>
            </a:r>
          </a:p>
          <a:p>
            <a:endParaRPr lang="en-US" dirty="0"/>
          </a:p>
        </p:txBody>
      </p:sp>
    </p:spTree>
    <p:extLst>
      <p:ext uri="{BB962C8B-B14F-4D97-AF65-F5344CB8AC3E}">
        <p14:creationId xmlns:p14="http://schemas.microsoft.com/office/powerpoint/2010/main" val="9944223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Monolithic Architecture Vs. Microservices - Decoding the Ideal Choice for  Your Busin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048000"/>
            <a:ext cx="5795114" cy="3505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Microservices Architecture</a:t>
            </a:r>
            <a:endParaRPr lang="en-US"/>
          </a:p>
        </p:txBody>
      </p:sp>
      <p:sp>
        <p:nvSpPr>
          <p:cNvPr id="3" name="Text Placeholder 2"/>
          <p:cNvSpPr>
            <a:spLocks noGrp="1"/>
          </p:cNvSpPr>
          <p:nvPr>
            <p:ph type="body" idx="1"/>
          </p:nvPr>
        </p:nvSpPr>
        <p:spPr/>
        <p:txBody>
          <a:bodyPr/>
          <a:lstStyle/>
          <a:p>
            <a:r>
              <a:rPr lang="en-US" smtClean="0"/>
              <a:t>Microservices is an architectural style that structures an application as a collection of small, independent services.</a:t>
            </a:r>
            <a:endParaRPr lang="en-US"/>
          </a:p>
        </p:txBody>
      </p:sp>
    </p:spTree>
    <p:extLst>
      <p:ext uri="{BB962C8B-B14F-4D97-AF65-F5344CB8AC3E}">
        <p14:creationId xmlns:p14="http://schemas.microsoft.com/office/powerpoint/2010/main" val="3482443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Containerization</a:t>
            </a:r>
            <a:endParaRPr lang="en-US" dirty="0"/>
          </a:p>
        </p:txBody>
      </p:sp>
      <p:sp>
        <p:nvSpPr>
          <p:cNvPr id="3" name="Text Placeholder 2"/>
          <p:cNvSpPr>
            <a:spLocks noGrp="1"/>
          </p:cNvSpPr>
          <p:nvPr>
            <p:ph type="body" idx="1"/>
          </p:nvPr>
        </p:nvSpPr>
        <p:spPr/>
        <p:txBody>
          <a:bodyPr/>
          <a:lstStyle/>
          <a:p>
            <a:pPr algn="just"/>
            <a:r>
              <a:rPr lang="en-US" dirty="0" smtClean="0"/>
              <a:t>Containerization, using tools like </a:t>
            </a:r>
            <a:r>
              <a:rPr lang="en-US" dirty="0" err="1" smtClean="0"/>
              <a:t>Docker</a:t>
            </a:r>
            <a:r>
              <a:rPr lang="en-US" dirty="0" smtClean="0"/>
              <a:t>, allows applications to run consistently across environments.</a:t>
            </a:r>
            <a:endParaRPr lang="en-US" dirty="0"/>
          </a:p>
        </p:txBody>
      </p:sp>
      <p:pic>
        <p:nvPicPr>
          <p:cNvPr id="2050" name="Picture 2" descr="Containerization - A Virtual Operating System for Applic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6096000"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5162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 Involved</a:t>
            </a:r>
            <a:endParaRPr lang="en-US" dirty="0"/>
          </a:p>
        </p:txBody>
      </p:sp>
      <p:sp>
        <p:nvSpPr>
          <p:cNvPr id="3" name="Text Placeholder 2"/>
          <p:cNvSpPr>
            <a:spLocks noGrp="1"/>
          </p:cNvSpPr>
          <p:nvPr>
            <p:ph type="body" idx="1"/>
          </p:nvPr>
        </p:nvSpPr>
        <p:spPr/>
        <p:txBody>
          <a:bodyPr/>
          <a:lstStyle/>
          <a:p>
            <a:pPr algn="just"/>
            <a:r>
              <a:rPr lang="en-US" dirty="0" err="1" smtClean="0"/>
              <a:t>DevOps</a:t>
            </a:r>
            <a:r>
              <a:rPr lang="en-US" dirty="0" smtClean="0"/>
              <a:t> involves cross-functional teams, including developers, testers, operations, and business stakeholders.</a:t>
            </a:r>
            <a:endParaRPr lang="en-US" dirty="0"/>
          </a:p>
        </p:txBody>
      </p:sp>
      <p:pic>
        <p:nvPicPr>
          <p:cNvPr id="4098" name="Picture 2" descr="6 Essential DevOps Roles You Need on Your Team | PagerDu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3360112"/>
            <a:ext cx="5978558" cy="3131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9356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a:t>
            </a:r>
            <a:r>
              <a:rPr lang="en-US" dirty="0" err="1" smtClean="0"/>
              <a:t>DevOps</a:t>
            </a:r>
            <a:r>
              <a:rPr lang="en-US" dirty="0" smtClean="0"/>
              <a:t> Tools</a:t>
            </a:r>
            <a:endParaRPr lang="en-US" dirty="0"/>
          </a:p>
        </p:txBody>
      </p:sp>
      <p:sp>
        <p:nvSpPr>
          <p:cNvPr id="3" name="Text Placeholder 2"/>
          <p:cNvSpPr>
            <a:spLocks noGrp="1"/>
          </p:cNvSpPr>
          <p:nvPr>
            <p:ph type="body" idx="1"/>
          </p:nvPr>
        </p:nvSpPr>
        <p:spPr/>
        <p:txBody>
          <a:bodyPr/>
          <a:lstStyle/>
          <a:p>
            <a:r>
              <a:rPr lang="en-US" dirty="0" smtClean="0"/>
              <a:t>Examples of </a:t>
            </a:r>
            <a:r>
              <a:rPr lang="en-US" dirty="0" err="1" smtClean="0"/>
              <a:t>DevOps</a:t>
            </a:r>
            <a:r>
              <a:rPr lang="en-US" dirty="0" smtClean="0"/>
              <a:t> tools include Jenkins for CI/CD, </a:t>
            </a:r>
            <a:r>
              <a:rPr lang="en-US" dirty="0" err="1" smtClean="0"/>
              <a:t>Ansible</a:t>
            </a:r>
            <a:r>
              <a:rPr lang="en-US" dirty="0" smtClean="0"/>
              <a:t> for automation, and </a:t>
            </a:r>
            <a:r>
              <a:rPr lang="en-US" dirty="0" err="1" smtClean="0"/>
              <a:t>Docker</a:t>
            </a:r>
            <a:r>
              <a:rPr lang="en-US" dirty="0" smtClean="0"/>
              <a:t> for containerization.</a:t>
            </a:r>
            <a:endParaRPr lang="en-US" dirty="0"/>
          </a:p>
        </p:txBody>
      </p:sp>
      <p:pic>
        <p:nvPicPr>
          <p:cNvPr id="3074" name="Picture 2" descr="DevOps Automation Tools for 2023 and Bey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276600"/>
            <a:ext cx="7391400"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8082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and challenges of </a:t>
            </a:r>
            <a:r>
              <a:rPr lang="en-US" dirty="0" err="1" smtClean="0"/>
              <a:t>DevOps</a:t>
            </a:r>
            <a:endParaRPr lang="en-US" dirty="0"/>
          </a:p>
        </p:txBody>
      </p:sp>
      <p:sp>
        <p:nvSpPr>
          <p:cNvPr id="3" name="Text Placeholder 2"/>
          <p:cNvSpPr>
            <a:spLocks noGrp="1"/>
          </p:cNvSpPr>
          <p:nvPr>
            <p:ph type="body" idx="1"/>
          </p:nvPr>
        </p:nvSpPr>
        <p:spPr/>
        <p:txBody>
          <a:bodyPr/>
          <a:lstStyle/>
          <a:p>
            <a:pPr algn="just"/>
            <a:r>
              <a:rPr lang="en-US" dirty="0" err="1" smtClean="0"/>
              <a:t>DevOps</a:t>
            </a:r>
            <a:r>
              <a:rPr lang="en-US" dirty="0" smtClean="0"/>
              <a:t> leads to faster software delivery, improved collaboration, reduced errors, and increased efficiency.</a:t>
            </a:r>
          </a:p>
          <a:p>
            <a:pPr algn="just"/>
            <a:r>
              <a:rPr lang="en-US" dirty="0"/>
              <a:t>Challenges in </a:t>
            </a:r>
            <a:r>
              <a:rPr lang="en-US" dirty="0" err="1"/>
              <a:t>DevOps</a:t>
            </a:r>
            <a:r>
              <a:rPr lang="en-US" dirty="0"/>
              <a:t> include resistance to change, tool complexity, and security concerns.</a:t>
            </a:r>
          </a:p>
          <a:p>
            <a:pPr algn="just"/>
            <a:endParaRPr lang="en-US" dirty="0"/>
          </a:p>
        </p:txBody>
      </p:sp>
    </p:spTree>
    <p:extLst>
      <p:ext uri="{BB962C8B-B14F-4D97-AF65-F5344CB8AC3E}">
        <p14:creationId xmlns:p14="http://schemas.microsoft.com/office/powerpoint/2010/main" val="12527927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DevOps</a:t>
            </a:r>
            <a:r>
              <a:rPr lang="en-US" dirty="0" smtClean="0"/>
              <a:t> in Practice and Future</a:t>
            </a:r>
            <a:endParaRPr lang="en-US" dirty="0"/>
          </a:p>
        </p:txBody>
      </p:sp>
      <p:sp>
        <p:nvSpPr>
          <p:cNvPr id="3" name="Text Placeholder 2"/>
          <p:cNvSpPr>
            <a:spLocks noGrp="1"/>
          </p:cNvSpPr>
          <p:nvPr>
            <p:ph type="body" idx="1"/>
          </p:nvPr>
        </p:nvSpPr>
        <p:spPr/>
        <p:txBody>
          <a:bodyPr/>
          <a:lstStyle/>
          <a:p>
            <a:r>
              <a:rPr lang="en-US" dirty="0" err="1" smtClean="0"/>
              <a:t>DevOps</a:t>
            </a:r>
            <a:r>
              <a:rPr lang="en-US" dirty="0" smtClean="0"/>
              <a:t> adoption can vary, but it often involves creating a </a:t>
            </a:r>
            <a:r>
              <a:rPr lang="en-US" dirty="0" err="1" smtClean="0"/>
              <a:t>DevOps</a:t>
            </a:r>
            <a:r>
              <a:rPr lang="en-US" dirty="0" smtClean="0"/>
              <a:t> culture and implementing automation.</a:t>
            </a:r>
          </a:p>
          <a:p>
            <a:r>
              <a:rPr lang="en-US" dirty="0"/>
              <a:t>The future of </a:t>
            </a:r>
            <a:r>
              <a:rPr lang="en-US" dirty="0" err="1"/>
              <a:t>DevOps</a:t>
            </a:r>
            <a:r>
              <a:rPr lang="en-US" dirty="0"/>
              <a:t> involves further automation, AI and machine learning integration, and improved security practices.</a:t>
            </a:r>
          </a:p>
          <a:p>
            <a:endParaRPr lang="en-US" dirty="0"/>
          </a:p>
        </p:txBody>
      </p:sp>
    </p:spTree>
    <p:extLst>
      <p:ext uri="{BB962C8B-B14F-4D97-AF65-F5344CB8AC3E}">
        <p14:creationId xmlns:p14="http://schemas.microsoft.com/office/powerpoint/2010/main" val="1807515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5400"/>
            <a:ext cx="8229600" cy="1143000"/>
          </a:xfrm>
        </p:spPr>
        <p:txBody>
          <a:bodyPr>
            <a:normAutofit fontScale="90000"/>
          </a:bodyPr>
          <a:lstStyle/>
          <a:p>
            <a:r>
              <a:rPr lang="en-US" dirty="0" smtClean="0"/>
              <a:t>Comparison of Agile Frameworks</a:t>
            </a:r>
            <a:endParaRPr lang="en-US" dirty="0"/>
          </a:p>
        </p:txBody>
      </p:sp>
      <p:sp>
        <p:nvSpPr>
          <p:cNvPr id="3" name="Text Placeholder 2"/>
          <p:cNvSpPr>
            <a:spLocks noGrp="1"/>
          </p:cNvSpPr>
          <p:nvPr>
            <p:ph type="body" idx="1"/>
          </p:nvPr>
        </p:nvSpPr>
        <p:spPr/>
        <p:txBody>
          <a:bodyPr/>
          <a:lstStyle/>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873351927"/>
              </p:ext>
            </p:extLst>
          </p:nvPr>
        </p:nvGraphicFramePr>
        <p:xfrm>
          <a:off x="152400" y="1143000"/>
          <a:ext cx="8890000" cy="559816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03400">
                  <a:extLst>
                    <a:ext uri="{9D8B030D-6E8A-4147-A177-3AD203B41FA5}">
                      <a16:colId xmlns:a16="http://schemas.microsoft.com/office/drawing/2014/main" val="20004"/>
                    </a:ext>
                  </a:extLst>
                </a:gridCol>
              </a:tblGrid>
              <a:tr h="508000">
                <a:tc>
                  <a:txBody>
                    <a:bodyPr/>
                    <a:lstStyle/>
                    <a:p>
                      <a:r>
                        <a:rPr lang="en-US" sz="1600" dirty="0" smtClean="0"/>
                        <a:t>Aspect</a:t>
                      </a:r>
                      <a:endParaRPr lang="en-US" sz="1600" dirty="0"/>
                    </a:p>
                  </a:txBody>
                  <a:tcPr/>
                </a:tc>
                <a:tc>
                  <a:txBody>
                    <a:bodyPr/>
                    <a:lstStyle/>
                    <a:p>
                      <a:r>
                        <a:rPr lang="en-US" sz="1600" dirty="0" smtClean="0"/>
                        <a:t>Scrum</a:t>
                      </a:r>
                      <a:endParaRPr lang="en-US" sz="1600" dirty="0"/>
                    </a:p>
                  </a:txBody>
                  <a:tcPr/>
                </a:tc>
                <a:tc>
                  <a:txBody>
                    <a:bodyPr/>
                    <a:lstStyle/>
                    <a:p>
                      <a:r>
                        <a:rPr lang="en-US" sz="1600" dirty="0" smtClean="0"/>
                        <a:t>XP</a:t>
                      </a:r>
                      <a:endParaRPr lang="en-US" sz="1600" dirty="0"/>
                    </a:p>
                  </a:txBody>
                  <a:tcPr/>
                </a:tc>
                <a:tc>
                  <a:txBody>
                    <a:bodyPr/>
                    <a:lstStyle/>
                    <a:p>
                      <a:r>
                        <a:rPr lang="en-US" sz="1600" dirty="0" err="1" smtClean="0"/>
                        <a:t>DevOps</a:t>
                      </a:r>
                      <a:endParaRPr lang="en-US" sz="1600" dirty="0"/>
                    </a:p>
                  </a:txBody>
                  <a:tcPr/>
                </a:tc>
                <a:tc>
                  <a:txBody>
                    <a:bodyPr/>
                    <a:lstStyle/>
                    <a:p>
                      <a:r>
                        <a:rPr lang="en-US" sz="1600" dirty="0" err="1" smtClean="0"/>
                        <a:t>Kanban</a:t>
                      </a:r>
                      <a:endParaRPr lang="en-US" sz="1600" dirty="0"/>
                    </a:p>
                  </a:txBody>
                  <a:tcPr/>
                </a:tc>
                <a:extLst>
                  <a:ext uri="{0D108BD9-81ED-4DB2-BD59-A6C34878D82A}">
                    <a16:rowId xmlns:a16="http://schemas.microsoft.com/office/drawing/2014/main" val="10000"/>
                  </a:ext>
                </a:extLst>
              </a:tr>
              <a:tr h="508000">
                <a:tc>
                  <a:txBody>
                    <a:bodyPr/>
                    <a:lstStyle/>
                    <a:p>
                      <a:r>
                        <a:rPr lang="en-US" sz="1400" dirty="0" smtClean="0"/>
                        <a:t>Principles</a:t>
                      </a:r>
                      <a:endParaRPr lang="en-US" sz="1400" dirty="0"/>
                    </a:p>
                  </a:txBody>
                  <a:tcPr/>
                </a:tc>
                <a:tc>
                  <a:txBody>
                    <a:bodyPr/>
                    <a:lstStyle/>
                    <a:p>
                      <a:pPr fontAlgn="base"/>
                      <a:r>
                        <a:rPr lang="en-US" sz="1100" dirty="0">
                          <a:effectLst/>
                        </a:rPr>
                        <a:t>Transparency, Inspection, Adaptation</a:t>
                      </a:r>
                    </a:p>
                  </a:txBody>
                  <a:tcPr anchor="ctr"/>
                </a:tc>
                <a:tc>
                  <a:txBody>
                    <a:bodyPr/>
                    <a:lstStyle/>
                    <a:p>
                      <a:pPr fontAlgn="base"/>
                      <a:r>
                        <a:rPr lang="en-US" sz="1100">
                          <a:effectLst/>
                        </a:rPr>
                        <a:t>- Simplicity, Communication, Feedback, Courage</a:t>
                      </a:r>
                    </a:p>
                  </a:txBody>
                  <a:tcPr anchor="ctr"/>
                </a:tc>
                <a:tc>
                  <a:txBody>
                    <a:bodyPr/>
                    <a:lstStyle/>
                    <a:p>
                      <a:pPr fontAlgn="base"/>
                      <a:r>
                        <a:rPr lang="en-US" sz="1100">
                          <a:effectLst/>
                        </a:rPr>
                        <a:t>- Collaboration, Automation, Measurement, Sharing (CAMS)</a:t>
                      </a:r>
                    </a:p>
                  </a:txBody>
                  <a:tcPr anchor="ctr"/>
                </a:tc>
                <a:tc>
                  <a:txBody>
                    <a:bodyPr/>
                    <a:lstStyle/>
                    <a:p>
                      <a:pPr fontAlgn="base"/>
                      <a:r>
                        <a:rPr lang="en-US" sz="1100" dirty="0">
                          <a:effectLst/>
                        </a:rPr>
                        <a:t>- Visualizing work, Limiting work in progress, Managing flow</a:t>
                      </a:r>
                    </a:p>
                  </a:txBody>
                  <a:tcPr anchor="ctr"/>
                </a:tc>
                <a:extLst>
                  <a:ext uri="{0D108BD9-81ED-4DB2-BD59-A6C34878D82A}">
                    <a16:rowId xmlns:a16="http://schemas.microsoft.com/office/drawing/2014/main" val="10001"/>
                  </a:ext>
                </a:extLst>
              </a:tr>
              <a:tr h="508000">
                <a:tc>
                  <a:txBody>
                    <a:bodyPr/>
                    <a:lstStyle/>
                    <a:p>
                      <a:r>
                        <a:rPr lang="en-US" sz="1400" dirty="0" smtClean="0"/>
                        <a:t>Roles</a:t>
                      </a:r>
                      <a:endParaRPr lang="en-US" sz="1400" dirty="0"/>
                    </a:p>
                  </a:txBody>
                  <a:tcPr/>
                </a:tc>
                <a:tc>
                  <a:txBody>
                    <a:bodyPr/>
                    <a:lstStyle/>
                    <a:p>
                      <a:pPr fontAlgn="base"/>
                      <a:r>
                        <a:rPr lang="en-US" sz="1100" dirty="0">
                          <a:effectLst/>
                        </a:rPr>
                        <a:t>- Scrum Master, Product Owner, Development Team</a:t>
                      </a:r>
                    </a:p>
                  </a:txBody>
                  <a:tcPr anchor="ctr"/>
                </a:tc>
                <a:tc>
                  <a:txBody>
                    <a:bodyPr/>
                    <a:lstStyle/>
                    <a:p>
                      <a:pPr fontAlgn="base"/>
                      <a:r>
                        <a:rPr lang="en-US" sz="1100">
                          <a:effectLst/>
                        </a:rPr>
                        <a:t>- Programmer, Customer, Tracker, Coach, Manager</a:t>
                      </a:r>
                    </a:p>
                  </a:txBody>
                  <a:tcPr anchor="ctr"/>
                </a:tc>
                <a:tc>
                  <a:txBody>
                    <a:bodyPr/>
                    <a:lstStyle/>
                    <a:p>
                      <a:pPr fontAlgn="base"/>
                      <a:r>
                        <a:rPr lang="en-US" sz="1100">
                          <a:effectLst/>
                        </a:rPr>
                        <a:t>- DevOps Engineer, Developer, Operations, Tester, Product Owner</a:t>
                      </a:r>
                    </a:p>
                  </a:txBody>
                  <a:tcPr anchor="ctr"/>
                </a:tc>
                <a:tc>
                  <a:txBody>
                    <a:bodyPr/>
                    <a:lstStyle/>
                    <a:p>
                      <a:pPr fontAlgn="base"/>
                      <a:r>
                        <a:rPr lang="en-US" sz="1100" dirty="0">
                          <a:effectLst/>
                        </a:rPr>
                        <a:t>- No prescribed roles, team-based approach</a:t>
                      </a:r>
                    </a:p>
                  </a:txBody>
                  <a:tcPr anchor="ctr"/>
                </a:tc>
                <a:extLst>
                  <a:ext uri="{0D108BD9-81ED-4DB2-BD59-A6C34878D82A}">
                    <a16:rowId xmlns:a16="http://schemas.microsoft.com/office/drawing/2014/main" val="10002"/>
                  </a:ext>
                </a:extLst>
              </a:tr>
              <a:tr h="508000">
                <a:tc>
                  <a:txBody>
                    <a:bodyPr/>
                    <a:lstStyle/>
                    <a:p>
                      <a:r>
                        <a:rPr lang="en-US" sz="1400" dirty="0" smtClean="0"/>
                        <a:t>Methods</a:t>
                      </a:r>
                      <a:endParaRPr lang="en-US" sz="1400" dirty="0"/>
                    </a:p>
                  </a:txBody>
                  <a:tcPr/>
                </a:tc>
                <a:tc>
                  <a:txBody>
                    <a:bodyPr/>
                    <a:lstStyle/>
                    <a:p>
                      <a:pPr fontAlgn="base"/>
                      <a:r>
                        <a:rPr lang="en-US" sz="1100" dirty="0">
                          <a:effectLst/>
                        </a:rPr>
                        <a:t>- Iterative development, Sprints, Product Backlog</a:t>
                      </a:r>
                    </a:p>
                  </a:txBody>
                  <a:tcPr anchor="ctr"/>
                </a:tc>
                <a:tc>
                  <a:txBody>
                    <a:bodyPr/>
                    <a:lstStyle/>
                    <a:p>
                      <a:pPr fontAlgn="base"/>
                      <a:r>
                        <a:rPr lang="en-US" sz="1100">
                          <a:effectLst/>
                        </a:rPr>
                        <a:t>- Pair programming, Test-driven development, Continuous Integration</a:t>
                      </a:r>
                    </a:p>
                  </a:txBody>
                  <a:tcPr anchor="ctr"/>
                </a:tc>
                <a:tc>
                  <a:txBody>
                    <a:bodyPr/>
                    <a:lstStyle/>
                    <a:p>
                      <a:pPr fontAlgn="base"/>
                      <a:r>
                        <a:rPr lang="en-US" sz="1100">
                          <a:effectLst/>
                        </a:rPr>
                        <a:t>- Automation, Continuous delivery, Infrastructure as Code</a:t>
                      </a:r>
                    </a:p>
                  </a:txBody>
                  <a:tcPr anchor="ctr"/>
                </a:tc>
                <a:tc>
                  <a:txBody>
                    <a:bodyPr/>
                    <a:lstStyle/>
                    <a:p>
                      <a:pPr fontAlgn="base"/>
                      <a:r>
                        <a:rPr lang="en-US" sz="1100" dirty="0">
                          <a:effectLst/>
                        </a:rPr>
                        <a:t>- Visual </a:t>
                      </a:r>
                      <a:r>
                        <a:rPr lang="en-US" sz="1100" dirty="0" smtClean="0">
                          <a:effectLst/>
                        </a:rPr>
                        <a:t>boards, </a:t>
                      </a:r>
                      <a:r>
                        <a:rPr lang="en-US" sz="1100" dirty="0">
                          <a:effectLst/>
                        </a:rPr>
                        <a:t>Flow metrics</a:t>
                      </a:r>
                    </a:p>
                  </a:txBody>
                  <a:tcPr anchor="ctr"/>
                </a:tc>
                <a:extLst>
                  <a:ext uri="{0D108BD9-81ED-4DB2-BD59-A6C34878D82A}">
                    <a16:rowId xmlns:a16="http://schemas.microsoft.com/office/drawing/2014/main" val="10003"/>
                  </a:ext>
                </a:extLst>
              </a:tr>
              <a:tr h="508000">
                <a:tc>
                  <a:txBody>
                    <a:bodyPr/>
                    <a:lstStyle/>
                    <a:p>
                      <a:r>
                        <a:rPr lang="en-US" sz="1400" dirty="0" smtClean="0"/>
                        <a:t>Tools</a:t>
                      </a:r>
                      <a:endParaRPr lang="en-US" sz="1400" dirty="0"/>
                    </a:p>
                  </a:txBody>
                  <a:tcPr/>
                </a:tc>
                <a:tc>
                  <a:txBody>
                    <a:bodyPr/>
                    <a:lstStyle/>
                    <a:p>
                      <a:pPr fontAlgn="base"/>
                      <a:r>
                        <a:rPr lang="en-US" sz="1100" dirty="0">
                          <a:effectLst/>
                        </a:rPr>
                        <a:t>- Scrum boards, </a:t>
                      </a:r>
                      <a:r>
                        <a:rPr lang="en-US" sz="1100" dirty="0" err="1" smtClean="0">
                          <a:effectLst/>
                        </a:rPr>
                        <a:t>Jira</a:t>
                      </a:r>
                      <a:endParaRPr lang="en-US" sz="1100" dirty="0">
                        <a:effectLst/>
                      </a:endParaRPr>
                    </a:p>
                  </a:txBody>
                  <a:tcPr anchor="ctr"/>
                </a:tc>
                <a:tc>
                  <a:txBody>
                    <a:bodyPr/>
                    <a:lstStyle/>
                    <a:p>
                      <a:pPr fontAlgn="base"/>
                      <a:r>
                        <a:rPr lang="en-US" sz="1100" dirty="0">
                          <a:effectLst/>
                        </a:rPr>
                        <a:t>- Version control, Testing frameworks, Jenkins</a:t>
                      </a:r>
                    </a:p>
                  </a:txBody>
                  <a:tcPr anchor="ctr"/>
                </a:tc>
                <a:tc>
                  <a:txBody>
                    <a:bodyPr/>
                    <a:lstStyle/>
                    <a:p>
                      <a:pPr fontAlgn="base"/>
                      <a:r>
                        <a:rPr lang="en-US" sz="1100" dirty="0">
                          <a:effectLst/>
                        </a:rPr>
                        <a:t>- CI/CD tools (e.g., Jenkins), Infrastructure provisioning tools (e.g., </a:t>
                      </a:r>
                      <a:r>
                        <a:rPr lang="en-US" sz="1100" dirty="0" err="1">
                          <a:effectLst/>
                        </a:rPr>
                        <a:t>Terraform</a:t>
                      </a:r>
                      <a:r>
                        <a:rPr lang="en-US" sz="1100" dirty="0">
                          <a:effectLst/>
                        </a:rPr>
                        <a:t>)</a:t>
                      </a:r>
                    </a:p>
                  </a:txBody>
                  <a:tcPr anchor="ctr"/>
                </a:tc>
                <a:tc>
                  <a:txBody>
                    <a:bodyPr/>
                    <a:lstStyle/>
                    <a:p>
                      <a:pPr fontAlgn="base"/>
                      <a:r>
                        <a:rPr lang="en-US" sz="1100" dirty="0">
                          <a:effectLst/>
                        </a:rPr>
                        <a:t>- </a:t>
                      </a:r>
                      <a:r>
                        <a:rPr lang="en-US" sz="1100" dirty="0" err="1">
                          <a:effectLst/>
                        </a:rPr>
                        <a:t>Kanban</a:t>
                      </a:r>
                      <a:r>
                        <a:rPr lang="en-US" sz="1100" dirty="0">
                          <a:effectLst/>
                        </a:rPr>
                        <a:t> boards, Digital task boards</a:t>
                      </a:r>
                    </a:p>
                  </a:txBody>
                  <a:tcPr anchor="ctr"/>
                </a:tc>
                <a:extLst>
                  <a:ext uri="{0D108BD9-81ED-4DB2-BD59-A6C34878D82A}">
                    <a16:rowId xmlns:a16="http://schemas.microsoft.com/office/drawing/2014/main" val="10004"/>
                  </a:ext>
                </a:extLst>
              </a:tr>
              <a:tr h="508000">
                <a:tc>
                  <a:txBody>
                    <a:bodyPr/>
                    <a:lstStyle/>
                    <a:p>
                      <a:r>
                        <a:rPr lang="en-US" sz="1400" dirty="0" smtClean="0"/>
                        <a:t>Common Features</a:t>
                      </a:r>
                      <a:endParaRPr lang="en-US" sz="1400" dirty="0"/>
                    </a:p>
                  </a:txBody>
                  <a:tcPr/>
                </a:tc>
                <a:tc>
                  <a:txBody>
                    <a:bodyPr/>
                    <a:lstStyle/>
                    <a:p>
                      <a:pPr fontAlgn="base"/>
                      <a:r>
                        <a:rPr lang="en-US" sz="1100" dirty="0">
                          <a:effectLst/>
                        </a:rPr>
                        <a:t>- Iterative development, collaboration</a:t>
                      </a:r>
                    </a:p>
                  </a:txBody>
                  <a:tcPr anchor="ctr"/>
                </a:tc>
                <a:tc>
                  <a:txBody>
                    <a:bodyPr/>
                    <a:lstStyle/>
                    <a:p>
                      <a:pPr fontAlgn="base"/>
                      <a:r>
                        <a:rPr lang="en-US" sz="1100" dirty="0">
                          <a:effectLst/>
                        </a:rPr>
                        <a:t>- Iterative development, collaboration, TDD</a:t>
                      </a:r>
                    </a:p>
                  </a:txBody>
                  <a:tcPr anchor="ctr"/>
                </a:tc>
                <a:tc>
                  <a:txBody>
                    <a:bodyPr/>
                    <a:lstStyle/>
                    <a:p>
                      <a:pPr fontAlgn="base"/>
                      <a:r>
                        <a:rPr lang="en-US" sz="1100" dirty="0">
                          <a:effectLst/>
                        </a:rPr>
                        <a:t>- Iterative development, automation, collaboration</a:t>
                      </a:r>
                    </a:p>
                  </a:txBody>
                  <a:tcPr anchor="ctr"/>
                </a:tc>
                <a:tc>
                  <a:txBody>
                    <a:bodyPr/>
                    <a:lstStyle/>
                    <a:p>
                      <a:pPr fontAlgn="base"/>
                      <a:r>
                        <a:rPr lang="en-US" sz="1100" dirty="0">
                          <a:effectLst/>
                        </a:rPr>
                        <a:t>- Visualizing work, limiting WIP, managing flow</a:t>
                      </a:r>
                    </a:p>
                  </a:txBody>
                  <a:tcPr anchor="ctr"/>
                </a:tc>
                <a:extLst>
                  <a:ext uri="{0D108BD9-81ED-4DB2-BD59-A6C34878D82A}">
                    <a16:rowId xmlns:a16="http://schemas.microsoft.com/office/drawing/2014/main" val="10005"/>
                  </a:ext>
                </a:extLst>
              </a:tr>
              <a:tr h="508000">
                <a:tc>
                  <a:txBody>
                    <a:bodyPr/>
                    <a:lstStyle/>
                    <a:p>
                      <a:r>
                        <a:rPr lang="en-US" sz="1400" dirty="0" smtClean="0"/>
                        <a:t>Key Ceremonies</a:t>
                      </a:r>
                      <a:endParaRPr lang="en-US" sz="1400" dirty="0"/>
                    </a:p>
                  </a:txBody>
                  <a:tcPr/>
                </a:tc>
                <a:tc>
                  <a:txBody>
                    <a:bodyPr/>
                    <a:lstStyle/>
                    <a:p>
                      <a:pPr fontAlgn="base"/>
                      <a:r>
                        <a:rPr lang="en-US" sz="1100" dirty="0">
                          <a:effectLst/>
                        </a:rPr>
                        <a:t>- Sprint Planning, Daily Scrum, Sprint Review, Sprint Retrospective</a:t>
                      </a:r>
                    </a:p>
                  </a:txBody>
                  <a:tcPr anchor="ctr"/>
                </a:tc>
                <a:tc>
                  <a:txBody>
                    <a:bodyPr/>
                    <a:lstStyle/>
                    <a:p>
                      <a:pPr fontAlgn="base"/>
                      <a:r>
                        <a:rPr lang="en-US" sz="1100">
                          <a:effectLst/>
                        </a:rPr>
                        <a:t>- Standup meetings, Planning game, Refactoring</a:t>
                      </a:r>
                    </a:p>
                  </a:txBody>
                  <a:tcPr anchor="ctr"/>
                </a:tc>
                <a:tc>
                  <a:txBody>
                    <a:bodyPr/>
                    <a:lstStyle/>
                    <a:p>
                      <a:pPr fontAlgn="base"/>
                      <a:r>
                        <a:rPr lang="en-US" sz="1100">
                          <a:effectLst/>
                        </a:rPr>
                        <a:t>- Continuous Integration, Continuous Deployment, Release management</a:t>
                      </a:r>
                    </a:p>
                  </a:txBody>
                  <a:tcPr anchor="ctr"/>
                </a:tc>
                <a:tc>
                  <a:txBody>
                    <a:bodyPr/>
                    <a:lstStyle/>
                    <a:p>
                      <a:pPr fontAlgn="base"/>
                      <a:r>
                        <a:rPr lang="en-US" sz="1100" dirty="0">
                          <a:effectLst/>
                        </a:rPr>
                        <a:t>- No prescribed ceremonies, continuous flow</a:t>
                      </a:r>
                    </a:p>
                  </a:txBody>
                  <a:tcPr anchor="ctr"/>
                </a:tc>
                <a:extLst>
                  <a:ext uri="{0D108BD9-81ED-4DB2-BD59-A6C34878D82A}">
                    <a16:rowId xmlns:a16="http://schemas.microsoft.com/office/drawing/2014/main" val="10006"/>
                  </a:ext>
                </a:extLst>
              </a:tr>
              <a:tr h="508000">
                <a:tc>
                  <a:txBody>
                    <a:bodyPr/>
                    <a:lstStyle/>
                    <a:p>
                      <a:r>
                        <a:rPr lang="en-US" sz="1400" dirty="0" smtClean="0"/>
                        <a:t>Focus</a:t>
                      </a:r>
                      <a:endParaRPr lang="en-US" sz="1400" dirty="0"/>
                    </a:p>
                  </a:txBody>
                  <a:tcPr/>
                </a:tc>
                <a:tc>
                  <a:txBody>
                    <a:bodyPr/>
                    <a:lstStyle/>
                    <a:p>
                      <a:pPr fontAlgn="base"/>
                      <a:r>
                        <a:rPr lang="en-US" sz="1100" dirty="0">
                          <a:effectLst/>
                        </a:rPr>
                        <a:t>- Project management</a:t>
                      </a:r>
                    </a:p>
                  </a:txBody>
                  <a:tcPr anchor="ctr"/>
                </a:tc>
                <a:tc>
                  <a:txBody>
                    <a:bodyPr/>
                    <a:lstStyle/>
                    <a:p>
                      <a:pPr fontAlgn="base"/>
                      <a:r>
                        <a:rPr lang="en-US" sz="1100">
                          <a:effectLst/>
                        </a:rPr>
                        <a:t>- Software development practices</a:t>
                      </a:r>
                    </a:p>
                  </a:txBody>
                  <a:tcPr anchor="ctr"/>
                </a:tc>
                <a:tc>
                  <a:txBody>
                    <a:bodyPr/>
                    <a:lstStyle/>
                    <a:p>
                      <a:pPr fontAlgn="base"/>
                      <a:r>
                        <a:rPr lang="en-US" sz="1100">
                          <a:effectLst/>
                        </a:rPr>
                        <a:t>- Software delivery and infrastructure automation</a:t>
                      </a:r>
                    </a:p>
                  </a:txBody>
                  <a:tcPr anchor="ctr"/>
                </a:tc>
                <a:tc>
                  <a:txBody>
                    <a:bodyPr/>
                    <a:lstStyle/>
                    <a:p>
                      <a:pPr fontAlgn="base"/>
                      <a:r>
                        <a:rPr lang="en-US" sz="1100" dirty="0">
                          <a:effectLst/>
                        </a:rPr>
                        <a:t>- Workflow optimization and continuous improvement</a:t>
                      </a:r>
                    </a:p>
                  </a:txBody>
                  <a:tcPr anchor="ctr"/>
                </a:tc>
                <a:extLst>
                  <a:ext uri="{0D108BD9-81ED-4DB2-BD59-A6C34878D82A}">
                    <a16:rowId xmlns:a16="http://schemas.microsoft.com/office/drawing/2014/main" val="10007"/>
                  </a:ext>
                </a:extLst>
              </a:tr>
              <a:tr h="508000">
                <a:tc>
                  <a:txBody>
                    <a:bodyPr/>
                    <a:lstStyle/>
                    <a:p>
                      <a:r>
                        <a:rPr lang="en-US" sz="1400" dirty="0" smtClean="0"/>
                        <a:t>Artifacts</a:t>
                      </a:r>
                      <a:endParaRPr lang="en-US" sz="1400" dirty="0"/>
                    </a:p>
                  </a:txBody>
                  <a:tcPr/>
                </a:tc>
                <a:tc>
                  <a:txBody>
                    <a:bodyPr/>
                    <a:lstStyle/>
                    <a:p>
                      <a:pPr fontAlgn="base"/>
                      <a:r>
                        <a:rPr lang="en-US" sz="1100" dirty="0">
                          <a:effectLst/>
                        </a:rPr>
                        <a:t>- Product Backlog, Sprint Backlog, Increment</a:t>
                      </a:r>
                    </a:p>
                  </a:txBody>
                  <a:tcPr anchor="ctr"/>
                </a:tc>
                <a:tc>
                  <a:txBody>
                    <a:bodyPr/>
                    <a:lstStyle/>
                    <a:p>
                      <a:pPr fontAlgn="base"/>
                      <a:r>
                        <a:rPr lang="en-US" sz="1100">
                          <a:effectLst/>
                        </a:rPr>
                        <a:t>- User stories, Acceptance tests, Continuous Integration server</a:t>
                      </a:r>
                    </a:p>
                  </a:txBody>
                  <a:tcPr anchor="ctr"/>
                </a:tc>
                <a:tc>
                  <a:txBody>
                    <a:bodyPr/>
                    <a:lstStyle/>
                    <a:p>
                      <a:pPr fontAlgn="base"/>
                      <a:r>
                        <a:rPr lang="fr-FR" sz="1100">
                          <a:effectLst/>
                        </a:rPr>
                        <a:t>- Infrastructure as Code scripts, CI/CD pipelines</a:t>
                      </a:r>
                    </a:p>
                  </a:txBody>
                  <a:tcPr anchor="ctr"/>
                </a:tc>
                <a:tc>
                  <a:txBody>
                    <a:bodyPr/>
                    <a:lstStyle/>
                    <a:p>
                      <a:pPr fontAlgn="base"/>
                      <a:r>
                        <a:rPr lang="en-US" sz="1100" dirty="0">
                          <a:effectLst/>
                        </a:rPr>
                        <a:t>- </a:t>
                      </a:r>
                      <a:r>
                        <a:rPr lang="en-US" sz="1100" dirty="0" err="1">
                          <a:effectLst/>
                        </a:rPr>
                        <a:t>Kanban</a:t>
                      </a:r>
                      <a:r>
                        <a:rPr lang="en-US" sz="1100" dirty="0">
                          <a:effectLst/>
                        </a:rPr>
                        <a:t> boards, Cumulative flow diagrams</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842125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0"/>
            <a:ext cx="8991600" cy="1143000"/>
          </a:xfrm>
        </p:spPr>
        <p:txBody>
          <a:bodyPr>
            <a:normAutofit fontScale="90000"/>
          </a:bodyPr>
          <a:lstStyle/>
          <a:p>
            <a:r>
              <a:rPr lang="en-US" dirty="0"/>
              <a:t>AI-Augmented Software Development:</a:t>
            </a:r>
          </a:p>
        </p:txBody>
      </p:sp>
      <p:sp>
        <p:nvSpPr>
          <p:cNvPr id="3" name="Text Placeholder 2"/>
          <p:cNvSpPr>
            <a:spLocks noGrp="1"/>
          </p:cNvSpPr>
          <p:nvPr>
            <p:ph type="body" idx="1"/>
          </p:nvPr>
        </p:nvSpPr>
        <p:spPr>
          <a:xfrm>
            <a:off x="304800" y="2468880"/>
            <a:ext cx="8229600" cy="4389120"/>
          </a:xfrm>
        </p:spPr>
        <p:txBody>
          <a:bodyPr/>
          <a:lstStyle/>
          <a:p>
            <a:r>
              <a:rPr lang="en-US" dirty="0"/>
              <a:t>In recent years, AI has become increasingly intertwined with software development. Software development has taken on a more intelligent form, with AI being used to automate the entire software development lifecycle, from writing code and testing it to deploying and monitoring applications.</a:t>
            </a:r>
          </a:p>
          <a:p>
            <a:endParaRPr lang="en-US" dirty="0" smtClean="0"/>
          </a:p>
          <a:p>
            <a:endParaRPr lang="en-US" dirty="0"/>
          </a:p>
        </p:txBody>
      </p:sp>
    </p:spTree>
    <p:extLst>
      <p:ext uri="{BB962C8B-B14F-4D97-AF65-F5344CB8AC3E}">
        <p14:creationId xmlns:p14="http://schemas.microsoft.com/office/powerpoint/2010/main" val="1530450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7822977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136" y="1447800"/>
            <a:ext cx="8229600" cy="1143000"/>
          </a:xfrm>
        </p:spPr>
        <p:txBody>
          <a:bodyPr>
            <a:normAutofit fontScale="90000"/>
          </a:bodyPr>
          <a:lstStyle/>
          <a:p>
            <a:r>
              <a:rPr lang="en-US" b="1" dirty="0" err="1"/>
              <a:t>Mintlify</a:t>
            </a:r>
            <a:r>
              <a:rPr lang="en-US" b="1" dirty="0"/>
              <a:t> – Automated Documentation for Developers</a:t>
            </a:r>
            <a:br>
              <a:rPr lang="en-US" b="1" dirty="0"/>
            </a:br>
            <a:endParaRPr lang="en-US" dirty="0"/>
          </a:p>
        </p:txBody>
      </p:sp>
      <p:sp>
        <p:nvSpPr>
          <p:cNvPr id="3" name="Text Placeholder 2"/>
          <p:cNvSpPr>
            <a:spLocks noGrp="1"/>
          </p:cNvSpPr>
          <p:nvPr>
            <p:ph type="body" idx="1"/>
          </p:nvPr>
        </p:nvSpPr>
        <p:spPr/>
        <p:txBody>
          <a:bodyPr/>
          <a:lstStyle/>
          <a:p>
            <a:r>
              <a:rPr lang="en-US" dirty="0"/>
              <a:t>It integrates with your </a:t>
            </a:r>
            <a:r>
              <a:rPr lang="en-US" dirty="0" err="1"/>
              <a:t>favourite</a:t>
            </a:r>
            <a:r>
              <a:rPr lang="en-US" dirty="0"/>
              <a:t> code editor and generates documentation for your code in an instant. Install the </a:t>
            </a:r>
            <a:r>
              <a:rPr lang="en-US" dirty="0" err="1"/>
              <a:t>Mintlify</a:t>
            </a:r>
            <a:r>
              <a:rPr lang="en-US" dirty="0"/>
              <a:t> Writer on your editor, and watch as it generate comprehensive, well-structured documentation for your functions. It is designed to understand your code context and generate relevant descriptions, even interpreting "human-readable" method names. Developers across various programming languages have lauded its efficiency and accuracy.</a:t>
            </a:r>
          </a:p>
        </p:txBody>
      </p:sp>
    </p:spTree>
    <p:extLst>
      <p:ext uri="{BB962C8B-B14F-4D97-AF65-F5344CB8AC3E}">
        <p14:creationId xmlns:p14="http://schemas.microsoft.com/office/powerpoint/2010/main" val="40638848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573029" y="8579167"/>
            <a:ext cx="2830453" cy="2145792"/>
          </a:xfrm>
        </p:spPr>
        <p:txBody>
          <a:bodyPr/>
          <a:lstStyle/>
          <a:p>
            <a:endParaRPr lang="en-US" dirty="0"/>
          </a:p>
        </p:txBody>
      </p:sp>
      <p:pic>
        <p:nvPicPr>
          <p:cNvPr id="1026" name="Picture 2" descr="Mintlify AI code documentation screensh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6721" cy="3352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ntlify Tutorial - AI powered Doc Writer tool - You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52800"/>
            <a:ext cx="9144000" cy="3499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2165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447800"/>
            <a:ext cx="8229600" cy="1143000"/>
          </a:xfrm>
        </p:spPr>
        <p:txBody>
          <a:bodyPr>
            <a:normAutofit fontScale="90000"/>
          </a:bodyPr>
          <a:lstStyle/>
          <a:p>
            <a:r>
              <a:rPr lang="en-US" b="1" dirty="0"/>
              <a:t>Adrenaline AI – Understand any codebase</a:t>
            </a:r>
            <a:br>
              <a:rPr lang="en-US" b="1" dirty="0"/>
            </a:br>
            <a:endParaRPr lang="en-US" dirty="0"/>
          </a:p>
        </p:txBody>
      </p:sp>
      <p:sp>
        <p:nvSpPr>
          <p:cNvPr id="3" name="Text Placeholder 2"/>
          <p:cNvSpPr>
            <a:spLocks noGrp="1"/>
          </p:cNvSpPr>
          <p:nvPr>
            <p:ph type="body" idx="1"/>
          </p:nvPr>
        </p:nvSpPr>
        <p:spPr>
          <a:xfrm>
            <a:off x="500743" y="2209800"/>
            <a:ext cx="8229600" cy="4389120"/>
          </a:xfrm>
        </p:spPr>
        <p:txBody>
          <a:bodyPr/>
          <a:lstStyle/>
          <a:p>
            <a:r>
              <a:rPr lang="en-US" dirty="0"/>
              <a:t>It’s a coding AI for developers. This </a:t>
            </a:r>
            <a:r>
              <a:rPr lang="en-US" dirty="0" err="1"/>
              <a:t>devtool</a:t>
            </a:r>
            <a:r>
              <a:rPr lang="en-US" dirty="0"/>
              <a:t> is designed to understand your codebase, acting as an expert consultant available at your beck and call. With Adrenaline AI, you can quickly get insights into how features work or find out where something is implemented. It reduces time wasted in seeking answers externally.</a:t>
            </a:r>
          </a:p>
        </p:txBody>
      </p:sp>
    </p:spTree>
    <p:extLst>
      <p:ext uri="{BB962C8B-B14F-4D97-AF65-F5344CB8AC3E}">
        <p14:creationId xmlns:p14="http://schemas.microsoft.com/office/powerpoint/2010/main" val="9081079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119028" y="6118542"/>
            <a:ext cx="2554253" cy="3352912"/>
          </a:xfrm>
        </p:spPr>
        <p:txBody>
          <a:bodyPr/>
          <a:lstStyle/>
          <a:p>
            <a:endParaRPr lang="en-US" dirty="0"/>
          </a:p>
        </p:txBody>
      </p:sp>
      <p:pic>
        <p:nvPicPr>
          <p:cNvPr id="2050" name="Picture 2" descr="Adrenaline AI for software engine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29" y="0"/>
            <a:ext cx="918392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1072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133600"/>
            <a:ext cx="9144000" cy="1237488"/>
          </a:xfrm>
        </p:spPr>
        <p:txBody>
          <a:bodyPr>
            <a:normAutofit fontScale="90000"/>
          </a:bodyPr>
          <a:lstStyle/>
          <a:p>
            <a:r>
              <a:rPr lang="en-US" dirty="0"/>
              <a:t>Here are just a few of the implications that AI has on software development:</a:t>
            </a:r>
            <a:br>
              <a:rPr lang="en-US" dirty="0"/>
            </a:br>
            <a:endParaRPr lang="en-US" dirty="0"/>
          </a:p>
        </p:txBody>
      </p:sp>
      <p:sp>
        <p:nvSpPr>
          <p:cNvPr id="3" name="Text Placeholder 2"/>
          <p:cNvSpPr>
            <a:spLocks noGrp="1"/>
          </p:cNvSpPr>
          <p:nvPr>
            <p:ph type="body" idx="1"/>
          </p:nvPr>
        </p:nvSpPr>
        <p:spPr>
          <a:xfrm>
            <a:off x="381000" y="3276600"/>
            <a:ext cx="8534400" cy="4541520"/>
          </a:xfrm>
        </p:spPr>
        <p:txBody>
          <a:bodyPr>
            <a:normAutofit/>
          </a:bodyPr>
          <a:lstStyle/>
          <a:p>
            <a:r>
              <a:rPr lang="en-US" sz="2800" b="1" dirty="0" smtClean="0"/>
              <a:t>Increased </a:t>
            </a:r>
            <a:r>
              <a:rPr lang="en-US" sz="2800" b="1" dirty="0"/>
              <a:t>efficiency in software development</a:t>
            </a:r>
          </a:p>
          <a:p>
            <a:r>
              <a:rPr lang="en-US" sz="2800" b="1" dirty="0"/>
              <a:t>Improved quality control</a:t>
            </a:r>
          </a:p>
          <a:p>
            <a:r>
              <a:rPr lang="en-US" sz="2800" b="1" dirty="0"/>
              <a:t>More accurate predictions for user behavior</a:t>
            </a:r>
          </a:p>
          <a:p>
            <a:r>
              <a:rPr lang="en-US" sz="2800" b="1" dirty="0"/>
              <a:t>Automated coding and application builds</a:t>
            </a:r>
          </a:p>
          <a:p>
            <a:r>
              <a:rPr lang="en-US" sz="2800" b="1" dirty="0"/>
              <a:t>Security and compliance</a:t>
            </a:r>
          </a:p>
          <a:p>
            <a:pPr marL="0" indent="0">
              <a:buNone/>
            </a:pPr>
            <a:endParaRPr lang="en-US" dirty="0"/>
          </a:p>
        </p:txBody>
      </p:sp>
    </p:spTree>
    <p:extLst>
      <p:ext uri="{BB962C8B-B14F-4D97-AF65-F5344CB8AC3E}">
        <p14:creationId xmlns:p14="http://schemas.microsoft.com/office/powerpoint/2010/main" val="32526333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66800"/>
            <a:ext cx="8991600" cy="1143000"/>
          </a:xfrm>
        </p:spPr>
        <p:txBody>
          <a:bodyPr>
            <a:normAutofit fontScale="90000"/>
          </a:bodyPr>
          <a:lstStyle/>
          <a:p>
            <a:r>
              <a:rPr lang="en-US" b="1" dirty="0"/>
              <a:t>Automated coding and application </a:t>
            </a:r>
            <a:r>
              <a:rPr lang="en-US" b="1" dirty="0" smtClean="0"/>
              <a:t>builds</a:t>
            </a:r>
            <a:endParaRPr lang="en-US" dirty="0"/>
          </a:p>
        </p:txBody>
      </p:sp>
      <p:sp>
        <p:nvSpPr>
          <p:cNvPr id="3" name="Text Placeholder 2"/>
          <p:cNvSpPr>
            <a:spLocks noGrp="1"/>
          </p:cNvSpPr>
          <p:nvPr>
            <p:ph type="body" idx="1"/>
          </p:nvPr>
        </p:nvSpPr>
        <p:spPr>
          <a:xfrm>
            <a:off x="228600" y="2242457"/>
            <a:ext cx="8229600" cy="4389120"/>
          </a:xfrm>
        </p:spPr>
        <p:txBody>
          <a:bodyPr>
            <a:normAutofit lnSpcReduction="10000"/>
          </a:bodyPr>
          <a:lstStyle/>
          <a:p>
            <a:r>
              <a:rPr lang="en-US" dirty="0"/>
              <a:t>AI can also automate many of the tedious tasks associated with software development. For example, AI-driven code refactoring tools can automatically convert existing code into more efficient formats.</a:t>
            </a:r>
          </a:p>
          <a:p>
            <a:r>
              <a:rPr lang="en-US" dirty="0"/>
              <a:t>Imagine the time savings of automated coding and application builds. That's just one of the many ways that AI can improve software development. </a:t>
            </a:r>
          </a:p>
          <a:p>
            <a:r>
              <a:rPr lang="en-US" dirty="0"/>
              <a:t>And when it comes to improving the customer experience, AI-driven predictive analytics tools can help developers better anticipate user needs and create more personalized experiences.</a:t>
            </a:r>
          </a:p>
          <a:p>
            <a:endParaRPr lang="en-US" dirty="0"/>
          </a:p>
        </p:txBody>
      </p:sp>
    </p:spTree>
    <p:extLst>
      <p:ext uri="{BB962C8B-B14F-4D97-AF65-F5344CB8AC3E}">
        <p14:creationId xmlns:p14="http://schemas.microsoft.com/office/powerpoint/2010/main" val="266431955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9144000" cy="6765450"/>
          </a:xfrm>
          <a:prstGeom prst="rect">
            <a:avLst/>
          </a:prstGeom>
        </p:spPr>
      </p:pic>
    </p:spTree>
    <p:extLst>
      <p:ext uri="{BB962C8B-B14F-4D97-AF65-F5344CB8AC3E}">
        <p14:creationId xmlns:p14="http://schemas.microsoft.com/office/powerpoint/2010/main" val="25217553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447800"/>
            <a:ext cx="9220200" cy="1143000"/>
          </a:xfrm>
        </p:spPr>
        <p:txBody>
          <a:bodyPr>
            <a:normAutofit fontScale="90000"/>
          </a:bodyPr>
          <a:lstStyle/>
          <a:p>
            <a:r>
              <a:rPr lang="en-US" dirty="0"/>
              <a:t>Automated Bug Detection and Resolution: </a:t>
            </a:r>
          </a:p>
        </p:txBody>
      </p:sp>
      <p:sp>
        <p:nvSpPr>
          <p:cNvPr id="3" name="Text Placeholder 2"/>
          <p:cNvSpPr>
            <a:spLocks noGrp="1"/>
          </p:cNvSpPr>
          <p:nvPr>
            <p:ph type="body" idx="1"/>
          </p:nvPr>
        </p:nvSpPr>
        <p:spPr>
          <a:xfrm>
            <a:off x="228600" y="1793421"/>
            <a:ext cx="8458200" cy="4572000"/>
          </a:xfrm>
        </p:spPr>
        <p:txBody>
          <a:bodyPr>
            <a:normAutofit/>
          </a:bodyPr>
          <a:lstStyle/>
          <a:p>
            <a:endParaRPr lang="en-US" dirty="0" smtClean="0"/>
          </a:p>
          <a:p>
            <a:endParaRPr lang="en-US" dirty="0"/>
          </a:p>
          <a:p>
            <a:endParaRPr lang="en-US" dirty="0" smtClean="0"/>
          </a:p>
          <a:p>
            <a:r>
              <a:rPr lang="en-US" dirty="0" smtClean="0"/>
              <a:t>No </a:t>
            </a:r>
            <a:r>
              <a:rPr lang="en-US" dirty="0"/>
              <a:t>software is perfect, and bugs are to be expected. </a:t>
            </a:r>
          </a:p>
          <a:p>
            <a:r>
              <a:rPr lang="en-US" dirty="0"/>
              <a:t>Fortunately,</a:t>
            </a:r>
            <a:r>
              <a:rPr lang="en-US" b="1" dirty="0"/>
              <a:t> </a:t>
            </a:r>
            <a:r>
              <a:rPr lang="en-US" b="1" dirty="0">
                <a:hlinkClick r:id="rId2"/>
              </a:rPr>
              <a:t>AI-driven bug detection tools</a:t>
            </a:r>
            <a:r>
              <a:rPr lang="en-US" dirty="0"/>
              <a:t> can quickly identify problems in code and suggest actions to resolve them. This reduces the amount of time spent troubleshooting issues and helps developers maintain product quality</a:t>
            </a:r>
            <a:r>
              <a:rPr lang="en-US" dirty="0" smtClean="0"/>
              <a:t>.</a:t>
            </a:r>
          </a:p>
          <a:p>
            <a:endParaRPr lang="en-US" dirty="0" smtClean="0"/>
          </a:p>
          <a:p>
            <a:endParaRPr lang="en-US" dirty="0"/>
          </a:p>
        </p:txBody>
      </p:sp>
    </p:spTree>
    <p:extLst>
      <p:ext uri="{BB962C8B-B14F-4D97-AF65-F5344CB8AC3E}">
        <p14:creationId xmlns:p14="http://schemas.microsoft.com/office/powerpoint/2010/main" val="4002412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143000"/>
          </a:xfrm>
        </p:spPr>
        <p:txBody>
          <a:bodyPr>
            <a:normAutofit fontScale="90000"/>
          </a:bodyPr>
          <a:lstStyle/>
          <a:p>
            <a:r>
              <a:rPr lang="en-US" dirty="0"/>
              <a:t>AI-Powered Testing and Quality Assurance: </a:t>
            </a:r>
          </a:p>
        </p:txBody>
      </p:sp>
      <p:sp>
        <p:nvSpPr>
          <p:cNvPr id="3" name="Text Placeholder 2"/>
          <p:cNvSpPr>
            <a:spLocks noGrp="1"/>
          </p:cNvSpPr>
          <p:nvPr>
            <p:ph type="body" idx="1"/>
          </p:nvPr>
        </p:nvSpPr>
        <p:spPr>
          <a:xfrm>
            <a:off x="304800" y="2468880"/>
            <a:ext cx="8458200" cy="4389120"/>
          </a:xfrm>
        </p:spPr>
        <p:txBody>
          <a:bodyPr>
            <a:normAutofit lnSpcReduction="10000"/>
          </a:bodyPr>
          <a:lstStyle/>
          <a:p>
            <a:r>
              <a:rPr lang="en-US" dirty="0"/>
              <a:t>AI-powered testing frameworks can detect and fix defects automatically, reducing the need for manual intervention. These frameworks can analyze the testing data and identify defects that need to be fixed. They can then apply the necessary fixes automatically, ensuring that the application is functioning correctly. </a:t>
            </a:r>
          </a:p>
          <a:p>
            <a:r>
              <a:rPr lang="en-US" dirty="0"/>
              <a:t>For example, some tools have the option to automatically update XPaths or other locators for web applications. Popular AI-based software testing tools that use self-healing capabilities include </a:t>
            </a:r>
            <a:r>
              <a:rPr lang="en-US" dirty="0" err="1"/>
              <a:t>Testim</a:t>
            </a:r>
            <a:r>
              <a:rPr lang="en-US" dirty="0"/>
              <a:t> and </a:t>
            </a:r>
            <a:r>
              <a:rPr lang="en-US" dirty="0" err="1"/>
              <a:t>Healenium</a:t>
            </a:r>
            <a:r>
              <a:rPr lang="en-US" dirty="0"/>
              <a:t>.</a:t>
            </a:r>
          </a:p>
          <a:p>
            <a:endParaRPr lang="en-US" dirty="0"/>
          </a:p>
        </p:txBody>
      </p:sp>
    </p:spTree>
    <p:extLst>
      <p:ext uri="{BB962C8B-B14F-4D97-AF65-F5344CB8AC3E}">
        <p14:creationId xmlns:p14="http://schemas.microsoft.com/office/powerpoint/2010/main" val="36093959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8229600" cy="1143000"/>
          </a:xfrm>
        </p:spPr>
        <p:txBody>
          <a:bodyPr>
            <a:normAutofit fontScale="90000"/>
          </a:bodyPr>
          <a:lstStyle/>
          <a:p>
            <a:r>
              <a:rPr lang="en-US" b="1" dirty="0"/>
              <a:t>Difficulty of Debugging</a:t>
            </a:r>
            <a:br>
              <a:rPr lang="en-US" b="1" dirty="0"/>
            </a:br>
            <a:endParaRPr lang="en-US" dirty="0"/>
          </a:p>
        </p:txBody>
      </p:sp>
      <p:sp>
        <p:nvSpPr>
          <p:cNvPr id="3" name="Text Placeholder 2"/>
          <p:cNvSpPr>
            <a:spLocks noGrp="1"/>
          </p:cNvSpPr>
          <p:nvPr>
            <p:ph type="body" idx="1"/>
          </p:nvPr>
        </p:nvSpPr>
        <p:spPr>
          <a:xfrm>
            <a:off x="381000" y="2057400"/>
            <a:ext cx="8382000" cy="4389120"/>
          </a:xfrm>
        </p:spPr>
        <p:txBody>
          <a:bodyPr>
            <a:normAutofit lnSpcReduction="10000"/>
          </a:bodyPr>
          <a:lstStyle/>
          <a:p>
            <a:r>
              <a:rPr lang="en-US" dirty="0" smtClean="0"/>
              <a:t>The </a:t>
            </a:r>
            <a:r>
              <a:rPr lang="en-US" dirty="0"/>
              <a:t>complexity of debugging is an additional challenge that comes from AI in software testing. Testing software with AI capabilities can provide a lot of data, which can be challenging to understand and comprehend. Additionally, it may be difficult to pinpoint the primary cause of errors and problems due to the complexity of AI algorithms. Software testers may find it challenging to effectively resolve bugs and flaws as a result. Businesses must make an investment in the systems and procedures that will enable them to efficiently examine and interpret the test results produced by AI-powered testing solutions.</a:t>
            </a:r>
          </a:p>
          <a:p>
            <a:endParaRPr lang="en-US" dirty="0"/>
          </a:p>
        </p:txBody>
      </p:sp>
    </p:spTree>
    <p:extLst>
      <p:ext uri="{BB962C8B-B14F-4D97-AF65-F5344CB8AC3E}">
        <p14:creationId xmlns:p14="http://schemas.microsoft.com/office/powerpoint/2010/main" val="84589340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2050" name="Picture 2" descr="Graphic of AI Robot holding a wrench while fixing a mach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39"/>
            <a:ext cx="9144000" cy="6859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8997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4068"/>
            <a:ext cx="8229600" cy="1143000"/>
          </a:xfrm>
        </p:spPr>
        <p:txBody>
          <a:bodyPr>
            <a:normAutofit/>
          </a:bodyPr>
          <a:lstStyle/>
          <a:p>
            <a:r>
              <a:rPr lang="en-US" dirty="0"/>
              <a:t>Research AI Tools</a:t>
            </a:r>
          </a:p>
        </p:txBody>
      </p:sp>
      <p:sp>
        <p:nvSpPr>
          <p:cNvPr id="3" name="Text Placeholder 2"/>
          <p:cNvSpPr>
            <a:spLocks noGrp="1"/>
          </p:cNvSpPr>
          <p:nvPr>
            <p:ph type="body" idx="1"/>
          </p:nvPr>
        </p:nvSpPr>
        <p:spPr>
          <a:xfrm>
            <a:off x="152400" y="1676400"/>
            <a:ext cx="8229600" cy="2971800"/>
          </a:xfrm>
        </p:spPr>
        <p:txBody>
          <a:bodyPr/>
          <a:lstStyle/>
          <a:p>
            <a:r>
              <a:rPr lang="en-US" dirty="0"/>
              <a:t>Research the available AI tools and choose the ones that are best suited to your needs before integrating AI technology in software testing. There are numerous testing tools powered by AI, and each has advantages and disadvantages. Selenium, </a:t>
            </a:r>
            <a:r>
              <a:rPr lang="en-US" dirty="0" err="1"/>
              <a:t>Testim</a:t>
            </a:r>
            <a:r>
              <a:rPr lang="en-US" dirty="0"/>
              <a:t>, </a:t>
            </a:r>
            <a:r>
              <a:rPr lang="en-US" dirty="0" err="1"/>
              <a:t>Katalon</a:t>
            </a:r>
            <a:r>
              <a:rPr lang="en-US" dirty="0"/>
              <a:t> Studio, and </a:t>
            </a:r>
            <a:r>
              <a:rPr lang="en-US" dirty="0" err="1"/>
              <a:t>Applitools</a:t>
            </a:r>
            <a:r>
              <a:rPr lang="en-US" dirty="0"/>
              <a:t> are some of the most well-known AI-powered testing tools.</a:t>
            </a:r>
          </a:p>
        </p:txBody>
      </p:sp>
      <p:pic>
        <p:nvPicPr>
          <p:cNvPr id="4106" name="Picture 10" descr="Giới thiệu về Selenium | Anh Tes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650638"/>
            <a:ext cx="3886200" cy="2207362"/>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Introduction To Katalon Studio - Knoldus Blog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5486399"/>
            <a:ext cx="5143500" cy="1371601"/>
          </a:xfrm>
          <a:prstGeom prst="rect">
            <a:avLst/>
          </a:prstGeom>
          <a:noFill/>
          <a:extLst>
            <a:ext uri="{909E8E84-426E-40DD-AFC4-6F175D3DCCD1}">
              <a14:hiddenFill xmlns:a14="http://schemas.microsoft.com/office/drawing/2010/main">
                <a:solidFill>
                  <a:srgbClr val="FFFFFF"/>
                </a:solidFill>
              </a14:hiddenFill>
            </a:ext>
          </a:extLst>
        </p:spPr>
      </p:pic>
      <p:pic>
        <p:nvPicPr>
          <p:cNvPr id="4112" name="Picture 16" descr="Applitools Acquires Preflight to Help Bring Its AI Powered Testing Platform  to Teams of All Skill Se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086485"/>
            <a:ext cx="5257800" cy="1405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96356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143000"/>
          </a:xfrm>
        </p:spPr>
        <p:txBody>
          <a:bodyPr/>
          <a:lstStyle/>
          <a:p>
            <a:r>
              <a:rPr lang="en-US" dirty="0"/>
              <a:t>Selenium</a:t>
            </a:r>
          </a:p>
        </p:txBody>
      </p:sp>
      <p:sp>
        <p:nvSpPr>
          <p:cNvPr id="3" name="Text Placeholder 2"/>
          <p:cNvSpPr>
            <a:spLocks noGrp="1"/>
          </p:cNvSpPr>
          <p:nvPr>
            <p:ph type="body" idx="1"/>
          </p:nvPr>
        </p:nvSpPr>
        <p:spPr>
          <a:xfrm>
            <a:off x="381000" y="2057400"/>
            <a:ext cx="8229600" cy="4389120"/>
          </a:xfrm>
        </p:spPr>
        <p:txBody>
          <a:bodyPr/>
          <a:lstStyle/>
          <a:p>
            <a:r>
              <a:rPr lang="en-US" dirty="0"/>
              <a:t>Selenium is an open-source automated testing tool used for web applications. It provides a framework for writing and executing tests in different programming languages such as Java, C#, Python, etc. Selenium supports various operating systems and web browsers and allows testers to automate web-based tasks like clicking buttons, filling forms, navigating pages, and validating data. It is widely used in the field of software testing for regression testing, functional testing, and cross-browser testing.</a:t>
            </a:r>
          </a:p>
        </p:txBody>
      </p:sp>
    </p:spTree>
    <p:extLst>
      <p:ext uri="{BB962C8B-B14F-4D97-AF65-F5344CB8AC3E}">
        <p14:creationId xmlns:p14="http://schemas.microsoft.com/office/powerpoint/2010/main" val="20028664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3999" cy="6858000"/>
          </a:xfrm>
          <a:prstGeom prst="rect">
            <a:avLst/>
          </a:prstGeom>
        </p:spPr>
      </p:pic>
    </p:spTree>
    <p:extLst>
      <p:ext uri="{BB962C8B-B14F-4D97-AF65-F5344CB8AC3E}">
        <p14:creationId xmlns:p14="http://schemas.microsoft.com/office/powerpoint/2010/main" val="30704654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lstStyle/>
          <a:p>
            <a:r>
              <a:rPr lang="en-US" dirty="0" err="1"/>
              <a:t>Testim</a:t>
            </a:r>
            <a:endParaRPr lang="en-US" dirty="0"/>
          </a:p>
        </p:txBody>
      </p:sp>
      <p:sp>
        <p:nvSpPr>
          <p:cNvPr id="3" name="Text Placeholder 2"/>
          <p:cNvSpPr>
            <a:spLocks noGrp="1"/>
          </p:cNvSpPr>
          <p:nvPr>
            <p:ph type="body" idx="1"/>
          </p:nvPr>
        </p:nvSpPr>
        <p:spPr/>
        <p:txBody>
          <a:bodyPr>
            <a:normAutofit lnSpcReduction="10000"/>
          </a:bodyPr>
          <a:lstStyle/>
          <a:p>
            <a:r>
              <a:rPr lang="en-US" dirty="0" err="1"/>
              <a:t>Testim</a:t>
            </a:r>
            <a:r>
              <a:rPr lang="en-US" dirty="0"/>
              <a:t> is an automated testing tool that helps software development teams accelerate the process of testing web applications. It uses machine learning algorithms to create and maintain tests, allowing teams to create reliable and efficient automation tests without the need for extensive coding skills. With </a:t>
            </a:r>
            <a:r>
              <a:rPr lang="en-US" dirty="0" err="1"/>
              <a:t>Testim</a:t>
            </a:r>
            <a:r>
              <a:rPr lang="en-US" dirty="0"/>
              <a:t>, users can easily record, edit, and run tests, as well as analyze test results and reports. It supports popular web technologies and frameworks, such as Angular, React, and Selenium, and can integrate with various development tools and platforms.</a:t>
            </a:r>
          </a:p>
        </p:txBody>
      </p:sp>
    </p:spTree>
    <p:extLst>
      <p:ext uri="{BB962C8B-B14F-4D97-AF65-F5344CB8AC3E}">
        <p14:creationId xmlns:p14="http://schemas.microsoft.com/office/powerpoint/2010/main" val="16523689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0"/>
            <a:ext cx="9220200" cy="6934200"/>
          </a:xfrm>
          <a:prstGeom prst="rect">
            <a:avLst/>
          </a:prstGeom>
        </p:spPr>
      </p:pic>
    </p:spTree>
    <p:extLst>
      <p:ext uri="{BB962C8B-B14F-4D97-AF65-F5344CB8AC3E}">
        <p14:creationId xmlns:p14="http://schemas.microsoft.com/office/powerpoint/2010/main" val="205605293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dirty="0" err="1"/>
              <a:t>Katalon</a:t>
            </a:r>
            <a:r>
              <a:rPr lang="en-US" dirty="0"/>
              <a:t> Studio</a:t>
            </a:r>
          </a:p>
        </p:txBody>
      </p:sp>
      <p:sp>
        <p:nvSpPr>
          <p:cNvPr id="3" name="Text Placeholder 2"/>
          <p:cNvSpPr>
            <a:spLocks noGrp="1"/>
          </p:cNvSpPr>
          <p:nvPr>
            <p:ph type="body" idx="1"/>
          </p:nvPr>
        </p:nvSpPr>
        <p:spPr>
          <a:xfrm>
            <a:off x="454479" y="1752600"/>
            <a:ext cx="8229600" cy="4389120"/>
          </a:xfrm>
        </p:spPr>
        <p:txBody>
          <a:bodyPr>
            <a:normAutofit fontScale="92500" lnSpcReduction="20000"/>
          </a:bodyPr>
          <a:lstStyle/>
          <a:p>
            <a:r>
              <a:rPr lang="en-US" dirty="0" err="1"/>
              <a:t>Katalon</a:t>
            </a:r>
            <a:r>
              <a:rPr lang="en-US" dirty="0"/>
              <a:t> Studio is a test automation tool developed by </a:t>
            </a:r>
            <a:r>
              <a:rPr lang="en-US" dirty="0" err="1"/>
              <a:t>Katalon</a:t>
            </a:r>
            <a:r>
              <a:rPr lang="en-US" dirty="0"/>
              <a:t> LLC. It is an all-in-one solution for web, mobile, API, and desktop testing. </a:t>
            </a:r>
            <a:r>
              <a:rPr lang="en-US" dirty="0" err="1"/>
              <a:t>Katalon</a:t>
            </a:r>
            <a:r>
              <a:rPr lang="en-US" dirty="0"/>
              <a:t> Studio is built on top of the open-source automation frameworks Selenium and </a:t>
            </a:r>
            <a:r>
              <a:rPr lang="en-US" dirty="0" err="1"/>
              <a:t>Appium</a:t>
            </a:r>
            <a:r>
              <a:rPr lang="en-US" dirty="0"/>
              <a:t>, and it provides a comprehensive set of features that aid in test creation, execution, and management.</a:t>
            </a:r>
          </a:p>
          <a:p>
            <a:endParaRPr lang="en-US" dirty="0"/>
          </a:p>
          <a:p>
            <a:r>
              <a:rPr lang="en-US" dirty="0"/>
              <a:t>With </a:t>
            </a:r>
            <a:r>
              <a:rPr lang="en-US" dirty="0" err="1"/>
              <a:t>Katalon</a:t>
            </a:r>
            <a:r>
              <a:rPr lang="en-US" dirty="0"/>
              <a:t> Studio, users can create test cases using a drag-and-drop interface or coding in languages such as Groovy and Java. It supports multiple scripting languages, including Selenium WebDriver, keyword-driven, and data-driven testing approaches. Users can also integrate it with popular CI/CD tools such as Jenkins and Bamboo to facilitate continuous testing.</a:t>
            </a:r>
          </a:p>
        </p:txBody>
      </p:sp>
    </p:spTree>
    <p:extLst>
      <p:ext uri="{BB962C8B-B14F-4D97-AF65-F5344CB8AC3E}">
        <p14:creationId xmlns:p14="http://schemas.microsoft.com/office/powerpoint/2010/main" val="33335582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301625" y="5957108"/>
            <a:ext cx="4959961" cy="2674796"/>
          </a:xfrm>
        </p:spPr>
        <p:txBody>
          <a:bodyPr/>
          <a:lstStyle/>
          <a:p>
            <a:endParaRPr lang="en-US" dirty="0"/>
          </a:p>
        </p:txBody>
      </p:sp>
      <p:pic>
        <p:nvPicPr>
          <p:cNvPr id="1026" name="Picture 2" descr="Katalon AI-augmented Software Quality Management Platfor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5146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871" y="21771"/>
            <a:ext cx="8229600" cy="1143000"/>
          </a:xfrm>
        </p:spPr>
        <p:txBody>
          <a:bodyPr/>
          <a:lstStyle/>
          <a:p>
            <a:r>
              <a:rPr lang="en-US" dirty="0" err="1"/>
              <a:t>Applitools</a:t>
            </a:r>
            <a:endParaRPr lang="en-US" dirty="0"/>
          </a:p>
        </p:txBody>
      </p:sp>
      <p:sp>
        <p:nvSpPr>
          <p:cNvPr id="3" name="Text Placeholder 2"/>
          <p:cNvSpPr>
            <a:spLocks noGrp="1"/>
          </p:cNvSpPr>
          <p:nvPr>
            <p:ph type="body" idx="1"/>
          </p:nvPr>
        </p:nvSpPr>
        <p:spPr>
          <a:xfrm>
            <a:off x="440871" y="1066800"/>
            <a:ext cx="8229600" cy="4389120"/>
          </a:xfrm>
        </p:spPr>
        <p:txBody>
          <a:bodyPr>
            <a:normAutofit lnSpcReduction="10000"/>
          </a:bodyPr>
          <a:lstStyle/>
          <a:p>
            <a:r>
              <a:rPr lang="en-US" dirty="0" err="1"/>
              <a:t>Applitools</a:t>
            </a:r>
            <a:r>
              <a:rPr lang="en-US" dirty="0"/>
              <a:t> is a software testing and monitoring tool that specializes in visual testing. It uses AI-powered algorithms to compare and analyze visual elements of web and mobile applications across different browsers, devices, and operating systems. </a:t>
            </a:r>
            <a:r>
              <a:rPr lang="en-US" dirty="0" err="1"/>
              <a:t>Applitools</a:t>
            </a:r>
            <a:r>
              <a:rPr lang="en-US" dirty="0"/>
              <a:t> allows developers and QA teams to identify visual bugs, inconsistencies, and layout issues quickly, ensuring that applications look and function correctly. It offers features such as automated visual testing, visual AI analytics, cross-browser and cross-device testing, and integrations with popular testing frameworks.</a:t>
            </a:r>
          </a:p>
        </p:txBody>
      </p:sp>
      <p:pic>
        <p:nvPicPr>
          <p:cNvPr id="3074" name="Picture 2" descr="Visual Testing for Websites and Web Applications - Applitool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4572000"/>
            <a:ext cx="2971800" cy="2345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04089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1216024" y="8278744"/>
            <a:ext cx="5064369" cy="744484"/>
          </a:xfrm>
        </p:spPr>
        <p:txBody>
          <a:bodyPr/>
          <a:lstStyle/>
          <a:p>
            <a:endParaRPr lang="en-US" dirty="0"/>
          </a:p>
        </p:txBody>
      </p:sp>
      <p:pic>
        <p:nvPicPr>
          <p:cNvPr id="2050" name="Picture 2" descr="Visual Testing for Websites and Web Applications - Applitool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981200"/>
            <a:ext cx="5867400" cy="4630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4939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70689"/>
            <a:ext cx="8229600" cy="1143000"/>
          </a:xfrm>
        </p:spPr>
        <p:txBody>
          <a:bodyPr>
            <a:normAutofit fontScale="90000"/>
          </a:bodyPr>
          <a:lstStyle/>
          <a:p>
            <a:r>
              <a:rPr lang="en-US" b="1" dirty="0"/>
              <a:t>Improved user interface (UI) design and testing</a:t>
            </a:r>
            <a:br>
              <a:rPr lang="en-US" b="1" dirty="0"/>
            </a:br>
            <a:endParaRPr lang="en-US" dirty="0"/>
          </a:p>
        </p:txBody>
      </p:sp>
      <p:sp>
        <p:nvSpPr>
          <p:cNvPr id="3" name="Text Placeholder 2"/>
          <p:cNvSpPr>
            <a:spLocks noGrp="1"/>
          </p:cNvSpPr>
          <p:nvPr>
            <p:ph type="body" idx="1"/>
          </p:nvPr>
        </p:nvSpPr>
        <p:spPr>
          <a:xfrm>
            <a:off x="304800" y="2413689"/>
            <a:ext cx="8229600" cy="4389120"/>
          </a:xfrm>
        </p:spPr>
        <p:txBody>
          <a:bodyPr>
            <a:normAutofit fontScale="70000" lnSpcReduction="20000"/>
          </a:bodyPr>
          <a:lstStyle/>
          <a:p>
            <a:r>
              <a:rPr lang="en-US" dirty="0"/>
              <a:t>Nothing beats a seamless user experience. AI can help software developers create stunning UIs by using natural language processing (NLP) to generate UI designs based on customer needs. </a:t>
            </a:r>
          </a:p>
          <a:p>
            <a:endParaRPr lang="en-US" dirty="0"/>
          </a:p>
          <a:p>
            <a:r>
              <a:rPr lang="en-US" dirty="0"/>
              <a:t>This helps developers quickly create interfaces that are tailored to a specific user group, making the experience more intuitive and enjoyable.</a:t>
            </a:r>
          </a:p>
          <a:p>
            <a:endParaRPr lang="en-US" dirty="0"/>
          </a:p>
          <a:p>
            <a:r>
              <a:rPr lang="en-US" dirty="0"/>
              <a:t>AI development within UI and UX can also help automate the testing process by running simulations of user interactions on different platforms. This helps developers gain insights into how users interact with the software, enabling them to quickly diagnose errors and make necessary changes.</a:t>
            </a:r>
          </a:p>
          <a:p>
            <a:endParaRPr lang="en-US" dirty="0"/>
          </a:p>
          <a:p>
            <a:r>
              <a:rPr lang="en-US" dirty="0"/>
              <a:t>By leveraging AI-driven UI and UX development, businesses can create better user experiences for their customers that are tailored to their needs - and build upon learning data that can be used to improve their products in the future.</a:t>
            </a:r>
          </a:p>
        </p:txBody>
      </p:sp>
    </p:spTree>
    <p:extLst>
      <p:ext uri="{BB962C8B-B14F-4D97-AF65-F5344CB8AC3E}">
        <p14:creationId xmlns:p14="http://schemas.microsoft.com/office/powerpoint/2010/main" val="16896580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9340808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AI-Driven Software Project Management:</a:t>
            </a:r>
          </a:p>
        </p:txBody>
      </p:sp>
      <p:sp>
        <p:nvSpPr>
          <p:cNvPr id="3" name="Text Placeholder 2"/>
          <p:cNvSpPr>
            <a:spLocks noGrp="1"/>
          </p:cNvSpPr>
          <p:nvPr>
            <p:ph type="body" idx="1"/>
          </p:nvPr>
        </p:nvSpPr>
        <p:spPr/>
        <p:txBody>
          <a:bodyPr/>
          <a:lstStyle/>
          <a:p>
            <a:r>
              <a:rPr lang="en-US" dirty="0"/>
              <a:t>One of the key areas where AI can enhance project planning is in predicting project timelines and milestones. By analyzing historical data from previous projects, AI algorithms can identify patterns and predict potential bottlenecks or delays. This information can help project managers set realistic deadlines, allocate appropriate resources, and devise contingency plans to mitigate risks.</a:t>
            </a:r>
          </a:p>
        </p:txBody>
      </p:sp>
    </p:spTree>
    <p:extLst>
      <p:ext uri="{BB962C8B-B14F-4D97-AF65-F5344CB8AC3E}">
        <p14:creationId xmlns:p14="http://schemas.microsoft.com/office/powerpoint/2010/main" val="113857295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AI-Driven Software Project Management:</a:t>
            </a:r>
          </a:p>
        </p:txBody>
      </p:sp>
      <p:sp>
        <p:nvSpPr>
          <p:cNvPr id="3" name="Text Placeholder 2"/>
          <p:cNvSpPr>
            <a:spLocks noGrp="1"/>
          </p:cNvSpPr>
          <p:nvPr>
            <p:ph type="body" idx="1"/>
          </p:nvPr>
        </p:nvSpPr>
        <p:spPr/>
        <p:txBody>
          <a:bodyPr/>
          <a:lstStyle/>
          <a:p>
            <a:r>
              <a:rPr lang="en-US" dirty="0"/>
              <a:t>AI can improve resource allocation in software development projects. With the ability to analyze project requirements and match them with the skills and availability of team members, AI systems can suggest the most suitable individuals for specific tasks. By optimizing resource allocation, project managers can ensure that projects are completed efficiently while considering individual strengths and workload balance.</a:t>
            </a:r>
          </a:p>
        </p:txBody>
      </p:sp>
    </p:spTree>
    <p:extLst>
      <p:ext uri="{BB962C8B-B14F-4D97-AF65-F5344CB8AC3E}">
        <p14:creationId xmlns:p14="http://schemas.microsoft.com/office/powerpoint/2010/main" val="314898276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AI-Driven Software Project Management:</a:t>
            </a:r>
          </a:p>
        </p:txBody>
      </p:sp>
      <p:sp>
        <p:nvSpPr>
          <p:cNvPr id="3" name="Text Placeholder 2"/>
          <p:cNvSpPr>
            <a:spLocks noGrp="1"/>
          </p:cNvSpPr>
          <p:nvPr>
            <p:ph type="body" idx="1"/>
          </p:nvPr>
        </p:nvSpPr>
        <p:spPr/>
        <p:txBody>
          <a:bodyPr/>
          <a:lstStyle/>
          <a:p>
            <a:r>
              <a:rPr lang="en-US" dirty="0"/>
              <a:t>Risk management is another critical aspect of software project management. AI can assist in identifying potential risks by analyzing data from various sources, including project documentation, task completion rates, and team performance. By flagging potential risks in real-time, AI-driven systems can provide project managers with the information needed to make proactive decisions, such as adjusting project plans, reallocating resources, or implementing preventive measures.</a:t>
            </a:r>
          </a:p>
        </p:txBody>
      </p:sp>
    </p:spTree>
    <p:extLst>
      <p:ext uri="{BB962C8B-B14F-4D97-AF65-F5344CB8AC3E}">
        <p14:creationId xmlns:p14="http://schemas.microsoft.com/office/powerpoint/2010/main" val="32146756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828800"/>
            <a:ext cx="8686800" cy="1143000"/>
          </a:xfrm>
        </p:spPr>
        <p:txBody>
          <a:bodyPr>
            <a:normAutofit fontScale="90000"/>
          </a:bodyPr>
          <a:lstStyle/>
          <a:p>
            <a:r>
              <a:rPr lang="en-US" b="1" dirty="0"/>
              <a:t>How AI is Improving Communication and Collaboration in Project Management</a:t>
            </a:r>
            <a:endParaRPr lang="en-US" dirty="0"/>
          </a:p>
        </p:txBody>
      </p:sp>
      <p:sp>
        <p:nvSpPr>
          <p:cNvPr id="3" name="Text Placeholder 2"/>
          <p:cNvSpPr>
            <a:spLocks noGrp="1"/>
          </p:cNvSpPr>
          <p:nvPr>
            <p:ph type="body" idx="1"/>
          </p:nvPr>
        </p:nvSpPr>
        <p:spPr>
          <a:xfrm>
            <a:off x="76200" y="3657600"/>
            <a:ext cx="8229600" cy="4389120"/>
          </a:xfrm>
        </p:spPr>
        <p:txBody>
          <a:bodyPr/>
          <a:lstStyle/>
          <a:p>
            <a:r>
              <a:rPr lang="en-US" dirty="0"/>
              <a:t>Efficient communication and collaboration are the pillars of successful project management. AI is playing a pivotal role in revolutionizing how project stakeholders interact and work together.</a:t>
            </a:r>
          </a:p>
        </p:txBody>
      </p:sp>
    </p:spTree>
    <p:extLst>
      <p:ext uri="{BB962C8B-B14F-4D97-AF65-F5344CB8AC3E}">
        <p14:creationId xmlns:p14="http://schemas.microsoft.com/office/powerpoint/2010/main" val="37443773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enhances communication by:</a:t>
            </a:r>
          </a:p>
        </p:txBody>
      </p:sp>
      <p:sp>
        <p:nvSpPr>
          <p:cNvPr id="3" name="Text Placeholder 2"/>
          <p:cNvSpPr>
            <a:spLocks noGrp="1"/>
          </p:cNvSpPr>
          <p:nvPr>
            <p:ph type="body" idx="1"/>
          </p:nvPr>
        </p:nvSpPr>
        <p:spPr/>
        <p:txBody>
          <a:bodyPr/>
          <a:lstStyle/>
          <a:p>
            <a:pPr fontAlgn="auto"/>
            <a:r>
              <a:rPr lang="en-US" b="1" dirty="0"/>
              <a:t>Natural Language Processing (NLP):</a:t>
            </a:r>
            <a:r>
              <a:rPr lang="en-US" dirty="0"/>
              <a:t> AI-powered </a:t>
            </a:r>
            <a:r>
              <a:rPr lang="en-US" dirty="0" err="1"/>
              <a:t>chatbots</a:t>
            </a:r>
            <a:r>
              <a:rPr lang="en-US" dirty="0"/>
              <a:t> and virtual assistants facilitate seamless communication through conversational interfaces.</a:t>
            </a:r>
          </a:p>
          <a:p>
            <a:pPr fontAlgn="auto"/>
            <a:r>
              <a:rPr lang="en-US" b="1" dirty="0"/>
              <a:t>Language Translation:</a:t>
            </a:r>
            <a:r>
              <a:rPr lang="en-US" dirty="0"/>
              <a:t> AI can translate communication into various languages, enabling global teams to collaborate effortlessly.</a:t>
            </a:r>
          </a:p>
          <a:p>
            <a:pPr fontAlgn="auto"/>
            <a:r>
              <a:rPr lang="en-US" b="1" dirty="0"/>
              <a:t>Sentiment Analysis:</a:t>
            </a:r>
            <a:r>
              <a:rPr lang="en-US" dirty="0"/>
              <a:t> AI tools analyze sentiment in communications, helping project managers gauge team dynamics and identify potential conflicts.</a:t>
            </a:r>
          </a:p>
          <a:p>
            <a:endParaRPr lang="en-US" dirty="0"/>
          </a:p>
        </p:txBody>
      </p:sp>
    </p:spTree>
    <p:extLst>
      <p:ext uri="{BB962C8B-B14F-4D97-AF65-F5344CB8AC3E}">
        <p14:creationId xmlns:p14="http://schemas.microsoft.com/office/powerpoint/2010/main" val="316110804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AI-Enabled Predictive Analytics:</a:t>
            </a:r>
          </a:p>
        </p:txBody>
      </p:sp>
      <p:sp>
        <p:nvSpPr>
          <p:cNvPr id="3" name="Text Placeholder 2"/>
          <p:cNvSpPr>
            <a:spLocks noGrp="1"/>
          </p:cNvSpPr>
          <p:nvPr>
            <p:ph type="body" idx="1"/>
          </p:nvPr>
        </p:nvSpPr>
        <p:spPr/>
        <p:txBody>
          <a:bodyPr/>
          <a:lstStyle/>
          <a:p>
            <a:r>
              <a:rPr lang="en-US" dirty="0"/>
              <a:t>In the ever-evolving realm of software development, AI algorithms have emerged as powerful tools to enhance productivity and streamline processes. One of the most impactful applications of AI in this domain is predictive analytics. By leveraging historical data and utilizing advanced algorithms, AI-enabled predictive analytics offer significant advantages in predicting software defects, code quality, and project timelines.</a:t>
            </a:r>
          </a:p>
        </p:txBody>
      </p:sp>
    </p:spTree>
    <p:extLst>
      <p:ext uri="{BB962C8B-B14F-4D97-AF65-F5344CB8AC3E}">
        <p14:creationId xmlns:p14="http://schemas.microsoft.com/office/powerpoint/2010/main" val="128009290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lstStyle/>
          <a:p>
            <a:r>
              <a:rPr lang="en-US" dirty="0"/>
              <a:t>AI-Enabled Predictive Analytics:</a:t>
            </a:r>
          </a:p>
        </p:txBody>
      </p:sp>
      <p:sp>
        <p:nvSpPr>
          <p:cNvPr id="3" name="Text Placeholder 2"/>
          <p:cNvSpPr>
            <a:spLocks noGrp="1"/>
          </p:cNvSpPr>
          <p:nvPr>
            <p:ph type="body" idx="1"/>
          </p:nvPr>
        </p:nvSpPr>
        <p:spPr>
          <a:xfrm>
            <a:off x="152400" y="1905000"/>
            <a:ext cx="8915400" cy="5334000"/>
          </a:xfrm>
        </p:spPr>
        <p:txBody>
          <a:bodyPr>
            <a:normAutofit fontScale="70000" lnSpcReduction="20000"/>
          </a:bodyPr>
          <a:lstStyle/>
          <a:p>
            <a:pPr marL="0" indent="0">
              <a:buNone/>
            </a:pPr>
            <a:r>
              <a:rPr lang="en-US" b="1" dirty="0"/>
              <a:t>Here’s How AI-enabled Analytics Services are Impacting Several Industries </a:t>
            </a:r>
            <a:r>
              <a:rPr lang="en-US" b="1" dirty="0" smtClean="0"/>
              <a:t>:</a:t>
            </a:r>
          </a:p>
          <a:p>
            <a:pPr marL="0" indent="0">
              <a:buNone/>
            </a:pPr>
            <a:endParaRPr lang="en-US" b="1" dirty="0" smtClean="0"/>
          </a:p>
          <a:p>
            <a:r>
              <a:rPr lang="en-US" b="1" dirty="0" smtClean="0"/>
              <a:t>Predictive </a:t>
            </a:r>
            <a:r>
              <a:rPr lang="en-US" b="1" dirty="0"/>
              <a:t>Analytics Solutions:</a:t>
            </a:r>
            <a:r>
              <a:rPr lang="en-US" dirty="0"/>
              <a:t> AI algorithms can analyze data and identify patterns that are not easily visible to humans. This enables telecom companies to predict customer behavior and make proactive decisions based on that data. </a:t>
            </a:r>
          </a:p>
          <a:p>
            <a:r>
              <a:rPr lang="en-US" b="1" dirty="0"/>
              <a:t>Network Optimization: </a:t>
            </a:r>
            <a:r>
              <a:rPr lang="en-US" dirty="0"/>
              <a:t>AI algorithms can analyze network performance data and identify areas for improvement. This can help telecom companies optimize their network performance, ensuring that customers receive high-quality service and experience minimal downtime. </a:t>
            </a:r>
          </a:p>
          <a:p>
            <a:r>
              <a:rPr lang="en-US" b="1" dirty="0"/>
              <a:t>Automated Data Collection:</a:t>
            </a:r>
            <a:r>
              <a:rPr lang="en-US" dirty="0"/>
              <a:t> AI can automatically collect and process vast amounts of data from several sources, reducing the manual effort required for data collection. This enables telecom companies to have access to more accurate data, making it easier for them to make informed decisions through </a:t>
            </a:r>
            <a:r>
              <a:rPr lang="en-US" b="1" dirty="0"/>
              <a:t>big data engineering services</a:t>
            </a:r>
            <a:r>
              <a:rPr lang="en-US" dirty="0"/>
              <a:t>. </a:t>
            </a:r>
          </a:p>
          <a:p>
            <a:r>
              <a:rPr lang="en-US" b="1" dirty="0"/>
              <a:t>Customer Segmentation:</a:t>
            </a:r>
            <a:r>
              <a:rPr lang="en-US" dirty="0"/>
              <a:t> AI can help telecom companies to segment their customer base based on various criteria such as demographics, usage patterns, and purchase history. This allows for targeted marketing campaigns, which can result in increased customer engagement and sales. </a:t>
            </a:r>
          </a:p>
          <a:p>
            <a:r>
              <a:rPr lang="en-US" b="1" dirty="0"/>
              <a:t>Fraud Detection: </a:t>
            </a:r>
            <a:r>
              <a:rPr lang="en-US" dirty="0"/>
              <a:t>AI can detect and prevent fraudulent activities, such as unauthorized access to sensitive information and billing fraud. This helps to protect telecom companies and their customers, reducing the risk of financial losses. </a:t>
            </a:r>
          </a:p>
        </p:txBody>
      </p:sp>
    </p:spTree>
    <p:extLst>
      <p:ext uri="{BB962C8B-B14F-4D97-AF65-F5344CB8AC3E}">
        <p14:creationId xmlns:p14="http://schemas.microsoft.com/office/powerpoint/2010/main" val="11483529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AI-Enabled Predictive Analytics:</a:t>
            </a:r>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2057399"/>
            <a:ext cx="8991600" cy="4800601"/>
          </a:xfrm>
          <a:prstGeom prst="rect">
            <a:avLst/>
          </a:prstGeom>
        </p:spPr>
      </p:pic>
    </p:spTree>
    <p:extLst>
      <p:ext uri="{BB962C8B-B14F-4D97-AF65-F5344CB8AC3E}">
        <p14:creationId xmlns:p14="http://schemas.microsoft.com/office/powerpoint/2010/main" val="192269003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AI-Enabled Predictive Analytics:</a:t>
            </a:r>
          </a:p>
        </p:txBody>
      </p:sp>
      <p:sp>
        <p:nvSpPr>
          <p:cNvPr id="3" name="Text Placeholder 2"/>
          <p:cNvSpPr>
            <a:spLocks noGrp="1"/>
          </p:cNvSpPr>
          <p:nvPr>
            <p:ph type="body" idx="1"/>
          </p:nvPr>
        </p:nvSpPr>
        <p:spPr>
          <a:xfrm>
            <a:off x="304800" y="2209800"/>
            <a:ext cx="8229600" cy="4389120"/>
          </a:xfrm>
        </p:spPr>
        <p:txBody>
          <a:bodyPr>
            <a:normAutofit fontScale="70000" lnSpcReduction="20000"/>
          </a:bodyPr>
          <a:lstStyle/>
          <a:p>
            <a:pPr marL="0" indent="0">
              <a:buNone/>
            </a:pPr>
            <a:r>
              <a:rPr lang="en-US" b="1" dirty="0"/>
              <a:t>Effect of AI on Telecom Data Analytics </a:t>
            </a:r>
            <a:r>
              <a:rPr lang="en-US" b="1" dirty="0" smtClean="0"/>
              <a:t>:</a:t>
            </a:r>
            <a:endParaRPr lang="en-US" dirty="0"/>
          </a:p>
          <a:p>
            <a:pPr marL="0" indent="0">
              <a:buNone/>
            </a:pPr>
            <a:endParaRPr lang="en-US" b="1" dirty="0" smtClean="0"/>
          </a:p>
          <a:p>
            <a:r>
              <a:rPr lang="en-US" b="1" dirty="0" smtClean="0"/>
              <a:t>Customer </a:t>
            </a:r>
            <a:r>
              <a:rPr lang="en-US" b="1" dirty="0"/>
              <a:t>segmentation: </a:t>
            </a:r>
            <a:r>
              <a:rPr lang="en-US" dirty="0"/>
              <a:t>AI can play a major role in segmenting customers based on their behavior and demographics. This helps retailers in targeting their marketing efforts to specific customer groups facilitating improved conversion rates. </a:t>
            </a:r>
          </a:p>
          <a:p>
            <a:r>
              <a:rPr lang="en-US" b="1" dirty="0"/>
              <a:t>AI Personalization:</a:t>
            </a:r>
            <a:r>
              <a:rPr lang="en-US" dirty="0"/>
              <a:t> Leveraging artificial intelligence to personalize the shopping experiences for customers is a predominant move among leading retailers today. AI helps recommend products based on the customers’ browsing and purchase histories. </a:t>
            </a:r>
          </a:p>
          <a:p>
            <a:r>
              <a:rPr lang="en-US" b="1" dirty="0"/>
              <a:t>Predictive analytics:</a:t>
            </a:r>
            <a:r>
              <a:rPr lang="en-US" dirty="0"/>
              <a:t> Retailers are leveraging AI to analyze customer data and predict future sales, trends, and demand. This allows better inventory management, cost optimization, and enhanced customer experience. </a:t>
            </a:r>
          </a:p>
          <a:p>
            <a:r>
              <a:rPr lang="en-US" b="1" dirty="0"/>
              <a:t>Inventory management:</a:t>
            </a:r>
            <a:r>
              <a:rPr lang="en-US" dirty="0"/>
              <a:t> AI algorithms are being utilized to predict demand for products and thereby implement optimization of inventory levels. This is assisting retailers in evading stock outages and overstocking. </a:t>
            </a:r>
          </a:p>
          <a:p>
            <a:r>
              <a:rPr lang="en-US" b="1" dirty="0"/>
              <a:t>Fraud detection:</a:t>
            </a:r>
            <a:r>
              <a:rPr lang="en-US" dirty="0"/>
              <a:t> AI can be leveraged to detect fraudulent behavior in transactions, such as detecting patterns of suspicious activity. </a:t>
            </a:r>
          </a:p>
        </p:txBody>
      </p:sp>
    </p:spTree>
    <p:extLst>
      <p:ext uri="{BB962C8B-B14F-4D97-AF65-F5344CB8AC3E}">
        <p14:creationId xmlns:p14="http://schemas.microsoft.com/office/powerpoint/2010/main" val="162543595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AI-Enabled Predictive Analytics:</a:t>
            </a:r>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7088"/>
            <a:ext cx="9144000" cy="4840565"/>
          </a:xfrm>
          <a:prstGeom prst="rect">
            <a:avLst/>
          </a:prstGeom>
        </p:spPr>
      </p:pic>
    </p:spTree>
    <p:extLst>
      <p:ext uri="{BB962C8B-B14F-4D97-AF65-F5344CB8AC3E}">
        <p14:creationId xmlns:p14="http://schemas.microsoft.com/office/powerpoint/2010/main" val="753126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686800" cy="1143000"/>
          </a:xfrm>
        </p:spPr>
        <p:txBody>
          <a:bodyPr>
            <a:normAutofit fontScale="90000"/>
          </a:bodyPr>
          <a:lstStyle/>
          <a:p>
            <a:r>
              <a:rPr lang="en-US" dirty="0"/>
              <a:t>Ethical Considerations in AI-Augmented Software Development:</a:t>
            </a:r>
          </a:p>
        </p:txBody>
      </p:sp>
      <p:sp>
        <p:nvSpPr>
          <p:cNvPr id="3" name="Text Placeholder 2"/>
          <p:cNvSpPr>
            <a:spLocks noGrp="1"/>
          </p:cNvSpPr>
          <p:nvPr>
            <p:ph type="body" idx="1"/>
          </p:nvPr>
        </p:nvSpPr>
        <p:spPr>
          <a:xfrm>
            <a:off x="152400" y="2455273"/>
            <a:ext cx="8229600" cy="4389120"/>
          </a:xfrm>
        </p:spPr>
        <p:txBody>
          <a:bodyPr>
            <a:normAutofit fontScale="85000" lnSpcReduction="20000"/>
          </a:bodyPr>
          <a:lstStyle/>
          <a:p>
            <a:r>
              <a:rPr lang="en-US" b="1" dirty="0"/>
              <a:t>Transparency</a:t>
            </a:r>
            <a:r>
              <a:rPr lang="en-US" dirty="0"/>
              <a:t>. AI systems should be transparently designed and deployed, clearly explaining their capabilities and limitations and ensuring accountability and trust.</a:t>
            </a:r>
          </a:p>
          <a:p>
            <a:r>
              <a:rPr lang="en-US" b="1" dirty="0"/>
              <a:t>Fairness and equity.</a:t>
            </a:r>
            <a:r>
              <a:rPr lang="en-US" dirty="0"/>
              <a:t> Developers should strive to eliminate bias and ensure equitable access to AI technologies, preventing discrimination and promoting equal opportunities for all individuals.</a:t>
            </a:r>
          </a:p>
          <a:p>
            <a:r>
              <a:rPr lang="en-US" b="1" dirty="0"/>
              <a:t>Privacy and security.</a:t>
            </a:r>
            <a:r>
              <a:rPr lang="en-US" dirty="0"/>
              <a:t> AI systems should handle data securely and ensure user consent, minimizing risks of unauthorized access and misuse.</a:t>
            </a:r>
          </a:p>
          <a:p>
            <a:r>
              <a:rPr lang="en-US" b="1" dirty="0"/>
              <a:t>Accountability. </a:t>
            </a:r>
            <a:r>
              <a:rPr lang="en-US" dirty="0"/>
              <a:t>Developers should be accountable for the behavior and impact of their AI systems, taking responsibility for any harm caused and implementing mechanisms for recourse and redress.</a:t>
            </a:r>
          </a:p>
          <a:p>
            <a:endParaRPr lang="en-US" dirty="0"/>
          </a:p>
        </p:txBody>
      </p:sp>
    </p:spTree>
    <p:extLst>
      <p:ext uri="{BB962C8B-B14F-4D97-AF65-F5344CB8AC3E}">
        <p14:creationId xmlns:p14="http://schemas.microsoft.com/office/powerpoint/2010/main" val="112982974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534400" cy="1143000"/>
          </a:xfrm>
        </p:spPr>
        <p:txBody>
          <a:bodyPr>
            <a:normAutofit fontScale="90000"/>
          </a:bodyPr>
          <a:lstStyle/>
          <a:p>
            <a:r>
              <a:rPr lang="en-US" dirty="0"/>
              <a:t>Ethical Considerations in AI-Augmented Software Development:</a:t>
            </a:r>
          </a:p>
        </p:txBody>
      </p:sp>
      <p:sp>
        <p:nvSpPr>
          <p:cNvPr id="3" name="Text Placeholder 2"/>
          <p:cNvSpPr>
            <a:spLocks noGrp="1"/>
          </p:cNvSpPr>
          <p:nvPr>
            <p:ph type="body" idx="1"/>
          </p:nvPr>
        </p:nvSpPr>
        <p:spPr>
          <a:xfrm>
            <a:off x="228600" y="2286000"/>
            <a:ext cx="8229600" cy="4389120"/>
          </a:xfrm>
        </p:spPr>
        <p:txBody>
          <a:bodyPr>
            <a:normAutofit fontScale="92500" lnSpcReduction="10000"/>
          </a:bodyPr>
          <a:lstStyle/>
          <a:p>
            <a:r>
              <a:rPr lang="en-US" b="1" dirty="0"/>
              <a:t>Human-centered design</a:t>
            </a:r>
            <a:r>
              <a:rPr lang="en-US" dirty="0"/>
              <a:t>. AI technologies should prioritize human well-being, augment human capabilities, and respect human autonomy, avoiding undue concentration of power and prioritizing user needs.</a:t>
            </a:r>
          </a:p>
          <a:p>
            <a:r>
              <a:rPr lang="en-US" b="1" dirty="0"/>
              <a:t>Robustness and reliability.</a:t>
            </a:r>
            <a:r>
              <a:rPr lang="en-US" dirty="0"/>
              <a:t> AI systems should be built to be robust, resilient, and reliable, undergoing rigorous testing and validation to mitigate risks of errors, biases, or unintended consequences.</a:t>
            </a:r>
          </a:p>
          <a:p>
            <a:r>
              <a:rPr lang="en-US" b="1" dirty="0"/>
              <a:t>Social impact</a:t>
            </a:r>
            <a:r>
              <a:rPr lang="en-US" dirty="0"/>
              <a:t>. Developers should consider the broader social implications of AI deployment, actively working to address societal challenges and minimizing adverse effects on employment, inequality, and other areas.</a:t>
            </a:r>
          </a:p>
          <a:p>
            <a:endParaRPr lang="en-US" dirty="0"/>
          </a:p>
        </p:txBody>
      </p:sp>
    </p:spTree>
    <p:extLst>
      <p:ext uri="{BB962C8B-B14F-4D97-AF65-F5344CB8AC3E}">
        <p14:creationId xmlns:p14="http://schemas.microsoft.com/office/powerpoint/2010/main" val="42148113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54713209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921" y="990600"/>
            <a:ext cx="8229600" cy="1143000"/>
          </a:xfrm>
        </p:spPr>
        <p:txBody>
          <a:bodyPr>
            <a:normAutofit fontScale="90000"/>
          </a:bodyPr>
          <a:lstStyle/>
          <a:p>
            <a:r>
              <a:rPr lang="en-US" dirty="0"/>
              <a:t>Future of AI-Augmented Software Development:</a:t>
            </a:r>
          </a:p>
        </p:txBody>
      </p:sp>
      <p:sp>
        <p:nvSpPr>
          <p:cNvPr id="3" name="Text Placeholder 2"/>
          <p:cNvSpPr>
            <a:spLocks noGrp="1"/>
          </p:cNvSpPr>
          <p:nvPr>
            <p:ph type="body" idx="1"/>
          </p:nvPr>
        </p:nvSpPr>
        <p:spPr>
          <a:xfrm>
            <a:off x="457200" y="2468880"/>
            <a:ext cx="8229600" cy="4389120"/>
          </a:xfrm>
        </p:spPr>
        <p:txBody>
          <a:bodyPr/>
          <a:lstStyle/>
          <a:p>
            <a:r>
              <a:rPr lang="en-US" dirty="0"/>
              <a:t>One of the main areas where AI is impacting software development is in the automation of repetitive and mundane tasks. AI-powered tools can now analyze and understand code faster than ever before, leading to a significant reduction in the time and effort required for tasks like debugging, code refactoring, and optimization. By automating these routine activities, developers can focus more on creative problem-solving and innovation, ultimately leading to faster development cycles and better software quality.</a:t>
            </a:r>
          </a:p>
        </p:txBody>
      </p:sp>
    </p:spTree>
    <p:extLst>
      <p:ext uri="{BB962C8B-B14F-4D97-AF65-F5344CB8AC3E}">
        <p14:creationId xmlns:p14="http://schemas.microsoft.com/office/powerpoint/2010/main" val="280154499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345185" y="4042257"/>
            <a:ext cx="6583679" cy="3950207"/>
          </a:xfrm>
        </p:spPr>
        <p:txBody>
          <a:bodyPr/>
          <a:lstStyle/>
          <a:p>
            <a:endParaRPr lang="en-US" dirty="0"/>
          </a:p>
        </p:txBody>
      </p:sp>
      <p:pic>
        <p:nvPicPr>
          <p:cNvPr id="3074" name="Picture 2" descr="robot gear autom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12869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077200" cy="1143000"/>
          </a:xfrm>
        </p:spPr>
        <p:txBody>
          <a:bodyPr>
            <a:normAutofit fontScale="90000"/>
          </a:bodyPr>
          <a:lstStyle/>
          <a:p>
            <a:r>
              <a:rPr lang="en-US" dirty="0"/>
              <a:t>Future of AI-Augmented Software Development:</a:t>
            </a:r>
          </a:p>
        </p:txBody>
      </p:sp>
      <p:sp>
        <p:nvSpPr>
          <p:cNvPr id="3" name="Text Placeholder 2"/>
          <p:cNvSpPr>
            <a:spLocks noGrp="1"/>
          </p:cNvSpPr>
          <p:nvPr>
            <p:ph type="body" idx="1"/>
          </p:nvPr>
        </p:nvSpPr>
        <p:spPr>
          <a:xfrm>
            <a:off x="457200" y="2438400"/>
            <a:ext cx="8229600" cy="4389120"/>
          </a:xfrm>
        </p:spPr>
        <p:txBody>
          <a:bodyPr/>
          <a:lstStyle/>
          <a:p>
            <a:r>
              <a:rPr lang="en-US" dirty="0"/>
              <a:t>Another exciting prospect of AI-augmented software development is the assistance provided during the design phase. AI algorithms can now generate code snippets based on high-level descriptions and specifications, saving developers time by providing a starting point for various tasks. Additionally, AI can assist in the detection of potential bugs or vulnerabilities early in the development process, minimizing the risk of security breaches.</a:t>
            </a:r>
          </a:p>
        </p:txBody>
      </p:sp>
    </p:spTree>
    <p:extLst>
      <p:ext uri="{BB962C8B-B14F-4D97-AF65-F5344CB8AC3E}">
        <p14:creationId xmlns:p14="http://schemas.microsoft.com/office/powerpoint/2010/main" val="34181180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143000"/>
          </a:xfrm>
        </p:spPr>
        <p:txBody>
          <a:bodyPr>
            <a:normAutofit fontScale="90000"/>
          </a:bodyPr>
          <a:lstStyle/>
          <a:p>
            <a:r>
              <a:rPr lang="en-US" dirty="0"/>
              <a:t>Future of AI-Augmented Software Development:</a:t>
            </a:r>
          </a:p>
        </p:txBody>
      </p:sp>
      <p:sp>
        <p:nvSpPr>
          <p:cNvPr id="3" name="Text Placeholder 2"/>
          <p:cNvSpPr>
            <a:spLocks noGrp="1"/>
          </p:cNvSpPr>
          <p:nvPr>
            <p:ph type="body" idx="1"/>
          </p:nvPr>
        </p:nvSpPr>
        <p:spPr>
          <a:xfrm>
            <a:off x="457200" y="2362200"/>
            <a:ext cx="8229600" cy="4389120"/>
          </a:xfrm>
        </p:spPr>
        <p:txBody>
          <a:bodyPr>
            <a:normAutofit fontScale="92500"/>
          </a:bodyPr>
          <a:lstStyle/>
          <a:p>
            <a:r>
              <a:rPr lang="en-US" dirty="0"/>
              <a:t>Looking further into the future, AI-augmented software development could potentially lead to the emergence of intelligent programming assistants. These virtual assistants would be capable of understanding natural language queries and providing real-time guidance and suggestions, aiding developers in solving complex problems efficiently. They could offer insights on performance optimizations, recommend design patterns, and help in the integration of third-party libraries or APIs. This level of assistance could be crucial for both experienced developers looking for guidance and novices trying to learn programming.</a:t>
            </a:r>
          </a:p>
        </p:txBody>
      </p:sp>
    </p:spTree>
    <p:extLst>
      <p:ext uri="{BB962C8B-B14F-4D97-AF65-F5344CB8AC3E}">
        <p14:creationId xmlns:p14="http://schemas.microsoft.com/office/powerpoint/2010/main" val="179811922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439</TotalTime>
  <Words>2916</Words>
  <Application>Microsoft Office PowerPoint</Application>
  <PresentationFormat>On-screen Show (4:3)</PresentationFormat>
  <Paragraphs>200</Paragraphs>
  <Slides>62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Calibri</vt:lpstr>
      <vt:lpstr>Constantia</vt:lpstr>
      <vt:lpstr>Wingdings 2</vt:lpstr>
      <vt:lpstr>Flow</vt:lpstr>
      <vt:lpstr>Introduction to Scrum</vt:lpstr>
      <vt:lpstr>Scrum Principles</vt:lpstr>
      <vt:lpstr>Scrum Process &amp; Roles</vt:lpstr>
      <vt:lpstr>Product Roles</vt:lpstr>
      <vt:lpstr>Sprint (Planning, Review, Retrospective)</vt:lpstr>
      <vt:lpstr>Scrum Artifacts</vt:lpstr>
      <vt:lpstr>PowerPoint Presentation</vt:lpstr>
      <vt:lpstr>Scrum Events and Planning</vt:lpstr>
      <vt:lpstr>PowerPoint Presentation</vt:lpstr>
      <vt:lpstr>Introduction to DevOps</vt:lpstr>
      <vt:lpstr>DevOps Process and Tools</vt:lpstr>
      <vt:lpstr>Continuous Integration (CI) and Delivery (CD)</vt:lpstr>
      <vt:lpstr>PowerPoint Presentation</vt:lpstr>
      <vt:lpstr>Infrastructure as Code (IaC)</vt:lpstr>
      <vt:lpstr>Microservices Architecture</vt:lpstr>
      <vt:lpstr>Containerization</vt:lpstr>
      <vt:lpstr>People Involved</vt:lpstr>
      <vt:lpstr>Examples of DevOps Tools</vt:lpstr>
      <vt:lpstr>Benefits and challenges of DevOps</vt:lpstr>
      <vt:lpstr>DevOps in Practice and Future</vt:lpstr>
      <vt:lpstr>Comparison of Agile Frameworks</vt:lpstr>
      <vt:lpstr>AI-Augmented Software Development:</vt:lpstr>
      <vt:lpstr>PowerPoint Presentation</vt:lpstr>
      <vt:lpstr>Mintlify – Automated Documentation for Developers </vt:lpstr>
      <vt:lpstr>PowerPoint Presentation</vt:lpstr>
      <vt:lpstr>Adrenaline AI – Understand any codebase </vt:lpstr>
      <vt:lpstr>PowerPoint Presentation</vt:lpstr>
      <vt:lpstr>Here are just a few of the implications that AI has on software development: </vt:lpstr>
      <vt:lpstr>Automated coding and application builds</vt:lpstr>
      <vt:lpstr>PowerPoint Presentation</vt:lpstr>
      <vt:lpstr>Automated Bug Detection and Resolution: </vt:lpstr>
      <vt:lpstr>AI-Powered Testing and Quality Assurance: </vt:lpstr>
      <vt:lpstr>Difficulty of Debugging </vt:lpstr>
      <vt:lpstr>PowerPoint Presentation</vt:lpstr>
      <vt:lpstr>Research AI Tools</vt:lpstr>
      <vt:lpstr>Selenium</vt:lpstr>
      <vt:lpstr>PowerPoint Presentation</vt:lpstr>
      <vt:lpstr>Testim</vt:lpstr>
      <vt:lpstr>PowerPoint Presentation</vt:lpstr>
      <vt:lpstr>Katalon Studio</vt:lpstr>
      <vt:lpstr>PowerPoint Presentation</vt:lpstr>
      <vt:lpstr>Applitools</vt:lpstr>
      <vt:lpstr>PowerPoint Presentation</vt:lpstr>
      <vt:lpstr>Improved user interface (UI) design and testing </vt:lpstr>
      <vt:lpstr>PowerPoint Presentation</vt:lpstr>
      <vt:lpstr>AI-Driven Software Project Management:</vt:lpstr>
      <vt:lpstr>AI-Driven Software Project Management:</vt:lpstr>
      <vt:lpstr>AI-Driven Software Project Management:</vt:lpstr>
      <vt:lpstr>How AI is Improving Communication and Collaboration in Project Management</vt:lpstr>
      <vt:lpstr>AI enhances communication by:</vt:lpstr>
      <vt:lpstr>AI-Enabled Predictive Analytics:</vt:lpstr>
      <vt:lpstr>AI-Enabled Predictive Analytics:</vt:lpstr>
      <vt:lpstr>AI-Enabled Predictive Analytics:</vt:lpstr>
      <vt:lpstr>AI-Enabled Predictive Analytics:</vt:lpstr>
      <vt:lpstr>AI-Enabled Predictive Analytics:</vt:lpstr>
      <vt:lpstr>Ethical Considerations in AI-Augmented Software Development:</vt:lpstr>
      <vt:lpstr>Ethical Considerations in AI-Augmented Software Development:</vt:lpstr>
      <vt:lpstr>PowerPoint Presentation</vt:lpstr>
      <vt:lpstr>Future of AI-Augmented Software Development:</vt:lpstr>
      <vt:lpstr>PowerPoint Presentation</vt:lpstr>
      <vt:lpstr>Future of AI-Augmented Software Development:</vt:lpstr>
      <vt:lpstr>Future of AI-Augmented Software Development:</vt:lpstr>
    </vt:vector>
  </TitlesOfParts>
  <Company>MRT www.Win2Farsi.com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Scrum</dc:title>
  <dc:creator>MRT Pack 24 DVDs</dc:creator>
  <cp:lastModifiedBy>Msi</cp:lastModifiedBy>
  <cp:revision>30</cp:revision>
  <dcterms:created xsi:type="dcterms:W3CDTF">2023-10-29T15:32:07Z</dcterms:created>
  <dcterms:modified xsi:type="dcterms:W3CDTF">2023-11-06T09:06:22Z</dcterms:modified>
</cp:coreProperties>
</file>