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gif" ContentType="image/gif"/>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23"/>
  </p:notesMasterIdLst>
  <p:sldIdLst>
    <p:sldId id="256" r:id="rId2"/>
    <p:sldId id="257" r:id="rId3"/>
    <p:sldId id="258" r:id="rId4"/>
    <p:sldId id="259" r:id="rId5"/>
    <p:sldId id="260" r:id="rId6"/>
    <p:sldId id="264" r:id="rId7"/>
    <p:sldId id="261" r:id="rId8"/>
    <p:sldId id="262" r:id="rId9"/>
    <p:sldId id="263" r:id="rId10"/>
    <p:sldId id="265" r:id="rId11"/>
    <p:sldId id="267" r:id="rId12"/>
    <p:sldId id="266" r:id="rId13"/>
    <p:sldId id="268" r:id="rId14"/>
    <p:sldId id="269" r:id="rId15"/>
    <p:sldId id="270" r:id="rId16"/>
    <p:sldId id="271" r:id="rId17"/>
    <p:sldId id="272" r:id="rId18"/>
    <p:sldId id="273" r:id="rId19"/>
    <p:sldId id="274" r:id="rId20"/>
    <p:sldId id="275" r:id="rId21"/>
    <p:sldId id="276" r:id="rId22"/>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7425" autoAdjust="0"/>
    <p:restoredTop sz="94660"/>
  </p:normalViewPr>
  <p:slideViewPr>
    <p:cSldViewPr>
      <p:cViewPr varScale="1">
        <p:scale>
          <a:sx n="102" d="100"/>
          <a:sy n="102" d="100"/>
        </p:scale>
        <p:origin x="-168" y="-96"/>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FBB879B8-B2CA-46EC-B108-C4E74C08DAA2}" type="datetimeFigureOut">
              <a:rPr lang="en-US" smtClean="0"/>
              <a:t>2023/04/29</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7C32C751-3862-4459-9438-DF69AA02D099}" type="slidenum">
              <a:rPr lang="en-US" smtClean="0"/>
              <a:t>‹#›</a:t>
            </a:fld>
            <a:endParaRPr lang="en-US"/>
          </a:p>
        </p:txBody>
      </p:sp>
    </p:spTree>
    <p:extLst>
      <p:ext uri="{BB962C8B-B14F-4D97-AF65-F5344CB8AC3E}">
        <p14:creationId xmlns:p14="http://schemas.microsoft.com/office/powerpoint/2010/main" val="73962114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7C32C751-3862-4459-9438-DF69AA02D099}" type="slidenum">
              <a:rPr lang="en-US" smtClean="0"/>
              <a:t>12</a:t>
            </a:fld>
            <a:endParaRPr lang="en-US"/>
          </a:p>
        </p:txBody>
      </p:sp>
    </p:spTree>
    <p:extLst>
      <p:ext uri="{BB962C8B-B14F-4D97-AF65-F5344CB8AC3E}">
        <p14:creationId xmlns:p14="http://schemas.microsoft.com/office/powerpoint/2010/main" val="47741593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8" name="Rectangle 7"/>
          <p:cNvSpPr/>
          <p:nvPr/>
        </p:nvSpPr>
        <p:spPr>
          <a:xfrm>
            <a:off x="777240" y="0"/>
            <a:ext cx="7543800" cy="304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ctrTitle"/>
          </p:nvPr>
        </p:nvSpPr>
        <p:spPr>
          <a:xfrm>
            <a:off x="762000" y="3200400"/>
            <a:ext cx="7543800" cy="1524000"/>
          </a:xfrm>
        </p:spPr>
        <p:txBody>
          <a:bodyPr>
            <a:noAutofit/>
          </a:bodyPr>
          <a:lstStyle>
            <a:lvl1pPr>
              <a:defRPr sz="8000"/>
            </a:lvl1pPr>
          </a:lstStyle>
          <a:p>
            <a:r>
              <a:rPr lang="en-US" dirty="0" smtClean="0"/>
              <a:t>Click to edit Master title style</a:t>
            </a:r>
            <a:endParaRPr lang="en-US" dirty="0"/>
          </a:p>
        </p:txBody>
      </p:sp>
      <p:sp>
        <p:nvSpPr>
          <p:cNvPr id="3" name="Subtitle 2"/>
          <p:cNvSpPr>
            <a:spLocks noGrp="1"/>
          </p:cNvSpPr>
          <p:nvPr>
            <p:ph type="subTitle" idx="1"/>
          </p:nvPr>
        </p:nvSpPr>
        <p:spPr>
          <a:xfrm>
            <a:off x="762000" y="4724400"/>
            <a:ext cx="6858000" cy="990600"/>
          </a:xfrm>
        </p:spPr>
        <p:txBody>
          <a:bodyPr anchor="t" anchorCtr="0">
            <a:normAutofit/>
          </a:bodyPr>
          <a:lstStyle>
            <a:lvl1pPr marL="0" indent="0" algn="r">
              <a:buNone/>
              <a:defRPr sz="2800">
                <a:solidFill>
                  <a:schemeClr val="tx2"/>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smtClean="0"/>
              <a:t>Click to edit Master subtitle style</a:t>
            </a:r>
            <a:endParaRPr lang="en-US" dirty="0"/>
          </a:p>
        </p:txBody>
      </p:sp>
      <p:sp>
        <p:nvSpPr>
          <p:cNvPr id="4" name="Date Placeholder 3"/>
          <p:cNvSpPr>
            <a:spLocks noGrp="1"/>
          </p:cNvSpPr>
          <p:nvPr>
            <p:ph type="dt" sz="half" idx="10"/>
          </p:nvPr>
        </p:nvSpPr>
        <p:spPr/>
        <p:txBody>
          <a:bodyPr/>
          <a:lstStyle/>
          <a:p>
            <a:fld id="{BC6F4DC3-DAAF-4E31-92EA-DA433FEF6BBA}" type="datetimeFigureOut">
              <a:rPr lang="en-US" smtClean="0"/>
              <a:t>2023/04/29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a:xfrm>
            <a:off x="251520" y="5807075"/>
            <a:ext cx="762000" cy="365125"/>
          </a:xfrm>
        </p:spPr>
        <p:txBody>
          <a:bodyPr/>
          <a:lstStyle/>
          <a:p>
            <a:fld id="{D2A422C1-7D45-4745-A57A-D0F50D9496C0}" type="slidenum">
              <a:rPr lang="en-US" smtClean="0"/>
              <a:t>‹#›</a:t>
            </a:fld>
            <a:endParaRPr lang="en-US" dirty="0"/>
          </a:p>
        </p:txBody>
      </p:sp>
      <p:sp>
        <p:nvSpPr>
          <p:cNvPr id="7" name="Rectangle 6"/>
          <p:cNvSpPr/>
          <p:nvPr/>
        </p:nvSpPr>
        <p:spPr>
          <a:xfrm>
            <a:off x="777240" y="6172200"/>
            <a:ext cx="7543800" cy="2743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547664" y="4581128"/>
            <a:ext cx="6781800" cy="1600200"/>
          </a:xfrm>
        </p:spPr>
        <p:txBody>
          <a:bodyPr/>
          <a:lstStyle/>
          <a:p>
            <a:r>
              <a:rPr lang="en-US" dirty="0"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BC6F4DC3-DAAF-4E31-92EA-DA433FEF6BBA}" type="datetimeFigureOut">
              <a:rPr lang="en-US" smtClean="0"/>
              <a:t>2023/04/29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a:xfrm>
            <a:off x="755576" y="5805264"/>
            <a:ext cx="762000" cy="365125"/>
          </a:xfrm>
        </p:spPr>
        <p:txBody>
          <a:bodyPr/>
          <a:lstStyle/>
          <a:p>
            <a:fld id="{D2A422C1-7D45-4745-A57A-D0F50D9496C0}" type="slidenum">
              <a:rPr lang="en-US" smtClean="0"/>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7" name="Rectangle 6"/>
          <p:cNvSpPr/>
          <p:nvPr/>
        </p:nvSpPr>
        <p:spPr>
          <a:xfrm>
            <a:off x="777240" y="0"/>
            <a:ext cx="7543800" cy="304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762000" y="3276600"/>
            <a:ext cx="7543800" cy="1676400"/>
          </a:xfrm>
        </p:spPr>
        <p:txBody>
          <a:bodyPr anchor="b" anchorCtr="0"/>
          <a:lstStyle>
            <a:lvl1pPr algn="r">
              <a:defRPr sz="5400" b="0" cap="all"/>
            </a:lvl1pPr>
          </a:lstStyle>
          <a:p>
            <a:r>
              <a:rPr lang="en-US" dirty="0" smtClean="0"/>
              <a:t>Click to edit Master title style</a:t>
            </a:r>
            <a:endParaRPr lang="en-US" dirty="0"/>
          </a:p>
        </p:txBody>
      </p:sp>
      <p:sp>
        <p:nvSpPr>
          <p:cNvPr id="3" name="Text Placeholder 2"/>
          <p:cNvSpPr>
            <a:spLocks noGrp="1"/>
          </p:cNvSpPr>
          <p:nvPr>
            <p:ph type="body" idx="1"/>
          </p:nvPr>
        </p:nvSpPr>
        <p:spPr>
          <a:xfrm>
            <a:off x="762000" y="4953000"/>
            <a:ext cx="6858000" cy="914400"/>
          </a:xfrm>
        </p:spPr>
        <p:txBody>
          <a:bodyPr anchor="t" anchorCtr="0">
            <a:normAutofit/>
          </a:bodyPr>
          <a:lstStyle>
            <a:lvl1pPr marL="0" indent="0">
              <a:buNone/>
              <a:defRPr sz="2800">
                <a:solidFill>
                  <a:schemeClr val="tx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dirty="0" smtClean="0"/>
              <a:t>Click to edit Master text styles</a:t>
            </a:r>
          </a:p>
        </p:txBody>
      </p:sp>
      <p:sp>
        <p:nvSpPr>
          <p:cNvPr id="4" name="Date Placeholder 3"/>
          <p:cNvSpPr>
            <a:spLocks noGrp="1"/>
          </p:cNvSpPr>
          <p:nvPr>
            <p:ph type="dt" sz="half" idx="10"/>
          </p:nvPr>
        </p:nvSpPr>
        <p:spPr/>
        <p:txBody>
          <a:bodyPr/>
          <a:lstStyle/>
          <a:p>
            <a:fld id="{BC6F4DC3-DAAF-4E31-92EA-DA433FEF6BBA}" type="datetimeFigureOut">
              <a:rPr lang="en-US" smtClean="0"/>
              <a:t>2023/04/29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2A422C1-7D45-4745-A57A-D0F50D9496C0}" type="slidenum">
              <a:rPr lang="en-US" smtClean="0"/>
              <a:t>‹#›</a:t>
            </a:fld>
            <a:endParaRPr lang="en-US"/>
          </a:p>
        </p:txBody>
      </p:sp>
      <p:sp>
        <p:nvSpPr>
          <p:cNvPr id="8" name="Rectangle 7"/>
          <p:cNvSpPr/>
          <p:nvPr/>
        </p:nvSpPr>
        <p:spPr>
          <a:xfrm>
            <a:off x="777240" y="6172200"/>
            <a:ext cx="7543800" cy="2743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547664" y="4581128"/>
            <a:ext cx="6781800" cy="1600200"/>
          </a:xfrm>
        </p:spPr>
        <p:txBody>
          <a:bodyPr/>
          <a:lstStyle/>
          <a:p>
            <a:r>
              <a:rPr lang="en-US" dirty="0" smtClean="0"/>
              <a:t>Click to edit Master title style</a:t>
            </a:r>
            <a:endParaRPr lang="en-US" dirty="0"/>
          </a:p>
        </p:txBody>
      </p:sp>
      <p:sp>
        <p:nvSpPr>
          <p:cNvPr id="3" name="Content Placeholder 2"/>
          <p:cNvSpPr>
            <a:spLocks noGrp="1"/>
          </p:cNvSpPr>
          <p:nvPr>
            <p:ph sz="half" idx="1"/>
          </p:nvPr>
        </p:nvSpPr>
        <p:spPr>
          <a:xfrm>
            <a:off x="762000" y="609601"/>
            <a:ext cx="3657600" cy="376732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4648200" y="609601"/>
            <a:ext cx="3657600" cy="376732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5" name="Date Placeholder 4"/>
          <p:cNvSpPr>
            <a:spLocks noGrp="1"/>
          </p:cNvSpPr>
          <p:nvPr>
            <p:ph type="dt" sz="half" idx="10"/>
          </p:nvPr>
        </p:nvSpPr>
        <p:spPr/>
        <p:txBody>
          <a:bodyPr/>
          <a:lstStyle/>
          <a:p>
            <a:fld id="{BC6F4DC3-DAAF-4E31-92EA-DA433FEF6BBA}" type="datetimeFigureOut">
              <a:rPr lang="en-US" smtClean="0"/>
              <a:t>2023/04/29</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a:xfrm>
            <a:off x="755576" y="5805264"/>
            <a:ext cx="762000" cy="365125"/>
          </a:xfrm>
        </p:spPr>
        <p:txBody>
          <a:bodyPr/>
          <a:lstStyle/>
          <a:p>
            <a:fld id="{D2A422C1-7D45-4745-A57A-D0F50D9496C0}" type="slidenum">
              <a:rPr lang="en-US" smtClean="0"/>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520952" y="4581128"/>
            <a:ext cx="6781800" cy="1600200"/>
          </a:xfrm>
        </p:spPr>
        <p:txBody>
          <a:bodyPr/>
          <a:lstStyle>
            <a:lvl1pPr>
              <a:defRPr/>
            </a:lvl1pPr>
          </a:lstStyle>
          <a:p>
            <a:r>
              <a:rPr lang="en-US" dirty="0" smtClean="0"/>
              <a:t>Click to edit Master title style</a:t>
            </a:r>
            <a:endParaRPr lang="en-US" dirty="0"/>
          </a:p>
        </p:txBody>
      </p:sp>
      <p:sp>
        <p:nvSpPr>
          <p:cNvPr id="3" name="Text Placeholder 2"/>
          <p:cNvSpPr>
            <a:spLocks noGrp="1"/>
          </p:cNvSpPr>
          <p:nvPr>
            <p:ph type="body" idx="1"/>
          </p:nvPr>
        </p:nvSpPr>
        <p:spPr>
          <a:xfrm>
            <a:off x="758952" y="609600"/>
            <a:ext cx="3657600" cy="639762"/>
          </a:xfrm>
        </p:spPr>
        <p:txBody>
          <a:bodyPr anchor="b">
            <a:noAutofit/>
          </a:bodyPr>
          <a:lstStyle>
            <a:lvl1pPr marL="0" indent="0">
              <a:buNone/>
              <a:defRPr sz="2800" b="0">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758952" y="1329264"/>
            <a:ext cx="3657600" cy="3048000"/>
          </a:xfrm>
        </p:spPr>
        <p:txBody>
          <a:bodyPr anchor="t" anchorCtr="0"/>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4645152" y="609600"/>
            <a:ext cx="3657600" cy="639762"/>
          </a:xfrm>
        </p:spPr>
        <p:txBody>
          <a:bodyPr anchor="b">
            <a:noAutofit/>
          </a:bodyPr>
          <a:lstStyle>
            <a:lvl1pPr marL="0" indent="0">
              <a:buNone/>
              <a:defRPr sz="2800" b="0">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152" y="1329264"/>
            <a:ext cx="3657600" cy="3048000"/>
          </a:xfrm>
        </p:spPr>
        <p:txBody>
          <a:bodyPr anchor="t" anchorCtr="0"/>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BC6F4DC3-DAAF-4E31-92EA-DA433FEF6BBA}" type="datetimeFigureOut">
              <a:rPr lang="en-US" smtClean="0"/>
              <a:t>2023/04/29</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a:xfrm>
            <a:off x="728360" y="5805264"/>
            <a:ext cx="762000" cy="365125"/>
          </a:xfrm>
        </p:spPr>
        <p:txBody>
          <a:bodyPr/>
          <a:lstStyle/>
          <a:p>
            <a:fld id="{D2A422C1-7D45-4745-A57A-D0F50D9496C0}" type="slidenum">
              <a:rPr lang="en-US" smtClean="0"/>
              <a:t>‹#›</a:t>
            </a:fld>
            <a:endParaRPr lang="en-US"/>
          </a:p>
        </p:txBody>
      </p:sp>
      <p:cxnSp>
        <p:nvCxnSpPr>
          <p:cNvPr id="11" name="Straight Connector 10"/>
          <p:cNvCxnSpPr/>
          <p:nvPr/>
        </p:nvCxnSpPr>
        <p:spPr>
          <a:xfrm>
            <a:off x="758952" y="1249362"/>
            <a:ext cx="3657600" cy="1588"/>
          </a:xfrm>
          <a:prstGeom prst="line">
            <a:avLst/>
          </a:prstGeom>
        </p:spPr>
        <p:style>
          <a:lnRef idx="1">
            <a:schemeClr val="accent1"/>
          </a:lnRef>
          <a:fillRef idx="0">
            <a:schemeClr val="accent1"/>
          </a:fillRef>
          <a:effectRef idx="0">
            <a:schemeClr val="accent1"/>
          </a:effectRef>
          <a:fontRef idx="minor">
            <a:schemeClr val="tx1"/>
          </a:fontRef>
        </p:style>
      </p:cxnSp>
      <p:cxnSp>
        <p:nvCxnSpPr>
          <p:cNvPr id="13" name="Straight Connector 12"/>
          <p:cNvCxnSpPr/>
          <p:nvPr/>
        </p:nvCxnSpPr>
        <p:spPr>
          <a:xfrm>
            <a:off x="4645152" y="1249362"/>
            <a:ext cx="3657600" cy="1588"/>
          </a:xfrm>
          <a:prstGeom prst="line">
            <a:avLst/>
          </a:prstGeom>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1619672" y="4581128"/>
            <a:ext cx="6781800" cy="1600200"/>
          </a:xfrm>
        </p:spPr>
        <p:txBody>
          <a:bodyPr/>
          <a:lstStyle/>
          <a:p>
            <a:r>
              <a:rPr lang="en-US" dirty="0" smtClean="0"/>
              <a:t>Click to edit Master title style</a:t>
            </a:r>
            <a:endParaRPr lang="en-US" dirty="0"/>
          </a:p>
        </p:txBody>
      </p:sp>
      <p:sp>
        <p:nvSpPr>
          <p:cNvPr id="3" name="Date Placeholder 2"/>
          <p:cNvSpPr>
            <a:spLocks noGrp="1"/>
          </p:cNvSpPr>
          <p:nvPr>
            <p:ph type="dt" sz="half" idx="10"/>
          </p:nvPr>
        </p:nvSpPr>
        <p:spPr/>
        <p:txBody>
          <a:bodyPr/>
          <a:lstStyle/>
          <a:p>
            <a:fld id="{BC6F4DC3-DAAF-4E31-92EA-DA433FEF6BBA}" type="datetimeFigureOut">
              <a:rPr lang="en-US" smtClean="0"/>
              <a:t>2023/04/29</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a:xfrm>
            <a:off x="755576" y="5805264"/>
            <a:ext cx="762000" cy="365125"/>
          </a:xfrm>
        </p:spPr>
        <p:txBody>
          <a:bodyPr/>
          <a:lstStyle/>
          <a:p>
            <a:fld id="{D2A422C1-7D45-4745-A57A-D0F50D9496C0}"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C6F4DC3-DAAF-4E31-92EA-DA433FEF6BBA}" type="datetimeFigureOut">
              <a:rPr lang="en-US" smtClean="0"/>
              <a:t>2023/04/29</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a:xfrm>
            <a:off x="755576" y="5733256"/>
            <a:ext cx="762000" cy="365125"/>
          </a:xfrm>
        </p:spPr>
        <p:txBody>
          <a:bodyPr/>
          <a:lstStyle/>
          <a:p>
            <a:fld id="{D2A422C1-7D45-4745-A57A-D0F50D9496C0}"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762000" y="4572000"/>
            <a:ext cx="6784848" cy="1600200"/>
          </a:xfrm>
        </p:spPr>
        <p:txBody>
          <a:bodyPr anchor="b">
            <a:normAutofit/>
          </a:bodyPr>
          <a:lstStyle>
            <a:lvl1pPr algn="l">
              <a:defRPr sz="5400" b="0"/>
            </a:lvl1pPr>
          </a:lstStyle>
          <a:p>
            <a:r>
              <a:rPr lang="en-US" smtClean="0"/>
              <a:t>Click to edit Master title style</a:t>
            </a:r>
            <a:endParaRPr lang="en-US"/>
          </a:p>
        </p:txBody>
      </p:sp>
      <p:sp>
        <p:nvSpPr>
          <p:cNvPr id="3" name="Content Placeholder 2"/>
          <p:cNvSpPr>
            <a:spLocks noGrp="1"/>
          </p:cNvSpPr>
          <p:nvPr>
            <p:ph idx="1"/>
          </p:nvPr>
        </p:nvSpPr>
        <p:spPr>
          <a:xfrm>
            <a:off x="3710866" y="457200"/>
            <a:ext cx="4594934" cy="4114799"/>
          </a:xfrm>
        </p:spPr>
        <p:txBody>
          <a:bodyPr/>
          <a:lstStyle>
            <a:lvl1pPr>
              <a:defRPr sz="2400"/>
            </a:lvl1pPr>
            <a:lvl2pPr>
              <a:defRPr sz="2200"/>
            </a:lvl2pPr>
            <a:lvl3pPr>
              <a:defRPr sz="2000"/>
            </a:lvl3pPr>
            <a:lvl4pPr>
              <a:defRPr sz="1800"/>
            </a:lvl4pPr>
            <a:lvl5pPr>
              <a:defRPr sz="18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762001" y="457200"/>
            <a:ext cx="2673657" cy="4114800"/>
          </a:xfrm>
        </p:spPr>
        <p:txBody>
          <a:bodyPr>
            <a:normAutofit/>
          </a:bodyPr>
          <a:lstStyle>
            <a:lvl1pPr marL="0" indent="0">
              <a:buNone/>
              <a:defRPr sz="2100">
                <a:solidFill>
                  <a:schemeClr val="tx2"/>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BC6F4DC3-DAAF-4E31-92EA-DA433FEF6BBA}" type="datetimeFigureOut">
              <a:rPr lang="en-US" smtClean="0"/>
              <a:t>2023/04/29</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2A422C1-7D45-4745-A57A-D0F50D9496C0}" type="slidenum">
              <a:rPr lang="en-US" smtClean="0"/>
              <a:t>‹#›</a:t>
            </a:fld>
            <a:endParaRPr lang="en-US"/>
          </a:p>
        </p:txBody>
      </p:sp>
      <p:cxnSp>
        <p:nvCxnSpPr>
          <p:cNvPr id="10" name="Straight Connector 9"/>
          <p:cNvCxnSpPr/>
          <p:nvPr/>
        </p:nvCxnSpPr>
        <p:spPr>
          <a:xfrm rot="5400000">
            <a:off x="1677194" y="2514600"/>
            <a:ext cx="3810000" cy="1588"/>
          </a:xfrm>
          <a:prstGeom prst="line">
            <a:avLst/>
          </a:prstGeom>
          <a:ln>
            <a:solidFill>
              <a:schemeClr val="tx2">
                <a:lumMod val="50000"/>
                <a:lumOff val="50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758952" y="4572000"/>
            <a:ext cx="6784848" cy="1600200"/>
          </a:xfrm>
        </p:spPr>
        <p:txBody>
          <a:bodyPr anchor="b">
            <a:normAutofit/>
          </a:bodyPr>
          <a:lstStyle>
            <a:lvl1pPr algn="l">
              <a:defRPr sz="5400" b="0"/>
            </a:lvl1pPr>
          </a:lstStyle>
          <a:p>
            <a:r>
              <a:rPr lang="en-US" smtClean="0"/>
              <a:t>Click to edit Master title style</a:t>
            </a:r>
            <a:endParaRPr lang="en-US" dirty="0"/>
          </a:p>
        </p:txBody>
      </p:sp>
      <p:sp>
        <p:nvSpPr>
          <p:cNvPr id="3" name="Picture Placeholder 2"/>
          <p:cNvSpPr>
            <a:spLocks noGrp="1"/>
          </p:cNvSpPr>
          <p:nvPr>
            <p:ph type="pic" idx="1"/>
          </p:nvPr>
        </p:nvSpPr>
        <p:spPr>
          <a:xfrm>
            <a:off x="777240" y="457200"/>
            <a:ext cx="7543800" cy="2895600"/>
          </a:xfrm>
          <a:ln w="6350">
            <a:solidFill>
              <a:schemeClr val="tx2"/>
            </a:solidFill>
          </a:ln>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a:p>
        </p:txBody>
      </p:sp>
      <p:sp>
        <p:nvSpPr>
          <p:cNvPr id="4" name="Text Placeholder 3"/>
          <p:cNvSpPr>
            <a:spLocks noGrp="1"/>
          </p:cNvSpPr>
          <p:nvPr>
            <p:ph type="body" sz="half" idx="2"/>
          </p:nvPr>
        </p:nvSpPr>
        <p:spPr>
          <a:xfrm>
            <a:off x="850392" y="3505200"/>
            <a:ext cx="7391400" cy="804862"/>
          </a:xfrm>
        </p:spPr>
        <p:txBody>
          <a:bodyPr anchor="t" anchorCtr="0">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BC6F4DC3-DAAF-4E31-92EA-DA433FEF6BBA}" type="datetimeFigureOut">
              <a:rPr lang="en-US" smtClean="0"/>
              <a:t>2023/04/29</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2A422C1-7D45-4745-A57A-D0F50D9496C0}" type="slidenum">
              <a:rPr lang="en-US" smtClean="0"/>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914400" y="685800"/>
            <a:ext cx="7239000" cy="3886200"/>
          </a:xfrm>
        </p:spPr>
        <p:txBody>
          <a:bodyPr vert="eaVert" anchor="t" anchorCtr="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BC6F4DC3-DAAF-4E31-92EA-DA433FEF6BBA}" type="datetimeFigureOut">
              <a:rPr lang="en-US" smtClean="0"/>
              <a:t>2023/04/29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2A422C1-7D45-4745-A57A-D0F50D9496C0}"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62000" y="685801"/>
            <a:ext cx="1828800" cy="5410199"/>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2590800" y="685801"/>
            <a:ext cx="5715000" cy="4876800"/>
          </a:xfrm>
        </p:spPr>
        <p:txBody>
          <a:bodyPr vert="eaVert" anchor="t" anchorCtr="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BC6F4DC3-DAAF-4E31-92EA-DA433FEF6BBA}" type="datetimeFigureOut">
              <a:rPr lang="en-US" smtClean="0"/>
              <a:t>2023/04/29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2A422C1-7D45-4745-A57A-D0F50D9496C0}"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762000" y="4572000"/>
            <a:ext cx="6781800" cy="1600200"/>
          </a:xfrm>
          <a:prstGeom prst="rect">
            <a:avLst/>
          </a:prstGeom>
        </p:spPr>
        <p:txBody>
          <a:bodyPr vert="horz" lIns="91440" tIns="45720" rIns="91440" bIns="45720" rtlCol="0" anchor="b" anchorCtr="0">
            <a:normAutofit/>
          </a:bodyPr>
          <a:lstStyle/>
          <a:p>
            <a:r>
              <a:rPr lang="en-US" dirty="0" smtClean="0"/>
              <a:t>Click to edit Master title style</a:t>
            </a:r>
            <a:endParaRPr lang="en-US" dirty="0"/>
          </a:p>
        </p:txBody>
      </p:sp>
      <p:sp>
        <p:nvSpPr>
          <p:cNvPr id="3" name="Text Placeholder 2"/>
          <p:cNvSpPr>
            <a:spLocks noGrp="1"/>
          </p:cNvSpPr>
          <p:nvPr>
            <p:ph type="body" idx="1"/>
          </p:nvPr>
        </p:nvSpPr>
        <p:spPr>
          <a:xfrm>
            <a:off x="762000" y="685800"/>
            <a:ext cx="7543800" cy="3886200"/>
          </a:xfrm>
          <a:prstGeom prst="rect">
            <a:avLst/>
          </a:prstGeom>
        </p:spPr>
        <p:txBody>
          <a:bodyPr vert="horz" lIns="91440" tIns="45720" rIns="91440" bIns="45720" rtlCol="0" anchor="ctr" anchorCtr="0">
            <a:normAutofit/>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 name="Date Placeholder 3"/>
          <p:cNvSpPr>
            <a:spLocks noGrp="1"/>
          </p:cNvSpPr>
          <p:nvPr>
            <p:ph type="dt" sz="half" idx="2"/>
          </p:nvPr>
        </p:nvSpPr>
        <p:spPr>
          <a:xfrm>
            <a:off x="6248400" y="6208776"/>
            <a:ext cx="2133600" cy="365125"/>
          </a:xfrm>
          <a:prstGeom prst="rect">
            <a:avLst/>
          </a:prstGeom>
        </p:spPr>
        <p:txBody>
          <a:bodyPr vert="horz" lIns="91440" tIns="45720" rIns="91440" bIns="45720" rtlCol="0" anchor="ctr"/>
          <a:lstStyle>
            <a:lvl1pPr algn="r">
              <a:defRPr sz="1200" b="1">
                <a:solidFill>
                  <a:schemeClr val="tx2">
                    <a:lumMod val="90000"/>
                    <a:lumOff val="10000"/>
                  </a:schemeClr>
                </a:solidFill>
                <a:latin typeface="+mn-lt"/>
              </a:defRPr>
            </a:lvl1pPr>
          </a:lstStyle>
          <a:p>
            <a:fld id="{BC6F4DC3-DAAF-4E31-92EA-DA433FEF6BBA}" type="datetimeFigureOut">
              <a:rPr lang="en-US" smtClean="0"/>
              <a:t>2023/04/29</a:t>
            </a:fld>
            <a:endParaRPr lang="en-US"/>
          </a:p>
        </p:txBody>
      </p:sp>
      <p:sp>
        <p:nvSpPr>
          <p:cNvPr id="5" name="Footer Placeholder 4"/>
          <p:cNvSpPr>
            <a:spLocks noGrp="1"/>
          </p:cNvSpPr>
          <p:nvPr>
            <p:ph type="ftr" sz="quarter" idx="3"/>
          </p:nvPr>
        </p:nvSpPr>
        <p:spPr>
          <a:xfrm>
            <a:off x="761999" y="6208776"/>
            <a:ext cx="4873869" cy="365125"/>
          </a:xfrm>
          <a:prstGeom prst="rect">
            <a:avLst/>
          </a:prstGeom>
        </p:spPr>
        <p:txBody>
          <a:bodyPr vert="horz" lIns="91440" tIns="45720" rIns="91440" bIns="45720" rtlCol="0" anchor="ctr"/>
          <a:lstStyle>
            <a:lvl1pPr algn="l">
              <a:defRPr sz="1200" b="1">
                <a:solidFill>
                  <a:schemeClr val="tx2">
                    <a:lumMod val="90000"/>
                    <a:lumOff val="10000"/>
                  </a:schemeClr>
                </a:solidFill>
              </a:defRPr>
            </a:lvl1pPr>
          </a:lstStyle>
          <a:p>
            <a:endParaRPr lang="en-US"/>
          </a:p>
        </p:txBody>
      </p:sp>
      <p:sp>
        <p:nvSpPr>
          <p:cNvPr id="6" name="Slide Number Placeholder 5"/>
          <p:cNvSpPr>
            <a:spLocks noGrp="1"/>
          </p:cNvSpPr>
          <p:nvPr>
            <p:ph type="sldNum" sz="quarter" idx="4"/>
          </p:nvPr>
        </p:nvSpPr>
        <p:spPr>
          <a:xfrm>
            <a:off x="7620000" y="5687568"/>
            <a:ext cx="762000" cy="365125"/>
          </a:xfrm>
          <a:prstGeom prst="rect">
            <a:avLst/>
          </a:prstGeom>
        </p:spPr>
        <p:txBody>
          <a:bodyPr vert="horz" lIns="91440" tIns="45720" rIns="91440" bIns="45720" rtlCol="0" anchor="ctr"/>
          <a:lstStyle>
            <a:lvl1pPr algn="r">
              <a:defRPr sz="2400">
                <a:solidFill>
                  <a:schemeClr val="tx1">
                    <a:lumMod val="85000"/>
                    <a:lumOff val="15000"/>
                  </a:schemeClr>
                </a:solidFill>
                <a:latin typeface="+mj-lt"/>
              </a:defRPr>
            </a:lvl1pPr>
          </a:lstStyle>
          <a:p>
            <a:fld id="{D2A422C1-7D45-4745-A57A-D0F50D9496C0}" type="slidenum">
              <a:rPr lang="en-US" smtClean="0"/>
              <a:t>‹#›</a:t>
            </a:fld>
            <a:endParaRPr lang="en-US"/>
          </a:p>
        </p:txBody>
      </p:sp>
      <p:sp>
        <p:nvSpPr>
          <p:cNvPr id="8" name="Rectangle 7"/>
          <p:cNvSpPr/>
          <p:nvPr/>
        </p:nvSpPr>
        <p:spPr>
          <a:xfrm>
            <a:off x="777240" y="0"/>
            <a:ext cx="7543800" cy="381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p:cNvSpPr/>
          <p:nvPr/>
        </p:nvSpPr>
        <p:spPr>
          <a:xfrm>
            <a:off x="777240" y="6172200"/>
            <a:ext cx="7543800" cy="2743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r" defTabSz="914400" rtl="1" eaLnBrk="1" latinLnBrk="0" hangingPunct="1">
        <a:spcBef>
          <a:spcPct val="0"/>
        </a:spcBef>
        <a:buNone/>
        <a:defRPr sz="54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74320" indent="-274320" algn="r" defTabSz="914400" rtl="1" eaLnBrk="1" latinLnBrk="0" hangingPunct="1">
        <a:spcBef>
          <a:spcPct val="20000"/>
        </a:spcBef>
        <a:buClr>
          <a:schemeClr val="accent1"/>
        </a:buClr>
        <a:buFont typeface="Arial" pitchFamily="34" charset="0"/>
        <a:buChar char="•"/>
        <a:defRPr sz="2400" kern="1200">
          <a:solidFill>
            <a:schemeClr val="tx2"/>
          </a:solidFill>
          <a:latin typeface="+mn-lt"/>
          <a:ea typeface="+mn-ea"/>
          <a:cs typeface="+mn-cs"/>
        </a:defRPr>
      </a:lvl1pPr>
      <a:lvl2pPr marL="594360" indent="-274320" algn="r" defTabSz="914400" rtl="1" eaLnBrk="1" latinLnBrk="0" hangingPunct="1">
        <a:spcBef>
          <a:spcPct val="20000"/>
        </a:spcBef>
        <a:buClr>
          <a:schemeClr val="accent1"/>
        </a:buClr>
        <a:buFont typeface="Arial" pitchFamily="34" charset="0"/>
        <a:buChar char="•"/>
        <a:defRPr sz="2200" kern="1200">
          <a:solidFill>
            <a:schemeClr val="tx2"/>
          </a:solidFill>
          <a:latin typeface="+mn-lt"/>
          <a:ea typeface="+mn-ea"/>
          <a:cs typeface="+mn-cs"/>
        </a:defRPr>
      </a:lvl2pPr>
      <a:lvl3pPr marL="868680" indent="-228600" algn="r" defTabSz="914400" rtl="1" eaLnBrk="1" latinLnBrk="0" hangingPunct="1">
        <a:spcBef>
          <a:spcPct val="20000"/>
        </a:spcBef>
        <a:buClr>
          <a:schemeClr val="accent1"/>
        </a:buClr>
        <a:buFont typeface="Arial" pitchFamily="34" charset="0"/>
        <a:buChar char="•"/>
        <a:defRPr sz="2000" kern="1200">
          <a:solidFill>
            <a:schemeClr val="tx2"/>
          </a:solidFill>
          <a:latin typeface="+mn-lt"/>
          <a:ea typeface="+mn-ea"/>
          <a:cs typeface="+mn-cs"/>
        </a:defRPr>
      </a:lvl3pPr>
      <a:lvl4pPr marL="1143000" indent="-228600" algn="r" defTabSz="914400" rtl="1" eaLnBrk="1" latinLnBrk="0" hangingPunct="1">
        <a:spcBef>
          <a:spcPct val="20000"/>
        </a:spcBef>
        <a:buClr>
          <a:schemeClr val="accent1"/>
        </a:buClr>
        <a:buFont typeface="Arial" pitchFamily="34" charset="0"/>
        <a:buChar char="•"/>
        <a:defRPr sz="1800" kern="1200">
          <a:solidFill>
            <a:schemeClr val="tx2"/>
          </a:solidFill>
          <a:latin typeface="+mn-lt"/>
          <a:ea typeface="+mn-ea"/>
          <a:cs typeface="+mn-cs"/>
        </a:defRPr>
      </a:lvl4pPr>
      <a:lvl5pPr marL="1371600" indent="-228600" algn="r" defTabSz="914400" rtl="1" eaLnBrk="1" latinLnBrk="0" hangingPunct="1">
        <a:spcBef>
          <a:spcPct val="20000"/>
        </a:spcBef>
        <a:buClr>
          <a:schemeClr val="accent1"/>
        </a:buClr>
        <a:buFont typeface="Arial" pitchFamily="34" charset="0"/>
        <a:buChar char="•"/>
        <a:defRPr sz="1800" kern="1200" baseline="0">
          <a:solidFill>
            <a:schemeClr val="tx2"/>
          </a:solidFill>
          <a:latin typeface="+mn-lt"/>
          <a:ea typeface="+mn-ea"/>
          <a:cs typeface="+mn-cs"/>
        </a:defRPr>
      </a:lvl5pPr>
      <a:lvl6pPr marL="1645920" indent="-228600" algn="l" defTabSz="914400" rtl="0" eaLnBrk="1" latinLnBrk="0" hangingPunct="1">
        <a:spcBef>
          <a:spcPct val="20000"/>
        </a:spcBef>
        <a:buClr>
          <a:schemeClr val="accent1"/>
        </a:buClr>
        <a:buFont typeface="Arial" pitchFamily="34" charset="0"/>
        <a:buChar char="•"/>
        <a:defRPr sz="1600" kern="1200">
          <a:solidFill>
            <a:schemeClr val="tx2"/>
          </a:solidFill>
          <a:latin typeface="+mn-lt"/>
          <a:ea typeface="+mn-ea"/>
          <a:cs typeface="+mn-cs"/>
        </a:defRPr>
      </a:lvl6pPr>
      <a:lvl7pPr marL="1901952" indent="-228600" algn="l" defTabSz="914400" rtl="0" eaLnBrk="1" latinLnBrk="0" hangingPunct="1">
        <a:spcBef>
          <a:spcPct val="20000"/>
        </a:spcBef>
        <a:buClr>
          <a:schemeClr val="accent1"/>
        </a:buClr>
        <a:buFont typeface="Arial" pitchFamily="34" charset="0"/>
        <a:buChar char="•"/>
        <a:defRPr sz="1600" kern="1200">
          <a:solidFill>
            <a:schemeClr val="tx2"/>
          </a:solidFill>
          <a:latin typeface="+mn-lt"/>
          <a:ea typeface="+mn-ea"/>
          <a:cs typeface="+mn-cs"/>
        </a:defRPr>
      </a:lvl7pPr>
      <a:lvl8pPr marL="2194560" indent="-228600" algn="l" defTabSz="914400" rtl="0" eaLnBrk="1" latinLnBrk="0" hangingPunct="1">
        <a:spcBef>
          <a:spcPct val="20000"/>
        </a:spcBef>
        <a:buClr>
          <a:schemeClr val="accent1"/>
        </a:buClr>
        <a:buFont typeface="Arial" pitchFamily="34" charset="0"/>
        <a:buChar char="•"/>
        <a:defRPr sz="1600" kern="1200">
          <a:solidFill>
            <a:schemeClr val="tx2"/>
          </a:solidFill>
          <a:latin typeface="+mn-lt"/>
          <a:ea typeface="+mn-ea"/>
          <a:cs typeface="+mn-cs"/>
        </a:defRPr>
      </a:lvl8pPr>
      <a:lvl9pPr marL="2468880" indent="-228600" algn="l" defTabSz="914400" rtl="0" eaLnBrk="1" latinLnBrk="0" hangingPunct="1">
        <a:spcBef>
          <a:spcPct val="20000"/>
        </a:spcBef>
        <a:buClr>
          <a:schemeClr val="accent1"/>
        </a:buClr>
        <a:buFont typeface="Arial" pitchFamily="34" charset="0"/>
        <a:buChar char="•"/>
        <a:defRPr sz="1600" kern="1200">
          <a:solidFill>
            <a:schemeClr val="tx2"/>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4.gif"/><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5.gif"/><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755576" y="3068960"/>
            <a:ext cx="7543800" cy="1524000"/>
          </a:xfrm>
        </p:spPr>
        <p:txBody>
          <a:bodyPr/>
          <a:lstStyle/>
          <a:p>
            <a:r>
              <a:rPr lang="fa-IR" sz="5400" dirty="0" smtClean="0">
                <a:cs typeface="B Nasim" panose="00000700000000000000" pitchFamily="2" charset="-78"/>
              </a:rPr>
              <a:t>اصول طراحی نرم افزار</a:t>
            </a:r>
            <a:endParaRPr lang="en-US" sz="5400" dirty="0">
              <a:cs typeface="B Nasim" panose="00000700000000000000" pitchFamily="2" charset="-78"/>
            </a:endParaRPr>
          </a:p>
        </p:txBody>
      </p:sp>
      <p:sp>
        <p:nvSpPr>
          <p:cNvPr id="3" name="Subtitle 2"/>
          <p:cNvSpPr>
            <a:spLocks noGrp="1"/>
          </p:cNvSpPr>
          <p:nvPr>
            <p:ph type="subTitle" idx="1"/>
          </p:nvPr>
        </p:nvSpPr>
        <p:spPr/>
        <p:txBody>
          <a:bodyPr>
            <a:normAutofit lnSpcReduction="10000"/>
          </a:bodyPr>
          <a:lstStyle/>
          <a:p>
            <a:r>
              <a:rPr lang="fa-IR" dirty="0" smtClean="0">
                <a:cs typeface="B Nazanin" panose="00000400000000000000" pitchFamily="2" charset="-78"/>
              </a:rPr>
              <a:t>احسان علیرضایی – بهار 1402</a:t>
            </a:r>
          </a:p>
          <a:p>
            <a:r>
              <a:rPr lang="fa-IR" dirty="0" smtClean="0">
                <a:cs typeface="B Nazanin" panose="00000400000000000000" pitchFamily="2" charset="-78"/>
              </a:rPr>
              <a:t>مهندسی نرم‌افزار 1- امیرکبیر</a:t>
            </a:r>
            <a:endParaRPr lang="en-US" dirty="0">
              <a:cs typeface="B Nazanin" panose="00000400000000000000" pitchFamily="2" charset="-78"/>
            </a:endParaRPr>
          </a:p>
        </p:txBody>
      </p:sp>
      <p:pic>
        <p:nvPicPr>
          <p:cNvPr id="1031" name="Picture 7" descr="C:\Users\e.alirezaei\Desktop\shutterstock_116237596.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55576" y="0"/>
            <a:ext cx="7632848" cy="306896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1323026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descr="C:\Users\e.alirezaei\Desktop\1622822437400.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5670" y="3212976"/>
            <a:ext cx="4757051" cy="2437358"/>
          </a:xfrm>
          <a:prstGeom prst="rect">
            <a:avLst/>
          </a:prstGeom>
          <a:ln>
            <a:noFill/>
          </a:ln>
          <a:effectLst>
            <a:softEdge rad="112500"/>
          </a:effectLst>
          <a:extLst>
            <a:ext uri="{909E8E84-426E-40DD-AFC4-6F175D3DCCD1}">
              <a14:hiddenFill xmlns:a14="http://schemas.microsoft.com/office/drawing/2010/main">
                <a:solidFill>
                  <a:srgbClr val="FFFFFF"/>
                </a:solidFill>
              </a14:hiddenFill>
            </a:ext>
          </a:extLst>
        </p:spPr>
      </p:pic>
      <p:sp>
        <p:nvSpPr>
          <p:cNvPr id="2" name="Title 1"/>
          <p:cNvSpPr>
            <a:spLocks noGrp="1"/>
          </p:cNvSpPr>
          <p:nvPr>
            <p:ph type="title"/>
          </p:nvPr>
        </p:nvSpPr>
        <p:spPr/>
        <p:txBody>
          <a:bodyPr/>
          <a:lstStyle/>
          <a:p>
            <a:r>
              <a:rPr lang="fa-IR" dirty="0" smtClean="0"/>
              <a:t>تعریف طراحی</a:t>
            </a:r>
            <a:endParaRPr lang="en-US" dirty="0"/>
          </a:p>
        </p:txBody>
      </p:sp>
      <p:sp>
        <p:nvSpPr>
          <p:cNvPr id="3" name="Content Placeholder 2"/>
          <p:cNvSpPr>
            <a:spLocks noGrp="1"/>
          </p:cNvSpPr>
          <p:nvPr>
            <p:ph idx="1"/>
          </p:nvPr>
        </p:nvSpPr>
        <p:spPr/>
        <p:txBody>
          <a:bodyPr/>
          <a:lstStyle/>
          <a:p>
            <a:pPr algn="just"/>
            <a:r>
              <a:rPr lang="fa-IR" dirty="0" smtClean="0">
                <a:cs typeface="B Nazanin" panose="00000400000000000000" pitchFamily="2" charset="-78"/>
              </a:rPr>
              <a:t>طراحی نرم افزار </a:t>
            </a:r>
            <a:r>
              <a:rPr lang="fa-IR" dirty="0">
                <a:cs typeface="B Nazanin" panose="00000400000000000000" pitchFamily="2" charset="-78"/>
              </a:rPr>
              <a:t>فرایندی است که </a:t>
            </a:r>
            <a:r>
              <a:rPr lang="fa-IR" dirty="0" smtClean="0">
                <a:cs typeface="B Nazanin" panose="00000400000000000000" pitchFamily="2" charset="-78"/>
              </a:rPr>
              <a:t>طی آن ، مشخصات از پیش تعیین شده نرم‌افزار در نیازمندی‌های سیستم، برای رسیدن به هدف معین توسط یک عامل (انسان یا سیستم) ، مصنوعاتی را در شکل اجزای اولیه نرم‌افزاری بیان می‌کنند  که این اجزا قادر به نمایش ساختار و رفتار سیستم هستند. یک طراحی خوب لازم است که ویژگی‌های زیر را داشته باشد:</a:t>
            </a:r>
          </a:p>
          <a:p>
            <a:pPr lvl="1" algn="just"/>
            <a:r>
              <a:rPr lang="fa-IR" dirty="0" smtClean="0">
                <a:cs typeface="B Nazanin" panose="00000400000000000000" pitchFamily="2" charset="-78"/>
              </a:rPr>
              <a:t>لذت‌بخش در استفاده</a:t>
            </a:r>
          </a:p>
          <a:p>
            <a:pPr lvl="1" algn="just"/>
            <a:r>
              <a:rPr lang="fa-IR" dirty="0" smtClean="0">
                <a:cs typeface="B Nazanin" panose="00000400000000000000" pitchFamily="2" charset="-78"/>
              </a:rPr>
              <a:t>مستحکم با نداشتن ایراد</a:t>
            </a:r>
          </a:p>
          <a:p>
            <a:pPr lvl="1" algn="just"/>
            <a:r>
              <a:rPr lang="fa-IR" dirty="0" smtClean="0">
                <a:cs typeface="B Nazanin" panose="00000400000000000000" pitchFamily="2" charset="-78"/>
              </a:rPr>
              <a:t>مناسب برای هدف تعیین شده</a:t>
            </a:r>
            <a:endParaRPr lang="en-US" dirty="0">
              <a:cs typeface="B Nazanin" panose="00000400000000000000" pitchFamily="2" charset="-78"/>
            </a:endParaRPr>
          </a:p>
        </p:txBody>
      </p:sp>
    </p:spTree>
    <p:extLst>
      <p:ext uri="{BB962C8B-B14F-4D97-AF65-F5344CB8AC3E}">
        <p14:creationId xmlns:p14="http://schemas.microsoft.com/office/powerpoint/2010/main" val="141557885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a-IR" dirty="0" smtClean="0"/>
              <a:t>طراحی نرم افزار</a:t>
            </a:r>
            <a:endParaRPr lang="en-US" dirty="0"/>
          </a:p>
        </p:txBody>
      </p:sp>
      <p:sp>
        <p:nvSpPr>
          <p:cNvPr id="3" name="Content Placeholder 2"/>
          <p:cNvSpPr>
            <a:spLocks noGrp="1"/>
          </p:cNvSpPr>
          <p:nvPr>
            <p:ph idx="1"/>
          </p:nvPr>
        </p:nvSpPr>
        <p:spPr>
          <a:xfrm>
            <a:off x="762000" y="685800"/>
            <a:ext cx="7543800" cy="4399384"/>
          </a:xfrm>
        </p:spPr>
        <p:txBody>
          <a:bodyPr>
            <a:normAutofit fontScale="92500" lnSpcReduction="10000"/>
          </a:bodyPr>
          <a:lstStyle/>
          <a:p>
            <a:pPr algn="just"/>
            <a:r>
              <a:rPr lang="fa-IR" dirty="0" smtClean="0">
                <a:cs typeface="B Nazanin" panose="00000400000000000000" pitchFamily="2" charset="-78"/>
              </a:rPr>
              <a:t>طراحی شامل </a:t>
            </a:r>
            <a:r>
              <a:rPr lang="fa-IR" dirty="0">
                <a:cs typeface="B Nazanin" panose="00000400000000000000" pitchFamily="2" charset="-78"/>
              </a:rPr>
              <a:t>مجموعه ای از اصول، مفاهیم و شیوه هایی است که منجر به توسعه یک سیستم یا محصول با کیفیت بالا می شود. </a:t>
            </a:r>
            <a:endParaRPr lang="fa-IR" dirty="0" smtClean="0">
              <a:cs typeface="B Nazanin" panose="00000400000000000000" pitchFamily="2" charset="-78"/>
            </a:endParaRPr>
          </a:p>
          <a:p>
            <a:pPr algn="just"/>
            <a:r>
              <a:rPr lang="fa-IR" dirty="0" smtClean="0">
                <a:cs typeface="B Nazanin" panose="00000400000000000000" pitchFamily="2" charset="-78"/>
              </a:rPr>
              <a:t>اصول </a:t>
            </a:r>
            <a:r>
              <a:rPr lang="fa-IR" dirty="0">
                <a:cs typeface="B Nazanin" panose="00000400000000000000" pitchFamily="2" charset="-78"/>
              </a:rPr>
              <a:t>طراحی، فلسفه ای را ایجاد می کند که در حین انجام کار، طراح را راهنمایی می </a:t>
            </a:r>
            <a:r>
              <a:rPr lang="fa-IR" dirty="0" smtClean="0">
                <a:cs typeface="B Nazanin" panose="00000400000000000000" pitchFamily="2" charset="-78"/>
              </a:rPr>
              <a:t>کند</a:t>
            </a:r>
          </a:p>
          <a:p>
            <a:pPr algn="just"/>
            <a:r>
              <a:rPr lang="fa-IR" dirty="0" smtClean="0">
                <a:cs typeface="B Nazanin" panose="00000400000000000000" pitchFamily="2" charset="-78"/>
              </a:rPr>
              <a:t>با </a:t>
            </a:r>
            <a:r>
              <a:rPr lang="fa-IR" dirty="0">
                <a:cs typeface="B Nazanin" panose="00000400000000000000" pitchFamily="2" charset="-78"/>
              </a:rPr>
              <a:t>تکامل روش‌های </a:t>
            </a:r>
            <a:r>
              <a:rPr lang="fa-IR" dirty="0" smtClean="0">
                <a:cs typeface="B Nazanin" panose="00000400000000000000" pitchFamily="2" charset="-78"/>
              </a:rPr>
              <a:t>جدید، </a:t>
            </a:r>
            <a:r>
              <a:rPr lang="fa-IR" dirty="0">
                <a:cs typeface="B Nazanin" panose="00000400000000000000" pitchFamily="2" charset="-78"/>
              </a:rPr>
              <a:t>تجزیه و تحلیل بهتر و درک </a:t>
            </a:r>
            <a:r>
              <a:rPr lang="fa-IR" dirty="0" smtClean="0">
                <a:cs typeface="B Nazanin" panose="00000400000000000000" pitchFamily="2" charset="-78"/>
              </a:rPr>
              <a:t>گسترده‌تر از موضوعات، </a:t>
            </a:r>
            <a:r>
              <a:rPr lang="fa-IR" dirty="0">
                <a:cs typeface="B Nazanin" panose="00000400000000000000" pitchFamily="2" charset="-78"/>
              </a:rPr>
              <a:t>شیوه‌های طراحی نرم‌افزار </a:t>
            </a:r>
            <a:r>
              <a:rPr lang="fa-IR" dirty="0" smtClean="0">
                <a:cs typeface="B Nazanin" panose="00000400000000000000" pitchFamily="2" charset="-78"/>
              </a:rPr>
              <a:t>پیوسته </a:t>
            </a:r>
            <a:r>
              <a:rPr lang="fa-IR" dirty="0">
                <a:cs typeface="B Nazanin" panose="00000400000000000000" pitchFamily="2" charset="-78"/>
              </a:rPr>
              <a:t>تغییر می‌کنند </a:t>
            </a:r>
            <a:r>
              <a:rPr lang="fa-IR" dirty="0" smtClean="0">
                <a:cs typeface="B Nazanin" panose="00000400000000000000" pitchFamily="2" charset="-78"/>
              </a:rPr>
              <a:t>.</a:t>
            </a:r>
          </a:p>
          <a:p>
            <a:pPr lvl="1" algn="just"/>
            <a:r>
              <a:rPr lang="fa-IR" dirty="0">
                <a:solidFill>
                  <a:srgbClr val="FF0000"/>
                </a:solidFill>
                <a:cs typeface="Nazanin" panose="00000400000000000000" pitchFamily="2" charset="-78"/>
              </a:rPr>
              <a:t>طراحی داده/کلاس </a:t>
            </a:r>
            <a:r>
              <a:rPr lang="fa-IR" dirty="0" smtClean="0">
                <a:solidFill>
                  <a:srgbClr val="FF0000"/>
                </a:solidFill>
                <a:cs typeface="Nazanin" panose="00000400000000000000" pitchFamily="2" charset="-78"/>
              </a:rPr>
              <a:t>– بخش‌های تحلیلی </a:t>
            </a:r>
            <a:r>
              <a:rPr lang="fa-IR" dirty="0">
                <a:solidFill>
                  <a:srgbClr val="FF0000"/>
                </a:solidFill>
                <a:cs typeface="Nazanin" panose="00000400000000000000" pitchFamily="2" charset="-78"/>
              </a:rPr>
              <a:t>را به کلاس های پیاده سازی و ساختارهای داده تبدیل می کند </a:t>
            </a:r>
            <a:endParaRPr lang="fa-IR" dirty="0" smtClean="0">
              <a:solidFill>
                <a:srgbClr val="FF0000"/>
              </a:solidFill>
              <a:cs typeface="Nazanin" panose="00000400000000000000" pitchFamily="2" charset="-78"/>
            </a:endParaRPr>
          </a:p>
          <a:p>
            <a:pPr lvl="1" algn="just"/>
            <a:r>
              <a:rPr lang="fa-IR" dirty="0" smtClean="0">
                <a:solidFill>
                  <a:srgbClr val="FF0000"/>
                </a:solidFill>
                <a:cs typeface="Nazanin" panose="00000400000000000000" pitchFamily="2" charset="-78"/>
              </a:rPr>
              <a:t>طراحی </a:t>
            </a:r>
            <a:r>
              <a:rPr lang="fa-IR" dirty="0">
                <a:solidFill>
                  <a:srgbClr val="FF0000"/>
                </a:solidFill>
                <a:cs typeface="Nazanin" panose="00000400000000000000" pitchFamily="2" charset="-78"/>
              </a:rPr>
              <a:t>معماری - روابط بین عناصر اصلی ساختاری نرم افزار را تعریف می کند طراحی رابط – نحوه ارتباط عناصر نرم افزاری، عناصر سخت افزاری و کاربران نهایی را مشخص می کند </a:t>
            </a:r>
            <a:endParaRPr lang="fa-IR" dirty="0" smtClean="0">
              <a:solidFill>
                <a:srgbClr val="FF0000"/>
              </a:solidFill>
              <a:cs typeface="Nazanin" panose="00000400000000000000" pitchFamily="2" charset="-78"/>
            </a:endParaRPr>
          </a:p>
          <a:p>
            <a:pPr lvl="1" algn="just"/>
            <a:r>
              <a:rPr lang="fa-IR" dirty="0" smtClean="0">
                <a:solidFill>
                  <a:srgbClr val="FF0000"/>
                </a:solidFill>
                <a:cs typeface="Nazanin" panose="00000400000000000000" pitchFamily="2" charset="-78"/>
              </a:rPr>
              <a:t>طراحی </a:t>
            </a:r>
            <a:r>
              <a:rPr lang="fa-IR" dirty="0">
                <a:solidFill>
                  <a:srgbClr val="FF0000"/>
                </a:solidFill>
                <a:cs typeface="Nazanin" panose="00000400000000000000" pitchFamily="2" charset="-78"/>
              </a:rPr>
              <a:t>در سطح مؤلفه - عناصر ساختاری را به توضیحات رویه ای اجزای نرم افزار تبدیل می کند</a:t>
            </a:r>
            <a:endParaRPr lang="en-US" dirty="0">
              <a:solidFill>
                <a:srgbClr val="FF0000"/>
              </a:solidFill>
              <a:cs typeface="Nazanin" panose="00000400000000000000" pitchFamily="2" charset="-78"/>
            </a:endParaRPr>
          </a:p>
        </p:txBody>
      </p:sp>
    </p:spTree>
    <p:extLst>
      <p:ext uri="{BB962C8B-B14F-4D97-AF65-F5344CB8AC3E}">
        <p14:creationId xmlns:p14="http://schemas.microsoft.com/office/powerpoint/2010/main" val="161421596"/>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fa-IR" dirty="0" smtClean="0"/>
              <a:t>انتقال از مدل تحلیل به طراحی</a:t>
            </a:r>
            <a:endParaRPr lang="en-US" dirty="0"/>
          </a:p>
        </p:txBody>
      </p:sp>
      <p:sp>
        <p:nvSpPr>
          <p:cNvPr id="3" name="Content Placeholder 2"/>
          <p:cNvSpPr>
            <a:spLocks noGrp="1"/>
          </p:cNvSpPr>
          <p:nvPr>
            <p:ph idx="1"/>
          </p:nvPr>
        </p:nvSpPr>
        <p:spPr/>
        <p:txBody>
          <a:bodyPr/>
          <a:lstStyle/>
          <a:p>
            <a:endParaRPr lang="en-US" dirty="0"/>
          </a:p>
        </p:txBody>
      </p:sp>
      <p:pic>
        <p:nvPicPr>
          <p:cNvPr id="2050" name="Picture 2" descr="C:\Users\e.alirezaei\Desktop\Software-design_clip_image002.gif"/>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71600" y="620688"/>
            <a:ext cx="6698730" cy="412191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90313425"/>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a-IR" dirty="0" smtClean="0"/>
              <a:t>طراحی و کیفیت</a:t>
            </a:r>
            <a:endParaRPr lang="en-US" dirty="0"/>
          </a:p>
        </p:txBody>
      </p:sp>
      <p:sp>
        <p:nvSpPr>
          <p:cNvPr id="3" name="Content Placeholder 2"/>
          <p:cNvSpPr>
            <a:spLocks noGrp="1"/>
          </p:cNvSpPr>
          <p:nvPr>
            <p:ph idx="1"/>
          </p:nvPr>
        </p:nvSpPr>
        <p:spPr>
          <a:xfrm>
            <a:off x="762000" y="685800"/>
            <a:ext cx="7543800" cy="4327376"/>
          </a:xfrm>
        </p:spPr>
        <p:txBody>
          <a:bodyPr>
            <a:normAutofit fontScale="77500" lnSpcReduction="20000"/>
          </a:bodyPr>
          <a:lstStyle/>
          <a:p>
            <a:pPr algn="just"/>
            <a:r>
              <a:rPr lang="fa-IR" dirty="0" smtClean="0">
                <a:cs typeface="B Nazanin" panose="00000400000000000000" pitchFamily="2" charset="-78"/>
              </a:rPr>
              <a:t>یک طرح </a:t>
            </a:r>
            <a:r>
              <a:rPr lang="fa-IR" dirty="0">
                <a:cs typeface="B Nazanin" panose="00000400000000000000" pitchFamily="2" charset="-78"/>
              </a:rPr>
              <a:t>باید تمام الزامات صریح موجود در مدل تحلیل را اجرا کند </a:t>
            </a:r>
            <a:r>
              <a:rPr lang="fa-IR" dirty="0" smtClean="0">
                <a:cs typeface="B Nazanin" panose="00000400000000000000" pitchFamily="2" charset="-78"/>
              </a:rPr>
              <a:t>که شامل الزامات </a:t>
            </a:r>
            <a:r>
              <a:rPr lang="fa-IR" dirty="0">
                <a:cs typeface="B Nazanin" panose="00000400000000000000" pitchFamily="2" charset="-78"/>
              </a:rPr>
              <a:t>ضمنی مورد نظر مشتری </a:t>
            </a:r>
            <a:r>
              <a:rPr lang="fa-IR" dirty="0" smtClean="0">
                <a:cs typeface="B Nazanin" panose="00000400000000000000" pitchFamily="2" charset="-78"/>
              </a:rPr>
              <a:t>است. </a:t>
            </a:r>
            <a:r>
              <a:rPr lang="fa-IR" dirty="0">
                <a:cs typeface="B Nazanin" panose="00000400000000000000" pitchFamily="2" charset="-78"/>
              </a:rPr>
              <a:t>طراحی </a:t>
            </a:r>
            <a:r>
              <a:rPr lang="fa-IR" dirty="0" smtClean="0">
                <a:cs typeface="B Nazanin" panose="00000400000000000000" pitchFamily="2" charset="-78"/>
              </a:rPr>
              <a:t>برای کدنویسان، آزمون‌کنندگان و تیم‌پشتیبانی قابل </a:t>
            </a:r>
            <a:r>
              <a:rPr lang="fa-IR" dirty="0">
                <a:cs typeface="B Nazanin" panose="00000400000000000000" pitchFamily="2" charset="-78"/>
              </a:rPr>
              <a:t>خواندن و </a:t>
            </a:r>
            <a:r>
              <a:rPr lang="fa-IR" dirty="0" smtClean="0">
                <a:cs typeface="B Nazanin" panose="00000400000000000000" pitchFamily="2" charset="-78"/>
              </a:rPr>
              <a:t>درک </a:t>
            </a:r>
            <a:r>
              <a:rPr lang="fa-IR" dirty="0">
                <a:cs typeface="B Nazanin" panose="00000400000000000000" pitchFamily="2" charset="-78"/>
              </a:rPr>
              <a:t>باشد. </a:t>
            </a:r>
            <a:r>
              <a:rPr lang="fa-IR" dirty="0" smtClean="0">
                <a:cs typeface="B Nazanin" panose="00000400000000000000" pitchFamily="2" charset="-78"/>
              </a:rPr>
              <a:t>طراحی خوب </a:t>
            </a:r>
            <a:r>
              <a:rPr lang="fa-IR" dirty="0">
                <a:cs typeface="B Nazanin" panose="00000400000000000000" pitchFamily="2" charset="-78"/>
              </a:rPr>
              <a:t>باید تصویر کاملی از نرم افزار ارائه دهد که از منظر پیاده سازی به حوزه های داده، عملکردی و رفتاری </a:t>
            </a:r>
            <a:r>
              <a:rPr lang="fa-IR" dirty="0" smtClean="0">
                <a:cs typeface="B Nazanin" panose="00000400000000000000" pitchFamily="2" charset="-78"/>
              </a:rPr>
              <a:t>بپردازد.</a:t>
            </a:r>
          </a:p>
          <a:p>
            <a:pPr algn="just"/>
            <a:r>
              <a:rPr lang="fa-IR" dirty="0" smtClean="0">
                <a:cs typeface="B Nazanin" panose="00000400000000000000" pitchFamily="2" charset="-78"/>
              </a:rPr>
              <a:t>یک طرح باید معماری را (1) با استفاده از سبک ها یا الگوهای قابل تشخیص ایجاد نماید، (2) از اجزایی تشکیل شودکه ویژگی های طراحی خوب را نشان دهد و (3) به شیوه ای تکاملی اجرا شود. </a:t>
            </a:r>
          </a:p>
          <a:p>
            <a:pPr algn="just"/>
            <a:r>
              <a:rPr lang="fa-IR" dirty="0" smtClean="0">
                <a:cs typeface="B Nazanin" panose="00000400000000000000" pitchFamily="2" charset="-78"/>
              </a:rPr>
              <a:t>یک طرح باید مدولار باشد. یعنی نرم افزار باید به صورت منطقی به عناصر یا زیر سیستم ها تقسیم شود </a:t>
            </a:r>
          </a:p>
          <a:p>
            <a:pPr algn="just"/>
            <a:r>
              <a:rPr lang="fa-IR" dirty="0" smtClean="0">
                <a:cs typeface="B Nazanin" panose="00000400000000000000" pitchFamily="2" charset="-78"/>
              </a:rPr>
              <a:t>یک طرح باید شامل نمایش های متمایز از داده ها، معماری، رابط ها و اجزا باشد. </a:t>
            </a:r>
          </a:p>
          <a:p>
            <a:pPr algn="just"/>
            <a:r>
              <a:rPr lang="fa-IR" dirty="0" smtClean="0">
                <a:cs typeface="B Nazanin" panose="00000400000000000000" pitchFamily="2" charset="-78"/>
              </a:rPr>
              <a:t>یک طرح باید به ساختارهای داده ای منتهی شود با کلاس های آن پیاده سازی شوند </a:t>
            </a:r>
          </a:p>
          <a:p>
            <a:pPr algn="just"/>
            <a:r>
              <a:rPr lang="fa-IR" dirty="0" smtClean="0">
                <a:cs typeface="B Nazanin" panose="00000400000000000000" pitchFamily="2" charset="-78"/>
              </a:rPr>
              <a:t>یک طرح باید به اجزایی منجر شود که ویژگی‌های عملکردی مستقلی را نشان می‌دهند. </a:t>
            </a:r>
          </a:p>
          <a:p>
            <a:pPr algn="just"/>
            <a:r>
              <a:rPr lang="fa-IR" dirty="0" smtClean="0">
                <a:cs typeface="B Nazanin" panose="00000400000000000000" pitchFamily="2" charset="-78"/>
              </a:rPr>
              <a:t>یک طرح باید به رابط هایی منجر شود که پیچیدگی اتصالات بین اجزا و با محیط خارجی را کاهش دهد.</a:t>
            </a:r>
          </a:p>
          <a:p>
            <a:pPr algn="just"/>
            <a:r>
              <a:rPr lang="fa-IR" dirty="0" smtClean="0">
                <a:cs typeface="B Nazanin" panose="00000400000000000000" pitchFamily="2" charset="-78"/>
              </a:rPr>
              <a:t>یک طرح باید با استفاده از یک روش تکرارپذیر با اطلاعات تحلیل نیازمندی های هدایت شود. </a:t>
            </a:r>
          </a:p>
          <a:p>
            <a:pPr algn="just"/>
            <a:r>
              <a:rPr lang="fa-IR" dirty="0" smtClean="0">
                <a:cs typeface="B Nazanin" panose="00000400000000000000" pitchFamily="2" charset="-78"/>
              </a:rPr>
              <a:t>یک طرح باید با استفاده از نشانه‌هایی نمایش داده شود که به طور موثر معنای آن را منتقل کند.</a:t>
            </a:r>
            <a:endParaRPr lang="en-US" dirty="0">
              <a:cs typeface="B Nazanin" panose="00000400000000000000" pitchFamily="2" charset="-78"/>
            </a:endParaRPr>
          </a:p>
        </p:txBody>
      </p:sp>
    </p:spTree>
    <p:extLst>
      <p:ext uri="{BB962C8B-B14F-4D97-AF65-F5344CB8AC3E}">
        <p14:creationId xmlns:p14="http://schemas.microsoft.com/office/powerpoint/2010/main" val="2874680907"/>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99592" y="4581128"/>
            <a:ext cx="7429872" cy="1600200"/>
          </a:xfrm>
        </p:spPr>
        <p:txBody>
          <a:bodyPr>
            <a:normAutofit/>
          </a:bodyPr>
          <a:lstStyle/>
          <a:p>
            <a:r>
              <a:rPr lang="fa-IR" dirty="0"/>
              <a:t>خصوصيات </a:t>
            </a:r>
            <a:r>
              <a:rPr lang="fa-IR" dirty="0" smtClean="0"/>
              <a:t>كيفي طراحي</a:t>
            </a:r>
            <a:endParaRPr lang="en-US" dirty="0"/>
          </a:p>
        </p:txBody>
      </p:sp>
      <p:sp>
        <p:nvSpPr>
          <p:cNvPr id="3" name="Content Placeholder 2"/>
          <p:cNvSpPr>
            <a:spLocks noGrp="1"/>
          </p:cNvSpPr>
          <p:nvPr>
            <p:ph idx="1"/>
          </p:nvPr>
        </p:nvSpPr>
        <p:spPr>
          <a:xfrm>
            <a:off x="762000" y="685800"/>
            <a:ext cx="7543800" cy="3967336"/>
          </a:xfrm>
        </p:spPr>
        <p:txBody>
          <a:bodyPr>
            <a:normAutofit lnSpcReduction="10000"/>
          </a:bodyPr>
          <a:lstStyle/>
          <a:p>
            <a:pPr fontAlgn="base"/>
            <a:r>
              <a:rPr lang="fa-IR" dirty="0">
                <a:cs typeface="B Nazanin" panose="00000400000000000000" pitchFamily="2" charset="-78"/>
              </a:rPr>
              <a:t>عملكرد </a:t>
            </a:r>
            <a:r>
              <a:rPr lang="fa-IR" dirty="0" smtClean="0">
                <a:cs typeface="B Nazanin" panose="00000400000000000000" pitchFamily="2" charset="-78"/>
              </a:rPr>
              <a:t>: اين </a:t>
            </a:r>
            <a:r>
              <a:rPr lang="fa-IR" dirty="0">
                <a:cs typeface="B Nazanin" panose="00000400000000000000" pitchFamily="2" charset="-78"/>
              </a:rPr>
              <a:t>خصوصيت با توجه به امكانات و توانايي نرم افزار طراحي شده و همچينين امنيت </a:t>
            </a:r>
            <a:r>
              <a:rPr lang="fa-IR" dirty="0" smtClean="0">
                <a:cs typeface="B Nazanin" panose="00000400000000000000" pitchFamily="2" charset="-78"/>
              </a:rPr>
              <a:t>مربوط </a:t>
            </a:r>
            <a:r>
              <a:rPr lang="fa-IR" dirty="0">
                <a:cs typeface="B Nazanin" panose="00000400000000000000" pitchFamily="2" charset="-78"/>
              </a:rPr>
              <a:t>به آنها ارزيابي مي‌شود.</a:t>
            </a:r>
          </a:p>
          <a:p>
            <a:pPr fontAlgn="base"/>
            <a:r>
              <a:rPr lang="fa-IR" dirty="0">
                <a:cs typeface="B Nazanin" panose="00000400000000000000" pitchFamily="2" charset="-78"/>
              </a:rPr>
              <a:t>قابليت استفاده </a:t>
            </a:r>
            <a:r>
              <a:rPr lang="fa-IR" dirty="0" smtClean="0">
                <a:cs typeface="B Nazanin" panose="00000400000000000000" pitchFamily="2" charset="-78"/>
              </a:rPr>
              <a:t>: اين </a:t>
            </a:r>
            <a:r>
              <a:rPr lang="fa-IR" dirty="0">
                <a:cs typeface="B Nazanin" panose="00000400000000000000" pitchFamily="2" charset="-78"/>
              </a:rPr>
              <a:t>خصوصيت با در نظر گرفتن معياريهاي </a:t>
            </a:r>
            <a:r>
              <a:rPr lang="fa-IR" dirty="0" smtClean="0">
                <a:cs typeface="B Nazanin" panose="00000400000000000000" pitchFamily="2" charset="-78"/>
              </a:rPr>
              <a:t>انساني</a:t>
            </a:r>
            <a:r>
              <a:rPr lang="en-US" dirty="0" smtClean="0">
                <a:cs typeface="B Nazanin" panose="00000400000000000000" pitchFamily="2" charset="-78"/>
              </a:rPr>
              <a:t>، </a:t>
            </a:r>
            <a:r>
              <a:rPr lang="fa-IR" dirty="0">
                <a:cs typeface="B Nazanin" panose="00000400000000000000" pitchFamily="2" charset="-78"/>
              </a:rPr>
              <a:t>راهنماي نرم افزار و مستندات آن ارزيابي مي‌شود.</a:t>
            </a:r>
          </a:p>
          <a:p>
            <a:pPr fontAlgn="base"/>
            <a:r>
              <a:rPr lang="fa-IR" dirty="0">
                <a:cs typeface="B Nazanin" panose="00000400000000000000" pitchFamily="2" charset="-78"/>
              </a:rPr>
              <a:t>قابلبت اطمينان </a:t>
            </a:r>
            <a:r>
              <a:rPr lang="fa-IR" dirty="0" smtClean="0">
                <a:cs typeface="B Nazanin" panose="00000400000000000000" pitchFamily="2" charset="-78"/>
              </a:rPr>
              <a:t>: اين </a:t>
            </a:r>
            <a:r>
              <a:rPr lang="fa-IR" dirty="0">
                <a:cs typeface="B Nazanin" panose="00000400000000000000" pitchFamily="2" charset="-78"/>
              </a:rPr>
              <a:t>خصوصيت با توجه به تعدد و شدت خطا، صحت خروجي، توانايي پوشش خطا و پيش بيني پذيربودن </a:t>
            </a:r>
            <a:r>
              <a:rPr lang="fa-IR" dirty="0" smtClean="0">
                <a:cs typeface="B Nazanin" panose="00000400000000000000" pitchFamily="2" charset="-78"/>
              </a:rPr>
              <a:t>نرم </a:t>
            </a:r>
            <a:r>
              <a:rPr lang="fa-IR" dirty="0">
                <a:cs typeface="B Nazanin" panose="00000400000000000000" pitchFamily="2" charset="-78"/>
              </a:rPr>
              <a:t>افزار ارزيابي مي‌شود.</a:t>
            </a:r>
          </a:p>
          <a:p>
            <a:pPr fontAlgn="base"/>
            <a:r>
              <a:rPr lang="fa-IR" dirty="0">
                <a:cs typeface="B Nazanin" panose="00000400000000000000" pitchFamily="2" charset="-78"/>
              </a:rPr>
              <a:t>كارايي </a:t>
            </a:r>
            <a:r>
              <a:rPr lang="fa-IR" dirty="0" smtClean="0">
                <a:cs typeface="B Nazanin" panose="00000400000000000000" pitchFamily="2" charset="-78"/>
              </a:rPr>
              <a:t>: اين </a:t>
            </a:r>
            <a:r>
              <a:rPr lang="fa-IR" dirty="0">
                <a:cs typeface="B Nazanin" panose="00000400000000000000" pitchFamily="2" charset="-78"/>
              </a:rPr>
              <a:t>خصوصيت كيفي با توجه به سرعت پردازش، زمان پاسخگويي، مصرف منابع، توان و كارايي سنجيده ميشود.</a:t>
            </a:r>
          </a:p>
          <a:p>
            <a:pPr fontAlgn="base"/>
            <a:r>
              <a:rPr lang="fa-IR" dirty="0">
                <a:cs typeface="B Nazanin" panose="00000400000000000000" pitchFamily="2" charset="-78"/>
              </a:rPr>
              <a:t>قابليت پشتيباني </a:t>
            </a:r>
            <a:r>
              <a:rPr lang="fa-IR" dirty="0" smtClean="0">
                <a:cs typeface="B Nazanin" panose="00000400000000000000" pitchFamily="2" charset="-78"/>
              </a:rPr>
              <a:t>: اين </a:t>
            </a:r>
            <a:r>
              <a:rPr lang="fa-IR" dirty="0">
                <a:cs typeface="B Nazanin" panose="00000400000000000000" pitchFamily="2" charset="-78"/>
              </a:rPr>
              <a:t>مورد شامل خصوصيت مختلفي از جمله: امكان توسعه قابليتهاي </a:t>
            </a:r>
            <a:r>
              <a:rPr lang="fa-IR" dirty="0" smtClean="0">
                <a:cs typeface="B Nazanin" panose="00000400000000000000" pitchFamily="2" charset="-78"/>
              </a:rPr>
              <a:t>برنامه</a:t>
            </a:r>
            <a:r>
              <a:rPr lang="en-US" dirty="0" smtClean="0">
                <a:cs typeface="B Nazanin" panose="00000400000000000000" pitchFamily="2" charset="-78"/>
              </a:rPr>
              <a:t>، </a:t>
            </a:r>
            <a:r>
              <a:rPr lang="fa-IR" dirty="0">
                <a:cs typeface="B Nazanin" panose="00000400000000000000" pitchFamily="2" charset="-78"/>
              </a:rPr>
              <a:t>قابليت تست </a:t>
            </a:r>
            <a:r>
              <a:rPr lang="fa-IR" dirty="0" smtClean="0">
                <a:cs typeface="B Nazanin" panose="00000400000000000000" pitchFamily="2" charset="-78"/>
              </a:rPr>
              <a:t>برنامه</a:t>
            </a:r>
            <a:r>
              <a:rPr lang="en-US" dirty="0" smtClean="0">
                <a:cs typeface="B Nazanin" panose="00000400000000000000" pitchFamily="2" charset="-78"/>
              </a:rPr>
              <a:t>، </a:t>
            </a:r>
            <a:r>
              <a:rPr lang="fa-IR" dirty="0" smtClean="0">
                <a:cs typeface="B Nazanin" panose="00000400000000000000" pitchFamily="2" charset="-78"/>
              </a:rPr>
              <a:t>امكان </a:t>
            </a:r>
            <a:r>
              <a:rPr lang="fa-IR" dirty="0">
                <a:cs typeface="B Nazanin" panose="00000400000000000000" pitchFamily="2" charset="-78"/>
              </a:rPr>
              <a:t>پيكربندي </a:t>
            </a:r>
            <a:r>
              <a:rPr lang="fa-IR" dirty="0" smtClean="0">
                <a:cs typeface="B Nazanin" panose="00000400000000000000" pitchFamily="2" charset="-78"/>
              </a:rPr>
              <a:t>و </a:t>
            </a:r>
            <a:r>
              <a:rPr lang="fa-IR" dirty="0">
                <a:cs typeface="B Nazanin" panose="00000400000000000000" pitchFamily="2" charset="-78"/>
              </a:rPr>
              <a:t>بومي </a:t>
            </a:r>
            <a:r>
              <a:rPr lang="fa-IR" dirty="0" smtClean="0">
                <a:cs typeface="B Nazanin" panose="00000400000000000000" pitchFamily="2" charset="-78"/>
              </a:rPr>
              <a:t>سازي</a:t>
            </a:r>
            <a:r>
              <a:rPr lang="en-US" dirty="0" smtClean="0">
                <a:cs typeface="B Nazanin" panose="00000400000000000000" pitchFamily="2" charset="-78"/>
              </a:rPr>
              <a:t> </a:t>
            </a:r>
            <a:r>
              <a:rPr lang="fa-IR" dirty="0">
                <a:cs typeface="B Nazanin" panose="00000400000000000000" pitchFamily="2" charset="-78"/>
              </a:rPr>
              <a:t>مي‌شود.</a:t>
            </a:r>
          </a:p>
          <a:p>
            <a:endParaRPr lang="en-US" dirty="0"/>
          </a:p>
        </p:txBody>
      </p:sp>
    </p:spTree>
    <p:extLst>
      <p:ext uri="{BB962C8B-B14F-4D97-AF65-F5344CB8AC3E}">
        <p14:creationId xmlns:p14="http://schemas.microsoft.com/office/powerpoint/2010/main" val="340978306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a-IR" dirty="0" smtClean="0"/>
              <a:t>اصول طراحی</a:t>
            </a:r>
            <a:endParaRPr lang="en-US" dirty="0"/>
          </a:p>
        </p:txBody>
      </p:sp>
      <p:sp>
        <p:nvSpPr>
          <p:cNvPr id="3" name="Content Placeholder 2"/>
          <p:cNvSpPr>
            <a:spLocks noGrp="1"/>
          </p:cNvSpPr>
          <p:nvPr>
            <p:ph idx="1"/>
          </p:nvPr>
        </p:nvSpPr>
        <p:spPr>
          <a:xfrm>
            <a:off x="762000" y="685800"/>
            <a:ext cx="7543800" cy="4327376"/>
          </a:xfrm>
        </p:spPr>
        <p:txBody>
          <a:bodyPr>
            <a:normAutofit fontScale="92500"/>
          </a:bodyPr>
          <a:lstStyle/>
          <a:p>
            <a:r>
              <a:rPr lang="fa-IR" dirty="0">
                <a:cs typeface="B Nazanin" panose="00000400000000000000" pitchFamily="2" charset="-78"/>
              </a:rPr>
              <a:t>فرآیند طراحی نباید از "دید تونلی" رنج ببرد. </a:t>
            </a:r>
            <a:endParaRPr lang="fa-IR" dirty="0" smtClean="0">
              <a:cs typeface="B Nazanin" panose="00000400000000000000" pitchFamily="2" charset="-78"/>
            </a:endParaRPr>
          </a:p>
          <a:p>
            <a:r>
              <a:rPr lang="fa-IR" dirty="0" smtClean="0">
                <a:cs typeface="B Nazanin" panose="00000400000000000000" pitchFamily="2" charset="-78"/>
              </a:rPr>
              <a:t>طرح </a:t>
            </a:r>
            <a:r>
              <a:rPr lang="fa-IR" dirty="0">
                <a:cs typeface="B Nazanin" panose="00000400000000000000" pitchFamily="2" charset="-78"/>
              </a:rPr>
              <a:t>باید با مدل تحلیل قابل ردیابی باشد. </a:t>
            </a:r>
            <a:endParaRPr lang="fa-IR" dirty="0" smtClean="0">
              <a:cs typeface="B Nazanin" panose="00000400000000000000" pitchFamily="2" charset="-78"/>
            </a:endParaRPr>
          </a:p>
          <a:p>
            <a:r>
              <a:rPr lang="fa-IR" dirty="0" smtClean="0">
                <a:cs typeface="B Nazanin" panose="00000400000000000000" pitchFamily="2" charset="-78"/>
              </a:rPr>
              <a:t>طراحی </a:t>
            </a:r>
            <a:r>
              <a:rPr lang="fa-IR" dirty="0">
                <a:cs typeface="B Nazanin" panose="00000400000000000000" pitchFamily="2" charset="-78"/>
              </a:rPr>
              <a:t>نباید چرخ را دوباره اختراع کند. </a:t>
            </a:r>
            <a:endParaRPr lang="fa-IR" dirty="0" smtClean="0">
              <a:cs typeface="B Nazanin" panose="00000400000000000000" pitchFamily="2" charset="-78"/>
            </a:endParaRPr>
          </a:p>
          <a:p>
            <a:r>
              <a:rPr lang="fa-IR" dirty="0" smtClean="0">
                <a:cs typeface="B Nazanin" panose="00000400000000000000" pitchFamily="2" charset="-78"/>
              </a:rPr>
              <a:t>طراحی </a:t>
            </a:r>
            <a:r>
              <a:rPr lang="fa-IR" dirty="0">
                <a:cs typeface="B Nazanin" panose="00000400000000000000" pitchFamily="2" charset="-78"/>
              </a:rPr>
              <a:t>باید «فاصله فکری» </a:t>
            </a:r>
            <a:r>
              <a:rPr lang="fa-IR" dirty="0" smtClean="0">
                <a:cs typeface="B Nazanin" panose="00000400000000000000" pitchFamily="2" charset="-78"/>
              </a:rPr>
              <a:t>بین </a:t>
            </a:r>
            <a:r>
              <a:rPr lang="fa-IR" dirty="0">
                <a:cs typeface="B Nazanin" panose="00000400000000000000" pitchFamily="2" charset="-78"/>
              </a:rPr>
              <a:t>نرم‌افزار و مشکل را همانطور که در دنیای واقعی وجود دارد، «به حداقل برساند». </a:t>
            </a:r>
            <a:endParaRPr lang="fa-IR" dirty="0" smtClean="0">
              <a:cs typeface="B Nazanin" panose="00000400000000000000" pitchFamily="2" charset="-78"/>
            </a:endParaRPr>
          </a:p>
          <a:p>
            <a:r>
              <a:rPr lang="fa-IR" dirty="0" smtClean="0">
                <a:cs typeface="B Nazanin" panose="00000400000000000000" pitchFamily="2" charset="-78"/>
              </a:rPr>
              <a:t>طراحی </a:t>
            </a:r>
            <a:r>
              <a:rPr lang="fa-IR" dirty="0">
                <a:cs typeface="B Nazanin" panose="00000400000000000000" pitchFamily="2" charset="-78"/>
              </a:rPr>
              <a:t>باید یکنواختی و یکپارچگی را نشان دهد. </a:t>
            </a:r>
            <a:endParaRPr lang="fa-IR" dirty="0" smtClean="0">
              <a:cs typeface="B Nazanin" panose="00000400000000000000" pitchFamily="2" charset="-78"/>
            </a:endParaRPr>
          </a:p>
          <a:p>
            <a:r>
              <a:rPr lang="fa-IR" dirty="0" smtClean="0">
                <a:cs typeface="B Nazanin" panose="00000400000000000000" pitchFamily="2" charset="-78"/>
              </a:rPr>
              <a:t>طراحی </a:t>
            </a:r>
            <a:r>
              <a:rPr lang="fa-IR" dirty="0">
                <a:cs typeface="B Nazanin" panose="00000400000000000000" pitchFamily="2" charset="-78"/>
              </a:rPr>
              <a:t>باید به گونه ای طراحی شود که تغییرات را در خود جای دهد. </a:t>
            </a:r>
            <a:endParaRPr lang="fa-IR" dirty="0" smtClean="0">
              <a:cs typeface="B Nazanin" panose="00000400000000000000" pitchFamily="2" charset="-78"/>
            </a:endParaRPr>
          </a:p>
          <a:p>
            <a:r>
              <a:rPr lang="fa-IR" dirty="0" smtClean="0">
                <a:cs typeface="B Nazanin" panose="00000400000000000000" pitchFamily="2" charset="-78"/>
              </a:rPr>
              <a:t>ساختار </a:t>
            </a:r>
            <a:r>
              <a:rPr lang="fa-IR" dirty="0">
                <a:cs typeface="B Nazanin" panose="00000400000000000000" pitchFamily="2" charset="-78"/>
              </a:rPr>
              <a:t>طراحی باید به گونه ای باشد که </a:t>
            </a:r>
            <a:r>
              <a:rPr lang="fa-IR" dirty="0" smtClean="0">
                <a:cs typeface="B Nazanin" panose="00000400000000000000" pitchFamily="2" charset="-78"/>
              </a:rPr>
              <a:t>نرم‌افزار به آرامی دچار زوال داده شود</a:t>
            </a:r>
            <a:r>
              <a:rPr lang="fa-IR" dirty="0">
                <a:cs typeface="B Nazanin" panose="00000400000000000000" pitchFamily="2" charset="-78"/>
              </a:rPr>
              <a:t>، حتی زمانی که داده ها، رویدادها یا شرایط عملیاتی ناهنجار مواجه می شوند. </a:t>
            </a:r>
            <a:endParaRPr lang="fa-IR" dirty="0" smtClean="0">
              <a:cs typeface="B Nazanin" panose="00000400000000000000" pitchFamily="2" charset="-78"/>
            </a:endParaRPr>
          </a:p>
          <a:p>
            <a:r>
              <a:rPr lang="fa-IR" dirty="0" smtClean="0">
                <a:cs typeface="B Nazanin" panose="00000400000000000000" pitchFamily="2" charset="-78"/>
              </a:rPr>
              <a:t>طراحی </a:t>
            </a:r>
            <a:r>
              <a:rPr lang="fa-IR" dirty="0">
                <a:cs typeface="B Nazanin" panose="00000400000000000000" pitchFamily="2" charset="-78"/>
              </a:rPr>
              <a:t>کدنویسی نیست، </a:t>
            </a:r>
            <a:r>
              <a:rPr lang="fa-IR" dirty="0" smtClean="0">
                <a:cs typeface="B Nazanin" panose="00000400000000000000" pitchFamily="2" charset="-78"/>
              </a:rPr>
              <a:t>کدنویسی </a:t>
            </a:r>
            <a:r>
              <a:rPr lang="fa-IR" dirty="0">
                <a:cs typeface="B Nazanin" panose="00000400000000000000" pitchFamily="2" charset="-78"/>
              </a:rPr>
              <a:t>طراحی نیست</a:t>
            </a:r>
            <a:r>
              <a:rPr lang="fa-IR" dirty="0" smtClean="0">
                <a:cs typeface="B Nazanin" panose="00000400000000000000" pitchFamily="2" charset="-78"/>
              </a:rPr>
              <a:t>.</a:t>
            </a:r>
          </a:p>
          <a:p>
            <a:r>
              <a:rPr lang="fa-IR" dirty="0" smtClean="0">
                <a:cs typeface="B Nazanin" panose="00000400000000000000" pitchFamily="2" charset="-78"/>
              </a:rPr>
              <a:t> </a:t>
            </a:r>
            <a:r>
              <a:rPr lang="fa-IR" dirty="0">
                <a:cs typeface="B Nazanin" panose="00000400000000000000" pitchFamily="2" charset="-78"/>
              </a:rPr>
              <a:t>طراحی باید از نظر کیفیت در هنگام ایجاد ارزیابی شود، نه بعد از </a:t>
            </a:r>
            <a:r>
              <a:rPr lang="fa-IR" dirty="0" smtClean="0">
                <a:cs typeface="B Nazanin" panose="00000400000000000000" pitchFamily="2" charset="-78"/>
              </a:rPr>
              <a:t>عملیاتی سازی آن. </a:t>
            </a:r>
          </a:p>
        </p:txBody>
      </p:sp>
    </p:spTree>
    <p:extLst>
      <p:ext uri="{BB962C8B-B14F-4D97-AF65-F5344CB8AC3E}">
        <p14:creationId xmlns:p14="http://schemas.microsoft.com/office/powerpoint/2010/main" val="328308115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a-IR" dirty="0" smtClean="0"/>
              <a:t>اصول طراحی</a:t>
            </a:r>
            <a:endParaRPr lang="en-US" dirty="0"/>
          </a:p>
        </p:txBody>
      </p:sp>
      <p:sp>
        <p:nvSpPr>
          <p:cNvPr id="3" name="Content Placeholder 2"/>
          <p:cNvSpPr>
            <a:spLocks noGrp="1"/>
          </p:cNvSpPr>
          <p:nvPr>
            <p:ph idx="1"/>
          </p:nvPr>
        </p:nvSpPr>
        <p:spPr/>
        <p:txBody>
          <a:bodyPr>
            <a:normAutofit fontScale="92500" lnSpcReduction="10000"/>
          </a:bodyPr>
          <a:lstStyle/>
          <a:p>
            <a:r>
              <a:rPr lang="fa-IR" dirty="0">
                <a:cs typeface="B Nazanin" panose="00000400000000000000" pitchFamily="2" charset="-78"/>
              </a:rPr>
              <a:t>طراحی باید برای به حداقل رساندن خطاهای مفهومی (معنی) بازنگری شود.</a:t>
            </a:r>
            <a:endParaRPr lang="en-US" dirty="0">
              <a:cs typeface="B Nazanin" panose="00000400000000000000" pitchFamily="2" charset="-78"/>
            </a:endParaRPr>
          </a:p>
          <a:p>
            <a:r>
              <a:rPr lang="fa-IR" dirty="0" smtClean="0">
                <a:cs typeface="B Nazanin" panose="00000400000000000000" pitchFamily="2" charset="-78"/>
              </a:rPr>
              <a:t>ویژگی </a:t>
            </a:r>
            <a:r>
              <a:rPr lang="fa-IR" dirty="0">
                <a:cs typeface="B Nazanin" panose="00000400000000000000" pitchFamily="2" charset="-78"/>
              </a:rPr>
              <a:t>های بیشتر </a:t>
            </a:r>
            <a:r>
              <a:rPr lang="fa-IR" dirty="0" smtClean="0">
                <a:cs typeface="B Nazanin" panose="00000400000000000000" pitchFamily="2" charset="-78"/>
              </a:rPr>
              <a:t>در طراحی یعنی آنتروپی </a:t>
            </a:r>
            <a:r>
              <a:rPr lang="fa-IR" dirty="0">
                <a:cs typeface="B Nazanin" panose="00000400000000000000" pitchFamily="2" charset="-78"/>
              </a:rPr>
              <a:t>بالاتر </a:t>
            </a:r>
            <a:r>
              <a:rPr lang="fa-IR" dirty="0" smtClean="0">
                <a:cs typeface="B Nazanin" panose="00000400000000000000" pitchFamily="2" charset="-78"/>
              </a:rPr>
              <a:t>(</a:t>
            </a:r>
            <a:r>
              <a:rPr lang="fa-IR" dirty="0">
                <a:cs typeface="B Nazanin" panose="00000400000000000000" pitchFamily="2" charset="-78"/>
              </a:rPr>
              <a:t>انتروپی </a:t>
            </a:r>
            <a:r>
              <a:rPr lang="fa-IR" dirty="0" smtClean="0">
                <a:cs typeface="B Nazanin" panose="00000400000000000000" pitchFamily="2" charset="-78"/>
              </a:rPr>
              <a:t>اندازه </a:t>
            </a:r>
            <a:r>
              <a:rPr lang="fa-IR" dirty="0">
                <a:cs typeface="B Nazanin" panose="00000400000000000000" pitchFamily="2" charset="-78"/>
              </a:rPr>
              <a:t>بی‌نظمی سامانه</a:t>
            </a:r>
            <a:r>
              <a:rPr lang="fa-IR" dirty="0" smtClean="0">
                <a:cs typeface="B Nazanin" panose="00000400000000000000" pitchFamily="2" charset="-78"/>
              </a:rPr>
              <a:t>)</a:t>
            </a:r>
          </a:p>
          <a:p>
            <a:r>
              <a:rPr lang="fa-IR" dirty="0" smtClean="0">
                <a:cs typeface="B Nazanin" panose="00000400000000000000" pitchFamily="2" charset="-78"/>
              </a:rPr>
              <a:t>محصولات </a:t>
            </a:r>
            <a:r>
              <a:rPr lang="fa-IR" dirty="0">
                <a:cs typeface="B Nazanin" panose="00000400000000000000" pitchFamily="2" charset="-78"/>
              </a:rPr>
              <a:t>نامناسب با آنتروپی بالا نمی توانند تغییرات سریع زمینه را تحمل </a:t>
            </a:r>
            <a:r>
              <a:rPr lang="fa-IR" dirty="0" smtClean="0">
                <a:cs typeface="B Nazanin" panose="00000400000000000000" pitchFamily="2" charset="-78"/>
              </a:rPr>
              <a:t>کنند</a:t>
            </a:r>
          </a:p>
          <a:p>
            <a:r>
              <a:rPr lang="fa-IR" dirty="0" smtClean="0">
                <a:cs typeface="B Nazanin" panose="00000400000000000000" pitchFamily="2" charset="-78"/>
              </a:rPr>
              <a:t> </a:t>
            </a:r>
            <a:r>
              <a:rPr lang="fa-IR" dirty="0">
                <a:cs typeface="B Nazanin" panose="00000400000000000000" pitchFamily="2" charset="-78"/>
              </a:rPr>
              <a:t>تا حد امکان </a:t>
            </a:r>
            <a:r>
              <a:rPr lang="fa-IR" dirty="0" smtClean="0">
                <a:cs typeface="B Nazanin" panose="00000400000000000000" pitchFamily="2" charset="-78"/>
              </a:rPr>
              <a:t> متناسب و </a:t>
            </a:r>
            <a:r>
              <a:rPr lang="fa-IR" dirty="0">
                <a:cs typeface="B Nazanin" panose="00000400000000000000" pitchFamily="2" charset="-78"/>
              </a:rPr>
              <a:t>چابک بمانید (به عنوان یک محصول) </a:t>
            </a:r>
            <a:endParaRPr lang="fa-IR" dirty="0" smtClean="0">
              <a:cs typeface="B Nazanin" panose="00000400000000000000" pitchFamily="2" charset="-78"/>
            </a:endParaRPr>
          </a:p>
          <a:p>
            <a:r>
              <a:rPr lang="fa-IR" dirty="0" smtClean="0">
                <a:cs typeface="B Nazanin" panose="00000400000000000000" pitchFamily="2" charset="-78"/>
              </a:rPr>
              <a:t>معماری</a:t>
            </a:r>
            <a:r>
              <a:rPr lang="fa-IR" dirty="0">
                <a:cs typeface="B Nazanin" panose="00000400000000000000" pitchFamily="2" charset="-78"/>
              </a:rPr>
              <a:t>: </a:t>
            </a:r>
            <a:r>
              <a:rPr lang="fa-IR" dirty="0" smtClean="0">
                <a:cs typeface="B Nazanin" panose="00000400000000000000" pitchFamily="2" charset="-78"/>
              </a:rPr>
              <a:t>جزیره‌ای یا الگوی جزیره‌ای  هر چقدر بیشتر باشد بهتر است </a:t>
            </a:r>
          </a:p>
          <a:p>
            <a:r>
              <a:rPr lang="fa-IR" dirty="0" smtClean="0">
                <a:cs typeface="B Nazanin" panose="00000400000000000000" pitchFamily="2" charset="-78"/>
              </a:rPr>
              <a:t>معماری</a:t>
            </a:r>
            <a:r>
              <a:rPr lang="fa-IR" dirty="0">
                <a:cs typeface="B Nazanin" panose="00000400000000000000" pitchFamily="2" charset="-78"/>
              </a:rPr>
              <a:t>: سطح انتزاع را فقط برای بخش های حیاتی بالا </a:t>
            </a:r>
            <a:r>
              <a:rPr lang="fa-IR" dirty="0" smtClean="0">
                <a:cs typeface="B Nazanin" panose="00000400000000000000" pitchFamily="2" charset="-78"/>
              </a:rPr>
              <a:t>ببرید</a:t>
            </a:r>
          </a:p>
          <a:p>
            <a:r>
              <a:rPr lang="fa-IR" dirty="0" smtClean="0">
                <a:cs typeface="B Nazanin" panose="00000400000000000000" pitchFamily="2" charset="-78"/>
              </a:rPr>
              <a:t> </a:t>
            </a:r>
            <a:r>
              <a:rPr lang="fa-IR" dirty="0">
                <a:cs typeface="B Nazanin" panose="00000400000000000000" pitchFamily="2" charset="-78"/>
              </a:rPr>
              <a:t>فرآیند: 10-20 درصد از زمان توسعه باید همیشه به تغییرات معماری و تناسب اختصاص داده شود </a:t>
            </a:r>
            <a:endParaRPr lang="fa-IR" dirty="0" smtClean="0">
              <a:cs typeface="B Nazanin" panose="00000400000000000000" pitchFamily="2" charset="-78"/>
            </a:endParaRPr>
          </a:p>
          <a:p>
            <a:r>
              <a:rPr lang="fa-IR" dirty="0" smtClean="0">
                <a:cs typeface="B Nazanin" panose="00000400000000000000" pitchFamily="2" charset="-78"/>
              </a:rPr>
              <a:t>فرآیند</a:t>
            </a:r>
            <a:r>
              <a:rPr lang="fa-IR" dirty="0">
                <a:cs typeface="B Nazanin" panose="00000400000000000000" pitchFamily="2" charset="-78"/>
              </a:rPr>
              <a:t>: ماژول های مهم باید حفظ و بهبود یابند، همه ماژول های دیگر می توانند بعداً دوباره نوشته شوند.</a:t>
            </a:r>
            <a:endParaRPr lang="en-US" dirty="0">
              <a:cs typeface="B Nazanin" panose="00000400000000000000" pitchFamily="2" charset="-78"/>
            </a:endParaRPr>
          </a:p>
        </p:txBody>
      </p:sp>
    </p:spTree>
    <p:extLst>
      <p:ext uri="{BB962C8B-B14F-4D97-AF65-F5344CB8AC3E}">
        <p14:creationId xmlns:p14="http://schemas.microsoft.com/office/powerpoint/2010/main" val="402114346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a-IR" dirty="0" smtClean="0"/>
              <a:t>مفاهیم</a:t>
            </a:r>
            <a:endParaRPr lang="en-US" dirty="0"/>
          </a:p>
        </p:txBody>
      </p:sp>
      <p:sp>
        <p:nvSpPr>
          <p:cNvPr id="3" name="Content Placeholder 2"/>
          <p:cNvSpPr>
            <a:spLocks noGrp="1"/>
          </p:cNvSpPr>
          <p:nvPr>
            <p:ph idx="1"/>
          </p:nvPr>
        </p:nvSpPr>
        <p:spPr>
          <a:xfrm>
            <a:off x="762000" y="685800"/>
            <a:ext cx="7543800" cy="4687416"/>
          </a:xfrm>
        </p:spPr>
        <p:txBody>
          <a:bodyPr>
            <a:normAutofit fontScale="85000" lnSpcReduction="10000"/>
          </a:bodyPr>
          <a:lstStyle/>
          <a:p>
            <a:r>
              <a:rPr lang="fa-IR" dirty="0">
                <a:cs typeface="B Nazanin" panose="00000400000000000000" pitchFamily="2" charset="-78"/>
              </a:rPr>
              <a:t>انتزاع - داده، رویه، کنترل </a:t>
            </a:r>
            <a:endParaRPr lang="fa-IR" dirty="0" smtClean="0">
              <a:cs typeface="B Nazanin" panose="00000400000000000000" pitchFamily="2" charset="-78"/>
            </a:endParaRPr>
          </a:p>
          <a:p>
            <a:r>
              <a:rPr lang="fa-IR" dirty="0" smtClean="0">
                <a:cs typeface="B Nazanin" panose="00000400000000000000" pitchFamily="2" charset="-78"/>
              </a:rPr>
              <a:t>معماری </a:t>
            </a:r>
            <a:r>
              <a:rPr lang="fa-IR" dirty="0">
                <a:cs typeface="B Nazanin" panose="00000400000000000000" pitchFamily="2" charset="-78"/>
              </a:rPr>
              <a:t>- ساختار کلی نرم </a:t>
            </a:r>
            <a:r>
              <a:rPr lang="fa-IR" dirty="0" smtClean="0">
                <a:cs typeface="B Nazanin" panose="00000400000000000000" pitchFamily="2" charset="-78"/>
              </a:rPr>
              <a:t>افزار</a:t>
            </a:r>
          </a:p>
          <a:p>
            <a:r>
              <a:rPr lang="fa-IR" dirty="0" smtClean="0">
                <a:cs typeface="B Nazanin" panose="00000400000000000000" pitchFamily="2" charset="-78"/>
              </a:rPr>
              <a:t>الگوها </a:t>
            </a:r>
            <a:r>
              <a:rPr lang="fa-IR" dirty="0">
                <a:cs typeface="B Nazanin" panose="00000400000000000000" pitchFamily="2" charset="-78"/>
              </a:rPr>
              <a:t>- "ماهیت" یک راه حل طراحی اثبات شده را منتقل می </a:t>
            </a:r>
            <a:r>
              <a:rPr lang="fa-IR" dirty="0" smtClean="0">
                <a:cs typeface="B Nazanin" panose="00000400000000000000" pitchFamily="2" charset="-78"/>
              </a:rPr>
              <a:t>کند</a:t>
            </a:r>
          </a:p>
          <a:p>
            <a:r>
              <a:rPr lang="fa-IR" dirty="0" smtClean="0">
                <a:cs typeface="B Nazanin" panose="00000400000000000000" pitchFamily="2" charset="-78"/>
              </a:rPr>
              <a:t>تفکیک </a:t>
            </a:r>
            <a:r>
              <a:rPr lang="fa-IR" dirty="0">
                <a:cs typeface="B Nazanin" panose="00000400000000000000" pitchFamily="2" charset="-78"/>
              </a:rPr>
              <a:t>نگرانی‌ها - هر مشکل پیچیده‌ای را می‌توان راحت‌تر حل کرد اگر به قطعات تقسیم شود </a:t>
            </a:r>
            <a:endParaRPr lang="fa-IR" dirty="0" smtClean="0">
              <a:cs typeface="B Nazanin" panose="00000400000000000000" pitchFamily="2" charset="-78"/>
            </a:endParaRPr>
          </a:p>
          <a:p>
            <a:r>
              <a:rPr lang="fa-IR" dirty="0" smtClean="0">
                <a:cs typeface="B Nazanin" panose="00000400000000000000" pitchFamily="2" charset="-78"/>
              </a:rPr>
              <a:t>مدولار </a:t>
            </a:r>
            <a:r>
              <a:rPr lang="fa-IR" dirty="0">
                <a:cs typeface="B Nazanin" panose="00000400000000000000" pitchFamily="2" charset="-78"/>
              </a:rPr>
              <a:t>- تقسیم بندی داده ها و عملکرد </a:t>
            </a:r>
            <a:endParaRPr lang="fa-IR" dirty="0" smtClean="0">
              <a:cs typeface="B Nazanin" panose="00000400000000000000" pitchFamily="2" charset="-78"/>
            </a:endParaRPr>
          </a:p>
          <a:p>
            <a:r>
              <a:rPr lang="fa-IR" dirty="0" smtClean="0">
                <a:cs typeface="B Nazanin" panose="00000400000000000000" pitchFamily="2" charset="-78"/>
              </a:rPr>
              <a:t>پنهان‌سازی -رابطهای  کنترل شده</a:t>
            </a:r>
          </a:p>
          <a:p>
            <a:r>
              <a:rPr lang="fa-IR" dirty="0" smtClean="0">
                <a:cs typeface="B Nazanin" panose="00000400000000000000" pitchFamily="2" charset="-78"/>
              </a:rPr>
              <a:t>استقلال </a:t>
            </a:r>
            <a:r>
              <a:rPr lang="fa-IR" dirty="0">
                <a:cs typeface="B Nazanin" panose="00000400000000000000" pitchFamily="2" charset="-78"/>
              </a:rPr>
              <a:t>عملکردی - عملکرد تک‌نگر و اتصال کم </a:t>
            </a:r>
            <a:endParaRPr lang="fa-IR" dirty="0" smtClean="0">
              <a:cs typeface="B Nazanin" panose="00000400000000000000" pitchFamily="2" charset="-78"/>
            </a:endParaRPr>
          </a:p>
          <a:p>
            <a:r>
              <a:rPr lang="fa-IR" dirty="0" smtClean="0">
                <a:cs typeface="B Nazanin" panose="00000400000000000000" pitchFamily="2" charset="-78"/>
              </a:rPr>
              <a:t>پالایش </a:t>
            </a:r>
            <a:r>
              <a:rPr lang="fa-IR" dirty="0">
                <a:cs typeface="B Nazanin" panose="00000400000000000000" pitchFamily="2" charset="-78"/>
              </a:rPr>
              <a:t>- شرح جزئیات برای همه انتزاع ها </a:t>
            </a:r>
            <a:endParaRPr lang="fa-IR" dirty="0" smtClean="0">
              <a:cs typeface="B Nazanin" panose="00000400000000000000" pitchFamily="2" charset="-78"/>
            </a:endParaRPr>
          </a:p>
          <a:p>
            <a:r>
              <a:rPr lang="fa-IR" dirty="0" smtClean="0">
                <a:cs typeface="B Nazanin" panose="00000400000000000000" pitchFamily="2" charset="-78"/>
              </a:rPr>
              <a:t>جنبه </a:t>
            </a:r>
            <a:r>
              <a:rPr lang="fa-IR" dirty="0">
                <a:cs typeface="B Nazanin" panose="00000400000000000000" pitchFamily="2" charset="-78"/>
              </a:rPr>
              <a:t>ها - مکانیزمی برای درک اینکه چگونه الزامات جهانی بر طراحی تأثیر می </a:t>
            </a:r>
            <a:r>
              <a:rPr lang="fa-IR" dirty="0" smtClean="0">
                <a:cs typeface="B Nazanin" panose="00000400000000000000" pitchFamily="2" charset="-78"/>
              </a:rPr>
              <a:t>گذارد</a:t>
            </a:r>
          </a:p>
          <a:p>
            <a:r>
              <a:rPr lang="fa-IR" dirty="0" smtClean="0">
                <a:cs typeface="B Nazanin" panose="00000400000000000000" pitchFamily="2" charset="-78"/>
              </a:rPr>
              <a:t>ریفکتور - یک </a:t>
            </a:r>
            <a:r>
              <a:rPr lang="fa-IR" dirty="0">
                <a:cs typeface="B Nazanin" panose="00000400000000000000" pitchFamily="2" charset="-78"/>
              </a:rPr>
              <a:t>تکنیک سازماندهی مجدد که طراحی را ساده می </a:t>
            </a:r>
            <a:r>
              <a:rPr lang="fa-IR" dirty="0" smtClean="0">
                <a:cs typeface="B Nazanin" panose="00000400000000000000" pitchFamily="2" charset="-78"/>
              </a:rPr>
              <a:t>کند</a:t>
            </a:r>
          </a:p>
          <a:p>
            <a:r>
              <a:rPr lang="fa-IR" dirty="0">
                <a:cs typeface="B Nazanin" panose="00000400000000000000" pitchFamily="2" charset="-78"/>
              </a:rPr>
              <a:t>وابستگي - كوپلينگ بيان كننده شدت ارتباط بين دو ماژول است</a:t>
            </a:r>
          </a:p>
          <a:p>
            <a:r>
              <a:rPr lang="fa-IR" dirty="0">
                <a:cs typeface="B Nazanin" panose="00000400000000000000" pitchFamily="2" charset="-78"/>
              </a:rPr>
              <a:t>پيوستگي- به شدت ارتباط عناصر تشكليل دهندة يك ماژول </a:t>
            </a:r>
            <a:r>
              <a:rPr lang="en-US" dirty="0">
                <a:cs typeface="B Nazanin" panose="00000400000000000000" pitchFamily="2" charset="-78"/>
              </a:rPr>
              <a:t>Cohesion </a:t>
            </a:r>
            <a:r>
              <a:rPr lang="fa-IR" dirty="0">
                <a:cs typeface="B Nazanin" panose="00000400000000000000" pitchFamily="2" charset="-78"/>
              </a:rPr>
              <a:t>گفته مي‌شود</a:t>
            </a:r>
          </a:p>
          <a:p>
            <a:endParaRPr lang="en-US" dirty="0">
              <a:cs typeface="B Nazanin" panose="00000400000000000000" pitchFamily="2" charset="-78"/>
            </a:endParaRPr>
          </a:p>
        </p:txBody>
      </p:sp>
    </p:spTree>
    <p:extLst>
      <p:ext uri="{BB962C8B-B14F-4D97-AF65-F5344CB8AC3E}">
        <p14:creationId xmlns:p14="http://schemas.microsoft.com/office/powerpoint/2010/main" val="215171592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a-IR" dirty="0" smtClean="0">
                <a:cs typeface="B Nazanin" panose="00000400000000000000" pitchFamily="2" charset="-78"/>
              </a:rPr>
              <a:t>انتزاع (</a:t>
            </a:r>
            <a:r>
              <a:rPr lang="en-US" dirty="0" smtClean="0">
                <a:cs typeface="B Nazanin" panose="00000400000000000000" pitchFamily="2" charset="-78"/>
              </a:rPr>
              <a:t>Abstraction</a:t>
            </a:r>
            <a:r>
              <a:rPr lang="fa-IR" dirty="0" smtClean="0">
                <a:cs typeface="B Nazanin" panose="00000400000000000000" pitchFamily="2" charset="-78"/>
              </a:rPr>
              <a:t>)</a:t>
            </a:r>
            <a:endParaRPr lang="en-US" dirty="0">
              <a:cs typeface="B Nazanin" panose="00000400000000000000" pitchFamily="2" charset="-78"/>
            </a:endParaRPr>
          </a:p>
        </p:txBody>
      </p:sp>
      <p:sp>
        <p:nvSpPr>
          <p:cNvPr id="3" name="Content Placeholder 2"/>
          <p:cNvSpPr>
            <a:spLocks noGrp="1"/>
          </p:cNvSpPr>
          <p:nvPr>
            <p:ph idx="1"/>
          </p:nvPr>
        </p:nvSpPr>
        <p:spPr>
          <a:xfrm>
            <a:off x="755576" y="476672"/>
            <a:ext cx="7543800" cy="3456384"/>
          </a:xfrm>
        </p:spPr>
        <p:txBody>
          <a:bodyPr>
            <a:normAutofit lnSpcReduction="10000"/>
          </a:bodyPr>
          <a:lstStyle/>
          <a:p>
            <a:r>
              <a:rPr lang="fa-IR" dirty="0" smtClean="0">
                <a:cs typeface="B Nazanin" panose="00000400000000000000" pitchFamily="2" charset="-78"/>
              </a:rPr>
              <a:t>در مهندسی </a:t>
            </a:r>
            <a:r>
              <a:rPr lang="fa-IR" dirty="0">
                <a:cs typeface="B Nazanin" panose="00000400000000000000" pitchFamily="2" charset="-78"/>
              </a:rPr>
              <a:t>نرم‌افزار به معنای تفکیک مباحث مربوط به هم و </a:t>
            </a:r>
            <a:r>
              <a:rPr lang="fa-IR" dirty="0" smtClean="0">
                <a:cs typeface="B Nazanin" panose="00000400000000000000" pitchFamily="2" charset="-78"/>
              </a:rPr>
              <a:t>نگاه  </a:t>
            </a:r>
            <a:r>
              <a:rPr lang="fa-IR" dirty="0">
                <a:cs typeface="B Nazanin" panose="00000400000000000000" pitchFamily="2" charset="-78"/>
              </a:rPr>
              <a:t>به موضوع </a:t>
            </a:r>
            <a:r>
              <a:rPr lang="fa-IR" dirty="0" smtClean="0">
                <a:cs typeface="B Nazanin" panose="00000400000000000000" pitchFamily="2" charset="-78"/>
              </a:rPr>
              <a:t>فارغ از </a:t>
            </a:r>
            <a:r>
              <a:rPr lang="fa-IR" dirty="0">
                <a:cs typeface="B Nazanin" panose="00000400000000000000" pitchFamily="2" charset="-78"/>
              </a:rPr>
              <a:t>مباحث </a:t>
            </a:r>
            <a:r>
              <a:rPr lang="fa-IR" dirty="0" smtClean="0">
                <a:cs typeface="B Nazanin" panose="00000400000000000000" pitchFamily="2" charset="-78"/>
              </a:rPr>
              <a:t>آن موضوع یا موجودیت است. انتزاع </a:t>
            </a:r>
            <a:r>
              <a:rPr lang="fa-IR" dirty="0">
                <a:cs typeface="B Nazanin" panose="00000400000000000000" pitchFamily="2" charset="-78"/>
              </a:rPr>
              <a:t>می تواند </a:t>
            </a:r>
            <a:r>
              <a:rPr lang="fa-IR" dirty="0" smtClean="0">
                <a:cs typeface="B Nazanin" panose="00000400000000000000" pitchFamily="2" charset="-78"/>
              </a:rPr>
              <a:t>سه نوع </a:t>
            </a:r>
            <a:r>
              <a:rPr lang="fa-IR" dirty="0">
                <a:cs typeface="B Nazanin" panose="00000400000000000000" pitchFamily="2" charset="-78"/>
              </a:rPr>
              <a:t>باشد، یعنی انتزاع داده و انتزاع </a:t>
            </a:r>
            <a:r>
              <a:rPr lang="fa-IR" dirty="0" smtClean="0">
                <a:cs typeface="B Nazanin" panose="00000400000000000000" pitchFamily="2" charset="-78"/>
              </a:rPr>
              <a:t>کنترل و انتزاع رویه ای</a:t>
            </a:r>
          </a:p>
          <a:p>
            <a:r>
              <a:rPr lang="fa-IR" dirty="0">
                <a:cs typeface="B Nazanin" panose="00000400000000000000" pitchFamily="2" charset="-78"/>
              </a:rPr>
              <a:t>انتزاع رویه </a:t>
            </a:r>
            <a:r>
              <a:rPr lang="fa-IR" dirty="0" smtClean="0">
                <a:cs typeface="B Nazanin" panose="00000400000000000000" pitchFamily="2" charset="-78"/>
              </a:rPr>
              <a:t>ای : جداسازی </a:t>
            </a:r>
            <a:r>
              <a:rPr lang="fa-IR" dirty="0">
                <a:cs typeface="B Nazanin" panose="00000400000000000000" pitchFamily="2" charset="-78"/>
              </a:rPr>
              <a:t>ویژگی های منطقی </a:t>
            </a:r>
            <a:r>
              <a:rPr lang="fa-IR" dirty="0" smtClean="0">
                <a:cs typeface="B Nazanin" panose="00000400000000000000" pitchFamily="2" charset="-78"/>
              </a:rPr>
              <a:t>(متدها )یک </a:t>
            </a:r>
            <a:r>
              <a:rPr lang="fa-IR" dirty="0">
                <a:cs typeface="B Nazanin" panose="00000400000000000000" pitchFamily="2" charset="-78"/>
              </a:rPr>
              <a:t>عمل از جزئیات نحوه اجرای آن عمل. </a:t>
            </a:r>
            <a:r>
              <a:rPr lang="fa-IR" dirty="0" smtClean="0">
                <a:cs typeface="B Nazanin" panose="00000400000000000000" pitchFamily="2" charset="-78"/>
              </a:rPr>
              <a:t>تنها ورودی و خروجی‌ها قابل مشاهده هستند</a:t>
            </a:r>
          </a:p>
          <a:p>
            <a:r>
              <a:rPr lang="fa-IR" dirty="0" smtClean="0">
                <a:cs typeface="B Nazanin" panose="00000400000000000000" pitchFamily="2" charset="-78"/>
              </a:rPr>
              <a:t>انتزاع </a:t>
            </a:r>
            <a:r>
              <a:rPr lang="fa-IR" dirty="0">
                <a:cs typeface="B Nazanin" panose="00000400000000000000" pitchFamily="2" charset="-78"/>
              </a:rPr>
              <a:t>داده ها: جداسازی ویژگی های </a:t>
            </a:r>
            <a:r>
              <a:rPr lang="fa-IR" dirty="0" smtClean="0">
                <a:cs typeface="B Nazanin" panose="00000400000000000000" pitchFamily="2" charset="-78"/>
              </a:rPr>
              <a:t>پیاده‌سازی داده </a:t>
            </a:r>
            <a:r>
              <a:rPr lang="fa-IR" dirty="0">
                <a:cs typeface="B Nazanin" panose="00000400000000000000" pitchFamily="2" charset="-78"/>
              </a:rPr>
              <a:t>ها از </a:t>
            </a:r>
            <a:r>
              <a:rPr lang="fa-IR" dirty="0" smtClean="0">
                <a:cs typeface="B Nazanin" panose="00000400000000000000" pitchFamily="2" charset="-78"/>
              </a:rPr>
              <a:t>دید کاربران مخفی می‌شوند و تنها روش‌های دسترسی قابل مشاهده است.</a:t>
            </a:r>
          </a:p>
          <a:p>
            <a:r>
              <a:rPr lang="fa-IR" dirty="0" smtClean="0">
                <a:cs typeface="B Nazanin" panose="00000400000000000000" pitchFamily="2" charset="-78"/>
              </a:rPr>
              <a:t>انتزاع کنترلی: جزیات پیاده‌سازی کنترل جریان برنامه از دید کاربران مخفی می‌شود. در این روش متدها کنترل‌گر هستند</a:t>
            </a:r>
          </a:p>
        </p:txBody>
      </p:sp>
      <p:pic>
        <p:nvPicPr>
          <p:cNvPr id="4098" name="Picture 2" descr="C:\Users\e.alirezaei\Desktop\mapping.fig.gif"/>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404" y="3284984"/>
            <a:ext cx="5895975" cy="33051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8472142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a-IR" dirty="0" smtClean="0"/>
              <a:t>روش‌های طراحی</a:t>
            </a:r>
            <a:endParaRPr lang="en-US" dirty="0"/>
          </a:p>
        </p:txBody>
      </p:sp>
      <p:sp>
        <p:nvSpPr>
          <p:cNvPr id="3" name="Content Placeholder 2"/>
          <p:cNvSpPr>
            <a:spLocks noGrp="1"/>
          </p:cNvSpPr>
          <p:nvPr>
            <p:ph idx="1"/>
          </p:nvPr>
        </p:nvSpPr>
        <p:spPr>
          <a:xfrm>
            <a:off x="762000" y="685800"/>
            <a:ext cx="7543800" cy="4831432"/>
          </a:xfrm>
        </p:spPr>
        <p:txBody>
          <a:bodyPr>
            <a:normAutofit fontScale="85000" lnSpcReduction="10000"/>
          </a:bodyPr>
          <a:lstStyle/>
          <a:p>
            <a:pPr algn="just"/>
            <a:endParaRPr lang="fa-IR" b="1" dirty="0" smtClean="0">
              <a:cs typeface="B Nazanin" panose="00000400000000000000" pitchFamily="2" charset="-78"/>
            </a:endParaRPr>
          </a:p>
          <a:p>
            <a:pPr algn="just"/>
            <a:r>
              <a:rPr lang="fa-IR" b="1" dirty="0" smtClean="0">
                <a:cs typeface="B Nazanin" panose="00000400000000000000" pitchFamily="2" charset="-78"/>
              </a:rPr>
              <a:t>طراحي </a:t>
            </a:r>
            <a:r>
              <a:rPr lang="fa-IR" b="1" dirty="0">
                <a:cs typeface="B Nazanin" panose="00000400000000000000" pitchFamily="2" charset="-78"/>
              </a:rPr>
              <a:t>ساخت </a:t>
            </a:r>
            <a:r>
              <a:rPr lang="fa-IR" b="1" dirty="0" smtClean="0">
                <a:cs typeface="B Nazanin" panose="00000400000000000000" pitchFamily="2" charset="-78"/>
              </a:rPr>
              <a:t>يافته : </a:t>
            </a:r>
            <a:r>
              <a:rPr lang="fa-IR" dirty="0">
                <a:cs typeface="B Nazanin" panose="00000400000000000000" pitchFamily="2" charset="-78"/>
              </a:rPr>
              <a:t>مبتني بر شناسايي عمكلردهاي اصلي </a:t>
            </a:r>
            <a:r>
              <a:rPr lang="fa-IR" dirty="0" smtClean="0">
                <a:cs typeface="B Nazanin" panose="00000400000000000000" pitchFamily="2" charset="-78"/>
              </a:rPr>
              <a:t>نرم </a:t>
            </a:r>
            <a:r>
              <a:rPr lang="fa-IR" dirty="0">
                <a:cs typeface="B Nazanin" panose="00000400000000000000" pitchFamily="2" charset="-78"/>
              </a:rPr>
              <a:t>افزار و سپس شكستن و ريز كردن آنها بصورت بالا به پايين </a:t>
            </a:r>
            <a:r>
              <a:rPr lang="fa-IR" dirty="0" smtClean="0">
                <a:cs typeface="B Nazanin" panose="00000400000000000000" pitchFamily="2" charset="-78"/>
              </a:rPr>
              <a:t>مي‌باشد</a:t>
            </a:r>
            <a:r>
              <a:rPr lang="fa-IR" dirty="0">
                <a:cs typeface="B Nazanin" panose="00000400000000000000" pitchFamily="2" charset="-78"/>
              </a:rPr>
              <a:t>. لازم به ذكر است در اين روش معمولاً از </a:t>
            </a:r>
            <a:r>
              <a:rPr lang="en-US" dirty="0">
                <a:cs typeface="B Nazanin" panose="00000400000000000000" pitchFamily="2" charset="-78"/>
              </a:rPr>
              <a:t>Data Flow Diagram </a:t>
            </a:r>
            <a:r>
              <a:rPr lang="fa-IR" dirty="0">
                <a:cs typeface="B Nazanin" panose="00000400000000000000" pitchFamily="2" charset="-78"/>
              </a:rPr>
              <a:t>براي انتساب داده‌ به فرآيند استفاده مي‌شود</a:t>
            </a:r>
            <a:r>
              <a:rPr lang="fa-IR" dirty="0" smtClean="0">
                <a:cs typeface="B Nazanin" panose="00000400000000000000" pitchFamily="2" charset="-78"/>
              </a:rPr>
              <a:t>.</a:t>
            </a:r>
          </a:p>
          <a:p>
            <a:pPr algn="just"/>
            <a:r>
              <a:rPr lang="fa-IR" b="1" dirty="0">
                <a:cs typeface="B Nazanin" panose="00000400000000000000" pitchFamily="2" charset="-78"/>
              </a:rPr>
              <a:t>طراحي </a:t>
            </a:r>
            <a:r>
              <a:rPr lang="fa-IR" b="1" dirty="0" smtClean="0">
                <a:cs typeface="B Nazanin" panose="00000400000000000000" pitchFamily="2" charset="-78"/>
              </a:rPr>
              <a:t>شي گرا: </a:t>
            </a:r>
            <a:r>
              <a:rPr lang="fa-IR" dirty="0">
                <a:cs typeface="B Nazanin" panose="00000400000000000000" pitchFamily="2" charset="-78"/>
              </a:rPr>
              <a:t>در اين روش سيستم در دنياي واقعي بصورت اشيائي كه داراي خصوصيت و رفتار هستند،‌ در نرم افزار نمود پيدا مي‌كند. اين اشياء بوسيله </a:t>
            </a:r>
            <a:r>
              <a:rPr lang="fa-IR" dirty="0" smtClean="0">
                <a:cs typeface="B Nazanin" panose="00000400000000000000" pitchFamily="2" charset="-78"/>
              </a:rPr>
              <a:t>پیام‌ با </a:t>
            </a:r>
            <a:r>
              <a:rPr lang="fa-IR" dirty="0">
                <a:cs typeface="B Nazanin" panose="00000400000000000000" pitchFamily="2" charset="-78"/>
              </a:rPr>
              <a:t>هم ارتباط برقرار مي‌كنند و در </a:t>
            </a:r>
            <a:r>
              <a:rPr lang="fa-IR" dirty="0" smtClean="0">
                <a:cs typeface="B Nazanin" panose="00000400000000000000" pitchFamily="2" charset="-78"/>
              </a:rPr>
              <a:t>كلاس‌ها </a:t>
            </a:r>
            <a:r>
              <a:rPr lang="fa-IR" dirty="0">
                <a:cs typeface="B Nazanin" panose="00000400000000000000" pitchFamily="2" charset="-78"/>
              </a:rPr>
              <a:t>و زير </a:t>
            </a:r>
            <a:r>
              <a:rPr lang="fa-IR" dirty="0" smtClean="0">
                <a:cs typeface="B Nazanin" panose="00000400000000000000" pitchFamily="2" charset="-78"/>
              </a:rPr>
              <a:t>كلاس‌ها </a:t>
            </a:r>
            <a:r>
              <a:rPr lang="fa-IR" dirty="0">
                <a:cs typeface="B Nazanin" panose="00000400000000000000" pitchFamily="2" charset="-78"/>
              </a:rPr>
              <a:t>دسته بندي مي‌شوند </a:t>
            </a:r>
            <a:r>
              <a:rPr lang="fa-IR" dirty="0" smtClean="0">
                <a:cs typeface="B Nazanin" panose="00000400000000000000" pitchFamily="2" charset="-78"/>
              </a:rPr>
              <a:t>. بطور </a:t>
            </a:r>
            <a:r>
              <a:rPr lang="fa-IR" dirty="0">
                <a:cs typeface="B Nazanin" panose="00000400000000000000" pitchFamily="2" charset="-78"/>
              </a:rPr>
              <a:t>خلاصه هر </a:t>
            </a:r>
            <a:r>
              <a:rPr lang="fa-IR" dirty="0" smtClean="0">
                <a:cs typeface="B Nazanin" panose="00000400000000000000" pitchFamily="2" charset="-78"/>
              </a:rPr>
              <a:t>شيء </a:t>
            </a:r>
            <a:r>
              <a:rPr lang="fa-IR" dirty="0">
                <a:cs typeface="B Nazanin" panose="00000400000000000000" pitchFamily="2" charset="-78"/>
              </a:rPr>
              <a:t>داراي نام، يكسري خصوصيت </a:t>
            </a:r>
            <a:r>
              <a:rPr lang="fa-IR" dirty="0" smtClean="0">
                <a:cs typeface="B Nazanin" panose="00000400000000000000" pitchFamily="2" charset="-78"/>
              </a:rPr>
              <a:t>و </a:t>
            </a:r>
            <a:r>
              <a:rPr lang="fa-IR" dirty="0">
                <a:cs typeface="B Nazanin" panose="00000400000000000000" pitchFamily="2" charset="-78"/>
              </a:rPr>
              <a:t>متد </a:t>
            </a:r>
            <a:r>
              <a:rPr lang="fa-IR" dirty="0" smtClean="0">
                <a:cs typeface="B Nazanin" panose="00000400000000000000" pitchFamily="2" charset="-78"/>
              </a:rPr>
              <a:t>مي‌باشد </a:t>
            </a:r>
            <a:r>
              <a:rPr lang="fa-IR" dirty="0">
                <a:cs typeface="B Nazanin" panose="00000400000000000000" pitchFamily="2" charset="-78"/>
              </a:rPr>
              <a:t>كه در ارتباط با هم نرم افزار را تشكيل مي‌دهند</a:t>
            </a:r>
            <a:r>
              <a:rPr lang="fa-IR" dirty="0" smtClean="0">
                <a:cs typeface="B Nazanin" panose="00000400000000000000" pitchFamily="2" charset="-78"/>
              </a:rPr>
              <a:t>.</a:t>
            </a:r>
          </a:p>
          <a:p>
            <a:pPr algn="just"/>
            <a:r>
              <a:rPr lang="fa-IR" b="1" dirty="0">
                <a:cs typeface="B Nazanin" panose="00000400000000000000" pitchFamily="2" charset="-78"/>
              </a:rPr>
              <a:t>طراحي متمركز بر ساختار </a:t>
            </a:r>
            <a:r>
              <a:rPr lang="fa-IR" b="1" dirty="0" smtClean="0">
                <a:cs typeface="B Nazanin" panose="00000400000000000000" pitchFamily="2" charset="-78"/>
              </a:rPr>
              <a:t>داده: </a:t>
            </a:r>
            <a:r>
              <a:rPr lang="fa-IR" dirty="0">
                <a:cs typeface="B Nazanin" panose="00000400000000000000" pitchFamily="2" charset="-78"/>
              </a:rPr>
              <a:t>اين روش همانند “ساخت يافته” است با اين تفاوت كه پايه طراحي “داده” است و نه “عمليات”. در اين روش طراح در ابتدا ساختار داده ورودي خروجي را مشخص كرده </a:t>
            </a:r>
            <a:r>
              <a:rPr lang="fa-IR" dirty="0" smtClean="0">
                <a:cs typeface="B Nazanin" panose="00000400000000000000" pitchFamily="2" charset="-78"/>
              </a:rPr>
              <a:t>و </a:t>
            </a:r>
            <a:r>
              <a:rPr lang="fa-IR" dirty="0">
                <a:cs typeface="B Nazanin" panose="00000400000000000000" pitchFamily="2" charset="-78"/>
              </a:rPr>
              <a:t>سپس ساختار كنترل را براساس ساختار داده مشخص مي‌نمايد</a:t>
            </a:r>
            <a:r>
              <a:rPr lang="fa-IR" dirty="0" smtClean="0">
                <a:cs typeface="B Nazanin" panose="00000400000000000000" pitchFamily="2" charset="-78"/>
              </a:rPr>
              <a:t>.</a:t>
            </a:r>
          </a:p>
          <a:p>
            <a:pPr algn="just" fontAlgn="base"/>
            <a:r>
              <a:rPr lang="fa-IR" b="1" dirty="0">
                <a:cs typeface="B Nazanin" panose="00000400000000000000" pitchFamily="2" charset="-78"/>
              </a:rPr>
              <a:t>طراحي مبتني بر </a:t>
            </a:r>
            <a:r>
              <a:rPr lang="fa-IR" b="1" dirty="0" smtClean="0">
                <a:cs typeface="B Nazanin" panose="00000400000000000000" pitchFamily="2" charset="-78"/>
              </a:rPr>
              <a:t>مؤلفه : </a:t>
            </a:r>
            <a:r>
              <a:rPr lang="fa-IR" dirty="0">
                <a:cs typeface="B Nazanin" panose="00000400000000000000" pitchFamily="2" charset="-78"/>
              </a:rPr>
              <a:t>طراحي با استفاده از مؤلفه و قرار دادن آنها كنار هم براي رسيدن به يك كل كه نرم افزار هدف ماست را طراحي مبتني بر </a:t>
            </a:r>
            <a:r>
              <a:rPr lang="fa-IR" dirty="0" smtClean="0">
                <a:cs typeface="B Nazanin" panose="00000400000000000000" pitchFamily="2" charset="-78"/>
              </a:rPr>
              <a:t>مؤلفه گويند.</a:t>
            </a:r>
            <a:endParaRPr lang="fa-IR" dirty="0">
              <a:cs typeface="B Nazanin" panose="00000400000000000000" pitchFamily="2" charset="-78"/>
            </a:endParaRPr>
          </a:p>
          <a:p>
            <a:pPr lvl="1" algn="just" fontAlgn="base"/>
            <a:r>
              <a:rPr lang="fa-IR" dirty="0" smtClean="0">
                <a:cs typeface="B Nazanin" panose="00000400000000000000" pitchFamily="2" charset="-78"/>
              </a:rPr>
              <a:t>مؤلفه </a:t>
            </a:r>
            <a:r>
              <a:rPr lang="fa-IR" dirty="0">
                <a:cs typeface="B Nazanin" panose="00000400000000000000" pitchFamily="2" charset="-78"/>
              </a:rPr>
              <a:t>يك واحد مستقل مي‌باشد كه از </a:t>
            </a:r>
            <a:r>
              <a:rPr lang="fa-IR" dirty="0" smtClean="0">
                <a:cs typeface="B Nazanin" panose="00000400000000000000" pitchFamily="2" charset="-78"/>
              </a:rPr>
              <a:t>واسط‌ها و وابستگي‌هايي </a:t>
            </a:r>
            <a:r>
              <a:rPr lang="fa-IR" dirty="0">
                <a:cs typeface="B Nazanin" panose="00000400000000000000" pitchFamily="2" charset="-78"/>
              </a:rPr>
              <a:t>كه بطور شايسته‌اي تعريف شده، برخوردار مي‌باشد.</a:t>
            </a:r>
            <a:endParaRPr lang="fa-IR" b="1" dirty="0">
              <a:cs typeface="B Nazanin" panose="00000400000000000000" pitchFamily="2" charset="-78"/>
            </a:endParaRPr>
          </a:p>
          <a:p>
            <a:pPr algn="just"/>
            <a:endParaRPr lang="fa-IR" b="1" dirty="0"/>
          </a:p>
          <a:p>
            <a:pPr algn="just"/>
            <a:endParaRPr lang="fa-IR" b="1" dirty="0"/>
          </a:p>
          <a:p>
            <a:pPr algn="just"/>
            <a:endParaRPr lang="fa-IR" b="1" dirty="0"/>
          </a:p>
          <a:p>
            <a:pPr algn="just"/>
            <a:endParaRPr lang="en-US" dirty="0"/>
          </a:p>
        </p:txBody>
      </p:sp>
    </p:spTree>
    <p:extLst>
      <p:ext uri="{BB962C8B-B14F-4D97-AF65-F5344CB8AC3E}">
        <p14:creationId xmlns:p14="http://schemas.microsoft.com/office/powerpoint/2010/main" val="61196332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fa-IR" sz="4800" dirty="0" smtClean="0"/>
              <a:t>الگوهای طراحی</a:t>
            </a:r>
            <a:endParaRPr lang="en-US" sz="4800" dirty="0"/>
          </a:p>
        </p:txBody>
      </p:sp>
      <p:sp>
        <p:nvSpPr>
          <p:cNvPr id="3" name="Content Placeholder 2"/>
          <p:cNvSpPr>
            <a:spLocks noGrp="1"/>
          </p:cNvSpPr>
          <p:nvPr>
            <p:ph idx="1"/>
          </p:nvPr>
        </p:nvSpPr>
        <p:spPr/>
        <p:txBody>
          <a:bodyPr>
            <a:normAutofit/>
          </a:bodyPr>
          <a:lstStyle/>
          <a:p>
            <a:pPr algn="just"/>
            <a:r>
              <a:rPr lang="fa-IR" dirty="0">
                <a:cs typeface="B Nazanin" panose="00000400000000000000" pitchFamily="2" charset="-78"/>
              </a:rPr>
              <a:t>یک راه‌حل عمومی </a:t>
            </a:r>
            <a:r>
              <a:rPr lang="fa-IR" dirty="0" smtClean="0">
                <a:cs typeface="B Nazanin" panose="00000400000000000000" pitchFamily="2" charset="-78"/>
              </a:rPr>
              <a:t>برای </a:t>
            </a:r>
            <a:r>
              <a:rPr lang="fa-IR" dirty="0">
                <a:cs typeface="B Nazanin" panose="00000400000000000000" pitchFamily="2" charset="-78"/>
              </a:rPr>
              <a:t>مشکلات </a:t>
            </a:r>
            <a:r>
              <a:rPr lang="fa-IR" dirty="0" smtClean="0">
                <a:cs typeface="B Nazanin" panose="00000400000000000000" pitchFamily="2" charset="-78"/>
              </a:rPr>
              <a:t>تکرارپذیر در </a:t>
            </a:r>
            <a:r>
              <a:rPr lang="fa-IR" dirty="0">
                <a:cs typeface="B Nazanin" panose="00000400000000000000" pitchFamily="2" charset="-78"/>
              </a:rPr>
              <a:t> طراحی نرم‌افزار است</a:t>
            </a:r>
            <a:r>
              <a:rPr lang="fa-IR" dirty="0" smtClean="0">
                <a:cs typeface="B Nazanin" panose="00000400000000000000" pitchFamily="2" charset="-78"/>
              </a:rPr>
              <a:t>.</a:t>
            </a:r>
          </a:p>
          <a:p>
            <a:pPr algn="just"/>
            <a:r>
              <a:rPr lang="fa-IR" dirty="0" smtClean="0">
                <a:cs typeface="B Nazanin" panose="00000400000000000000" pitchFamily="2" charset="-78"/>
              </a:rPr>
              <a:t> </a:t>
            </a:r>
            <a:r>
              <a:rPr lang="fa-IR" dirty="0">
                <a:cs typeface="B Nazanin" panose="00000400000000000000" pitchFamily="2" charset="-78"/>
              </a:rPr>
              <a:t>الگوی طراحی، یک طراحی </a:t>
            </a:r>
            <a:r>
              <a:rPr lang="fa-IR" dirty="0" smtClean="0">
                <a:cs typeface="B Nazanin" panose="00000400000000000000" pitchFamily="2" charset="-78"/>
              </a:rPr>
              <a:t>نهایی </a:t>
            </a:r>
            <a:r>
              <a:rPr lang="fa-IR" dirty="0">
                <a:cs typeface="B Nazanin" panose="00000400000000000000" pitchFamily="2" charset="-78"/>
              </a:rPr>
              <a:t>نیست که به صورت مستقیم </a:t>
            </a:r>
            <a:r>
              <a:rPr lang="fa-IR" dirty="0" smtClean="0">
                <a:cs typeface="B Nazanin" panose="00000400000000000000" pitchFamily="2" charset="-78"/>
              </a:rPr>
              <a:t>بتوان آن را به کد تبدیل کرد؛ </a:t>
            </a:r>
            <a:r>
              <a:rPr lang="fa-IR" dirty="0">
                <a:cs typeface="B Nazanin" panose="00000400000000000000" pitchFamily="2" charset="-78"/>
              </a:rPr>
              <a:t>بلکه، یک توضیح یا قالب برای حل یک مسئله در شرایط مختلف است. </a:t>
            </a:r>
            <a:endParaRPr lang="fa-IR" dirty="0" smtClean="0">
              <a:cs typeface="B Nazanin" panose="00000400000000000000" pitchFamily="2" charset="-78"/>
            </a:endParaRPr>
          </a:p>
          <a:p>
            <a:pPr algn="just"/>
            <a:r>
              <a:rPr lang="fa-IR" dirty="0" smtClean="0">
                <a:cs typeface="B Nazanin" panose="00000400000000000000" pitchFamily="2" charset="-78"/>
              </a:rPr>
              <a:t>الگوها </a:t>
            </a:r>
            <a:r>
              <a:rPr lang="fa-IR" dirty="0">
                <a:cs typeface="B Nazanin" panose="00000400000000000000" pitchFamily="2" charset="-78"/>
              </a:rPr>
              <a:t>در واقع </a:t>
            </a:r>
            <a:r>
              <a:rPr lang="fa-IR" dirty="0" smtClean="0">
                <a:cs typeface="B Nazanin" panose="00000400000000000000" pitchFamily="2" charset="-78"/>
              </a:rPr>
              <a:t>روشی خوب برای استفاده در طراحی </a:t>
            </a:r>
            <a:r>
              <a:rPr lang="fa-IR" dirty="0">
                <a:cs typeface="B Nazanin" panose="00000400000000000000" pitchFamily="2" charset="-78"/>
              </a:rPr>
              <a:t>یک برنامه برای حل </a:t>
            </a:r>
            <a:r>
              <a:rPr lang="fa-IR" dirty="0" smtClean="0">
                <a:cs typeface="B Nazanin" panose="00000400000000000000" pitchFamily="2" charset="-78"/>
              </a:rPr>
              <a:t>مشکلات تکرارپذیر هستند. </a:t>
            </a:r>
          </a:p>
          <a:p>
            <a:pPr algn="just"/>
            <a:r>
              <a:rPr lang="fa-IR" dirty="0" smtClean="0">
                <a:cs typeface="B Nazanin" panose="00000400000000000000" pitchFamily="2" charset="-78"/>
              </a:rPr>
              <a:t>الگوهای</a:t>
            </a:r>
            <a:r>
              <a:rPr lang="fa-IR" dirty="0">
                <a:cs typeface="B Nazanin" panose="00000400000000000000" pitchFamily="2" charset="-78"/>
              </a:rPr>
              <a:t> طراحی شیءگرا نوعاً </a:t>
            </a:r>
            <a:r>
              <a:rPr lang="fa-IR" dirty="0" smtClean="0">
                <a:cs typeface="B Nazanin" panose="00000400000000000000" pitchFamily="2" charset="-78"/>
              </a:rPr>
              <a:t>نشان‌دهنده روابط </a:t>
            </a:r>
            <a:r>
              <a:rPr lang="fa-IR" dirty="0">
                <a:cs typeface="B Nazanin" panose="00000400000000000000" pitchFamily="2" charset="-78"/>
              </a:rPr>
              <a:t>و </a:t>
            </a:r>
            <a:r>
              <a:rPr lang="fa-IR" dirty="0" smtClean="0">
                <a:cs typeface="B Nazanin" panose="00000400000000000000" pitchFamily="2" charset="-78"/>
              </a:rPr>
              <a:t>تعامل‌ها بین </a:t>
            </a:r>
            <a:r>
              <a:rPr lang="fa-IR" dirty="0">
                <a:cs typeface="B Nazanin" panose="00000400000000000000" pitchFamily="2" charset="-78"/>
              </a:rPr>
              <a:t> کلاس‌ها و شیء‌ها هستند، </a:t>
            </a:r>
            <a:r>
              <a:rPr lang="fa-IR" dirty="0" smtClean="0">
                <a:cs typeface="B Nazanin" panose="00000400000000000000" pitchFamily="2" charset="-78"/>
              </a:rPr>
              <a:t> بدون </a:t>
            </a:r>
            <a:r>
              <a:rPr lang="fa-IR" dirty="0">
                <a:cs typeface="B Nazanin" panose="00000400000000000000" pitchFamily="2" charset="-78"/>
              </a:rPr>
              <a:t>این‌که کلاس‌ها یا اشیا نهایی برنامه را مشخص کند. </a:t>
            </a:r>
            <a:endParaRPr lang="en-US" dirty="0">
              <a:cs typeface="B Nazanin" panose="00000400000000000000" pitchFamily="2" charset="-78"/>
            </a:endParaRPr>
          </a:p>
        </p:txBody>
      </p:sp>
    </p:spTree>
    <p:extLst>
      <p:ext uri="{BB962C8B-B14F-4D97-AF65-F5344CB8AC3E}">
        <p14:creationId xmlns:p14="http://schemas.microsoft.com/office/powerpoint/2010/main" val="387116735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27584" y="5157192"/>
            <a:ext cx="7501880" cy="1024136"/>
          </a:xfrm>
        </p:spPr>
        <p:txBody>
          <a:bodyPr/>
          <a:lstStyle/>
          <a:p>
            <a:r>
              <a:rPr lang="fa-IR" dirty="0"/>
              <a:t>الگوهای طراحی</a:t>
            </a:r>
            <a:endParaRPr lang="en-US" dirty="0"/>
          </a:p>
        </p:txBody>
      </p:sp>
      <p:sp>
        <p:nvSpPr>
          <p:cNvPr id="6" name="Content Placeholder 5"/>
          <p:cNvSpPr>
            <a:spLocks noGrp="1"/>
          </p:cNvSpPr>
          <p:nvPr>
            <p:ph idx="1"/>
          </p:nvPr>
        </p:nvSpPr>
        <p:spPr>
          <a:xfrm>
            <a:off x="797921" y="3728594"/>
            <a:ext cx="7543800" cy="1725960"/>
          </a:xfrm>
        </p:spPr>
        <p:txBody>
          <a:bodyPr>
            <a:normAutofit fontScale="85000" lnSpcReduction="20000"/>
          </a:bodyPr>
          <a:lstStyle/>
          <a:p>
            <a:r>
              <a:rPr lang="fa-IR" dirty="0">
                <a:cs typeface="B Nazanin" panose="00000400000000000000" pitchFamily="2" charset="-78"/>
              </a:rPr>
              <a:t>الگوهای خلاقانه: برای ساخت اشیا به گونه ای استفاده می شود که بتوان آنها را از سیستم پیاده سازی خود جدا کرد. </a:t>
            </a:r>
            <a:endParaRPr lang="en-US" dirty="0" smtClean="0">
              <a:cs typeface="B Nazanin" panose="00000400000000000000" pitchFamily="2" charset="-78"/>
            </a:endParaRPr>
          </a:p>
          <a:p>
            <a:r>
              <a:rPr lang="fa-IR" dirty="0" smtClean="0">
                <a:cs typeface="B Nazanin" panose="00000400000000000000" pitchFamily="2" charset="-78"/>
              </a:rPr>
              <a:t>الگوهای </a:t>
            </a:r>
            <a:r>
              <a:rPr lang="fa-IR" dirty="0">
                <a:cs typeface="B Nazanin" panose="00000400000000000000" pitchFamily="2" charset="-78"/>
              </a:rPr>
              <a:t>ساختاری: برای تشکیل ساختارهای شی بزرگ بین بسیاری از اشیاء متفاوت استفاده می شود. </a:t>
            </a:r>
            <a:endParaRPr lang="en-US" dirty="0" smtClean="0">
              <a:cs typeface="B Nazanin" panose="00000400000000000000" pitchFamily="2" charset="-78"/>
            </a:endParaRPr>
          </a:p>
          <a:p>
            <a:r>
              <a:rPr lang="fa-IR" dirty="0" smtClean="0">
                <a:cs typeface="B Nazanin" panose="00000400000000000000" pitchFamily="2" charset="-78"/>
              </a:rPr>
              <a:t>الگوهای </a:t>
            </a:r>
            <a:r>
              <a:rPr lang="fa-IR" dirty="0">
                <a:cs typeface="B Nazanin" panose="00000400000000000000" pitchFamily="2" charset="-78"/>
              </a:rPr>
              <a:t>رفتاری: برای مدیریت الگوریتم ها، روابط و مسئولیت های بین اشیا استفاده می شود.</a:t>
            </a:r>
            <a:endParaRPr lang="en-US" dirty="0">
              <a:cs typeface="B Nazanin" panose="00000400000000000000" pitchFamily="2" charset="-78"/>
            </a:endParaRPr>
          </a:p>
        </p:txBody>
      </p:sp>
      <p:pic>
        <p:nvPicPr>
          <p:cNvPr id="6147"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27584" y="404664"/>
            <a:ext cx="7484474" cy="331236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778606002"/>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a-IR" dirty="0" smtClean="0"/>
              <a:t>الگوهای طراحی</a:t>
            </a:r>
            <a:endParaRPr lang="en-US" dirty="0"/>
          </a:p>
        </p:txBody>
      </p:sp>
      <p:sp>
        <p:nvSpPr>
          <p:cNvPr id="3" name="Content Placeholder 2"/>
          <p:cNvSpPr>
            <a:spLocks noGrp="1"/>
          </p:cNvSpPr>
          <p:nvPr>
            <p:ph idx="1"/>
          </p:nvPr>
        </p:nvSpPr>
        <p:spPr>
          <a:xfrm>
            <a:off x="683568" y="1268760"/>
            <a:ext cx="7543800" cy="3886200"/>
          </a:xfrm>
        </p:spPr>
        <p:txBody>
          <a:bodyPr>
            <a:normAutofit fontScale="85000" lnSpcReduction="20000"/>
          </a:bodyPr>
          <a:lstStyle/>
          <a:p>
            <a:pPr algn="just"/>
            <a:r>
              <a:rPr lang="fa-IR" dirty="0" smtClean="0">
                <a:cs typeface="B Nazanin" panose="00000400000000000000" pitchFamily="2" charset="-78"/>
              </a:rPr>
              <a:t>الگوی </a:t>
            </a:r>
            <a:r>
              <a:rPr lang="en-US" dirty="0" smtClean="0">
                <a:cs typeface="B Nazanin" panose="00000400000000000000" pitchFamily="2" charset="-78"/>
              </a:rPr>
              <a:t>Factory Method</a:t>
            </a:r>
            <a:r>
              <a:rPr lang="fa-IR" dirty="0" smtClean="0">
                <a:cs typeface="B Nazanin" panose="00000400000000000000" pitchFamily="2" charset="-78"/>
              </a:rPr>
              <a:t> : یک </a:t>
            </a:r>
            <a:r>
              <a:rPr lang="fa-IR" dirty="0">
                <a:cs typeface="B Nazanin" panose="00000400000000000000" pitchFamily="2" charset="-78"/>
              </a:rPr>
              <a:t>رابط برای ساخت اشیاء تعریف کرده و در عین حال اجازه می‌دهد تا زیر کلاس‌ها در مورد اینکه چه شیء را نمونه‌سازی کنند تصمیم بگیرند. در واقع این الگو اجازه می‌دهد تا نمونه‌سازی را به زیر کلاس‌ها محول نمود</a:t>
            </a:r>
            <a:r>
              <a:rPr lang="fa-IR" dirty="0" smtClean="0">
                <a:cs typeface="B Nazanin" panose="00000400000000000000" pitchFamily="2" charset="-78"/>
              </a:rPr>
              <a:t>.</a:t>
            </a:r>
          </a:p>
          <a:p>
            <a:pPr algn="just"/>
            <a:r>
              <a:rPr lang="fa-IR" dirty="0" smtClean="0">
                <a:cs typeface="B Nazanin" panose="00000400000000000000" pitchFamily="2" charset="-78"/>
              </a:rPr>
              <a:t>الگوی </a:t>
            </a:r>
            <a:r>
              <a:rPr lang="en-US" dirty="0" smtClean="0">
                <a:cs typeface="B Nazanin" panose="00000400000000000000" pitchFamily="2" charset="-78"/>
              </a:rPr>
              <a:t>Adapter</a:t>
            </a:r>
            <a:r>
              <a:rPr lang="fa-IR" dirty="0" smtClean="0">
                <a:cs typeface="B Nazanin" panose="00000400000000000000" pitchFamily="2" charset="-78"/>
              </a:rPr>
              <a:t>: </a:t>
            </a:r>
            <a:r>
              <a:rPr lang="en-US" dirty="0">
                <a:cs typeface="B Nazanin" panose="00000400000000000000" pitchFamily="2" charset="-78"/>
              </a:rPr>
              <a:t> </a:t>
            </a:r>
            <a:r>
              <a:rPr lang="fa-IR" dirty="0">
                <a:cs typeface="B Nazanin" panose="00000400000000000000" pitchFamily="2" charset="-78"/>
              </a:rPr>
              <a:t>رابط یک کلاس را به رابط دیگری که مورد انتظار یک مشتری است تبدیل می‌کند. این الگو امکان همکاری بین اشیائی که قبلاً بخاطر داشتن رابط‌های ناسازگار نمی‌توانستند با هم کار کنند را فراهم می‌سازد</a:t>
            </a:r>
            <a:r>
              <a:rPr lang="fa-IR" dirty="0" smtClean="0">
                <a:cs typeface="B Nazanin" panose="00000400000000000000" pitchFamily="2" charset="-78"/>
              </a:rPr>
              <a:t>.</a:t>
            </a:r>
          </a:p>
          <a:p>
            <a:pPr algn="just"/>
            <a:r>
              <a:rPr lang="fa-IR" dirty="0" smtClean="0">
                <a:cs typeface="B Nazanin" panose="00000400000000000000" pitchFamily="2" charset="-78"/>
              </a:rPr>
              <a:t>الگوی </a:t>
            </a:r>
            <a:r>
              <a:rPr lang="en-US" b="1" dirty="0">
                <a:cs typeface="B Nazanin" panose="00000400000000000000" pitchFamily="2" charset="-78"/>
              </a:rPr>
              <a:t>Template method</a:t>
            </a:r>
            <a:r>
              <a:rPr lang="fa-IR" b="1" dirty="0">
                <a:cs typeface="B Nazanin" panose="00000400000000000000" pitchFamily="2" charset="-78"/>
              </a:rPr>
              <a:t> </a:t>
            </a:r>
            <a:r>
              <a:rPr lang="fa-IR" b="1" dirty="0" smtClean="0">
                <a:cs typeface="B Nazanin" panose="00000400000000000000" pitchFamily="2" charset="-78"/>
              </a:rPr>
              <a:t>: </a:t>
            </a:r>
            <a:r>
              <a:rPr lang="en-US" dirty="0" smtClean="0">
                <a:cs typeface="B Nazanin" panose="00000400000000000000" pitchFamily="2" charset="-78"/>
              </a:rPr>
              <a:t> </a:t>
            </a:r>
            <a:r>
              <a:rPr lang="fa-IR" dirty="0">
                <a:cs typeface="B Nazanin" panose="00000400000000000000" pitchFamily="2" charset="-78"/>
              </a:rPr>
              <a:t>اسکلت یک الگوریتم را تعریف کرده و پیاده‌سازی بعضی قدم‌های آن را به زیر کلاس‌ها محول می‌کند. این الگو امکان تغییر بعضی از قدم‌های یک الگوریتم را بدون تغییر در ساختار کلی الگوریتم به زیر کلاس‌ها می‌دهد</a:t>
            </a:r>
            <a:r>
              <a:rPr lang="fa-IR" dirty="0" smtClean="0">
                <a:cs typeface="B Nazanin" panose="00000400000000000000" pitchFamily="2" charset="-78"/>
              </a:rPr>
              <a:t>.</a:t>
            </a:r>
          </a:p>
          <a:p>
            <a:pPr algn="just"/>
            <a:r>
              <a:rPr lang="en-US" dirty="0">
                <a:cs typeface="B Nazanin" panose="00000400000000000000" pitchFamily="2" charset="-78"/>
              </a:rPr>
              <a:t>(</a:t>
            </a:r>
            <a:r>
              <a:rPr lang="en-US" b="1" dirty="0">
                <a:cs typeface="B Nazanin" panose="00000400000000000000" pitchFamily="2" charset="-78"/>
              </a:rPr>
              <a:t>Interpreter</a:t>
            </a:r>
            <a:r>
              <a:rPr lang="en-US" dirty="0">
                <a:cs typeface="B Nazanin" panose="00000400000000000000" pitchFamily="2" charset="-78"/>
              </a:rPr>
              <a:t>) </a:t>
            </a:r>
            <a:r>
              <a:rPr lang="fa-IR" dirty="0">
                <a:cs typeface="B Nazanin" panose="00000400000000000000" pitchFamily="2" charset="-78"/>
              </a:rPr>
              <a:t>برای یک زبان، نمایشی از گرامرش به همراه مفسری که از آن نمایش برای تفسیر جملات مربوط به آن زبان استفاده می‌کند تعریف می‌نماید</a:t>
            </a:r>
            <a:r>
              <a:rPr lang="fa-IR" dirty="0" smtClean="0">
                <a:cs typeface="B Nazanin" panose="00000400000000000000" pitchFamily="2" charset="-78"/>
              </a:rPr>
              <a:t>.</a:t>
            </a:r>
          </a:p>
          <a:p>
            <a:pPr algn="just"/>
            <a:endParaRPr lang="fa-IR" dirty="0">
              <a:cs typeface="B Nazanin" panose="00000400000000000000" pitchFamily="2" charset="-78"/>
            </a:endParaRPr>
          </a:p>
          <a:p>
            <a:pPr marL="0" indent="0" algn="ctr">
              <a:buNone/>
            </a:pPr>
            <a:r>
              <a:rPr lang="fa-IR" dirty="0" smtClean="0">
                <a:solidFill>
                  <a:srgbClr val="FF0000"/>
                </a:solidFill>
              </a:rPr>
              <a:t>«الگوهای </a:t>
            </a:r>
            <a:r>
              <a:rPr lang="fa-IR" dirty="0">
                <a:solidFill>
                  <a:srgbClr val="FF0000"/>
                </a:solidFill>
              </a:rPr>
              <a:t>طراحی ممکن است تنها حاکی از کمبود برخی قابلیت‌ها و ویژگی‌ها در یک زبان برنامه‌نویسی </a:t>
            </a:r>
            <a:r>
              <a:rPr lang="fa-IR" dirty="0" smtClean="0">
                <a:solidFill>
                  <a:srgbClr val="FF0000"/>
                </a:solidFill>
              </a:rPr>
              <a:t>باشند.»</a:t>
            </a:r>
            <a:endParaRPr lang="fa-IR" dirty="0">
              <a:solidFill>
                <a:srgbClr val="FF0000"/>
              </a:solidFill>
              <a:cs typeface="B Nazanin" panose="00000400000000000000" pitchFamily="2" charset="-78"/>
            </a:endParaRPr>
          </a:p>
          <a:p>
            <a:pPr algn="just"/>
            <a:endParaRPr lang="en-US" dirty="0">
              <a:cs typeface="B Nazanin" panose="00000400000000000000" pitchFamily="2" charset="-78"/>
            </a:endParaRPr>
          </a:p>
        </p:txBody>
      </p:sp>
      <p:sp>
        <p:nvSpPr>
          <p:cNvPr id="5" name="Rectangle 4"/>
          <p:cNvSpPr/>
          <p:nvPr/>
        </p:nvSpPr>
        <p:spPr>
          <a:xfrm>
            <a:off x="755576" y="6211669"/>
            <a:ext cx="5976664" cy="646331"/>
          </a:xfrm>
          <a:prstGeom prst="rect">
            <a:avLst/>
          </a:prstGeom>
        </p:spPr>
        <p:txBody>
          <a:bodyPr wrap="square">
            <a:spAutoFit/>
          </a:bodyPr>
          <a:lstStyle/>
          <a:p>
            <a:r>
              <a:rPr lang="en-US" dirty="0" smtClean="0"/>
              <a:t>https://sparxsystems.com/enterprise_architect_user_guide/14.0/model_domains/umlpatterns.html</a:t>
            </a:r>
            <a:endParaRPr lang="en-US" dirty="0"/>
          </a:p>
        </p:txBody>
      </p:sp>
    </p:spTree>
    <p:extLst>
      <p:ext uri="{BB962C8B-B14F-4D97-AF65-F5344CB8AC3E}">
        <p14:creationId xmlns:p14="http://schemas.microsoft.com/office/powerpoint/2010/main" val="3440451985"/>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fa-IR" dirty="0" smtClean="0"/>
              <a:t>ماژول و مولفه نرم افزاری</a:t>
            </a:r>
            <a:endParaRPr lang="en-US" dirty="0"/>
          </a:p>
        </p:txBody>
      </p:sp>
      <p:sp>
        <p:nvSpPr>
          <p:cNvPr id="3" name="Content Placeholder 2"/>
          <p:cNvSpPr>
            <a:spLocks noGrp="1"/>
          </p:cNvSpPr>
          <p:nvPr>
            <p:ph idx="1"/>
          </p:nvPr>
        </p:nvSpPr>
        <p:spPr>
          <a:xfrm>
            <a:off x="827584" y="116632"/>
            <a:ext cx="7543800" cy="2736304"/>
          </a:xfrm>
        </p:spPr>
        <p:txBody>
          <a:bodyPr/>
          <a:lstStyle/>
          <a:p>
            <a:r>
              <a:rPr lang="fa-IR" dirty="0" smtClean="0">
                <a:cs typeface="B Nazanin" panose="00000400000000000000" pitchFamily="2" charset="-78"/>
              </a:rPr>
              <a:t>ماژول‌ها</a:t>
            </a:r>
            <a:r>
              <a:rPr lang="fa-IR" dirty="0">
                <a:cs typeface="B Nazanin" panose="00000400000000000000" pitchFamily="2" charset="-78"/>
              </a:rPr>
              <a:t>، واحدهاي </a:t>
            </a:r>
            <a:r>
              <a:rPr lang="fa-IR" dirty="0" smtClean="0">
                <a:cs typeface="B Nazanin" panose="00000400000000000000" pitchFamily="2" charset="-78"/>
              </a:rPr>
              <a:t>پياده‌سازي </a:t>
            </a:r>
            <a:r>
              <a:rPr lang="fa-IR" dirty="0">
                <a:cs typeface="B Nazanin" panose="00000400000000000000" pitchFamily="2" charset="-78"/>
              </a:rPr>
              <a:t>سيستم هستند و اغلب به عنوان </a:t>
            </a:r>
            <a:r>
              <a:rPr lang="fa-IR" dirty="0" smtClean="0">
                <a:cs typeface="B Nazanin" panose="00000400000000000000" pitchFamily="2" charset="-78"/>
              </a:rPr>
              <a:t>پايه‌اي </a:t>
            </a:r>
            <a:r>
              <a:rPr lang="fa-IR" dirty="0">
                <a:cs typeface="B Nazanin" panose="00000400000000000000" pitchFamily="2" charset="-78"/>
              </a:rPr>
              <a:t>براي سازمان توسعه دهنده پروژه (ساختار </a:t>
            </a:r>
            <a:r>
              <a:rPr lang="fa-IR" dirty="0" smtClean="0">
                <a:cs typeface="B Nazanin" panose="00000400000000000000" pitchFamily="2" charset="-78"/>
              </a:rPr>
              <a:t>پياده‌سازي</a:t>
            </a:r>
            <a:r>
              <a:rPr lang="fa-IR" dirty="0">
                <a:cs typeface="B Nazanin" panose="00000400000000000000" pitchFamily="2" charset="-78"/>
              </a:rPr>
              <a:t>، مستندسازي و يكپارچه سازي و تست)مورد اسـتفاده قرار </a:t>
            </a:r>
            <a:r>
              <a:rPr lang="fa-IR" dirty="0" smtClean="0">
                <a:cs typeface="B Nazanin" panose="00000400000000000000" pitchFamily="2" charset="-78"/>
              </a:rPr>
              <a:t>مي‌گيرد</a:t>
            </a:r>
            <a:endParaRPr lang="fa-IR" dirty="0">
              <a:cs typeface="B Nazanin" panose="00000400000000000000" pitchFamily="2" charset="-78"/>
            </a:endParaRPr>
          </a:p>
          <a:p>
            <a:endParaRPr lang="en-US" dirty="0"/>
          </a:p>
        </p:txBody>
      </p:sp>
      <p:pic>
        <p:nvPicPr>
          <p:cNvPr id="8194"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l="17328" t="39063" r="19283" b="16876"/>
          <a:stretch/>
        </p:blipFill>
        <p:spPr bwMode="auto">
          <a:xfrm>
            <a:off x="1475656" y="1759724"/>
            <a:ext cx="6192688" cy="253337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4" name="TextBox 3"/>
          <p:cNvSpPr txBox="1"/>
          <p:nvPr/>
        </p:nvSpPr>
        <p:spPr>
          <a:xfrm>
            <a:off x="1025860" y="4469424"/>
            <a:ext cx="7074532" cy="923330"/>
          </a:xfrm>
          <a:prstGeom prst="rect">
            <a:avLst/>
          </a:prstGeom>
          <a:noFill/>
        </p:spPr>
        <p:txBody>
          <a:bodyPr wrap="square" rtlCol="0">
            <a:spAutoFit/>
          </a:bodyPr>
          <a:lstStyle/>
          <a:p>
            <a:pPr algn="just" rtl="1"/>
            <a:r>
              <a:rPr lang="fa-IR" dirty="0"/>
              <a:t>مولفه های نرم افزاری یک قطعه جامع و قابل توسعه می باشدکه عملکردش به خوبی تعریف شده است و از طریق واسطها با دیگر مولفه ها  می تواند ترکیب شده و با همدیگر در تعامل باشند </a:t>
            </a:r>
            <a:endParaRPr lang="en-US" dirty="0"/>
          </a:p>
        </p:txBody>
      </p:sp>
    </p:spTree>
    <p:extLst>
      <p:ext uri="{BB962C8B-B14F-4D97-AF65-F5344CB8AC3E}">
        <p14:creationId xmlns:p14="http://schemas.microsoft.com/office/powerpoint/2010/main" val="260625093"/>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a-IR" dirty="0" smtClean="0"/>
              <a:t>ماژولار بودن</a:t>
            </a:r>
            <a:endParaRPr lang="en-US" dirty="0"/>
          </a:p>
        </p:txBody>
      </p:sp>
      <p:sp>
        <p:nvSpPr>
          <p:cNvPr id="3" name="Content Placeholder 2"/>
          <p:cNvSpPr>
            <a:spLocks noGrp="1"/>
          </p:cNvSpPr>
          <p:nvPr>
            <p:ph idx="1"/>
          </p:nvPr>
        </p:nvSpPr>
        <p:spPr/>
        <p:txBody>
          <a:bodyPr/>
          <a:lstStyle/>
          <a:p>
            <a:r>
              <a:rPr lang="fa-IR" dirty="0">
                <a:cs typeface="B Nazanin" panose="00000400000000000000" pitchFamily="2" charset="-78"/>
              </a:rPr>
              <a:t>ماژولار بودن تنها ویژگی نرم افزاری است که به یک برنامه اجازه می دهد تا از نظر فکری قابل مدیریت باشد</a:t>
            </a:r>
            <a:r>
              <a:rPr lang="fa-IR" dirty="0" smtClean="0">
                <a:cs typeface="B Nazanin" panose="00000400000000000000" pitchFamily="2" charset="-78"/>
              </a:rPr>
              <a:t>.</a:t>
            </a:r>
          </a:p>
          <a:p>
            <a:r>
              <a:rPr lang="fa-IR" dirty="0" smtClean="0">
                <a:cs typeface="B Nazanin" panose="00000400000000000000" pitchFamily="2" charset="-78"/>
              </a:rPr>
              <a:t>نرم </a:t>
            </a:r>
            <a:r>
              <a:rPr lang="fa-IR" dirty="0">
                <a:cs typeface="B Nazanin" panose="00000400000000000000" pitchFamily="2" charset="-78"/>
              </a:rPr>
              <a:t>افزار </a:t>
            </a:r>
            <a:r>
              <a:rPr lang="fa-IR" dirty="0" smtClean="0">
                <a:cs typeface="B Nazanin" panose="00000400000000000000" pitchFamily="2" charset="-78"/>
              </a:rPr>
              <a:t>یکنواخت(یعنی برنامه‌ای </a:t>
            </a:r>
            <a:r>
              <a:rPr lang="fa-IR" dirty="0">
                <a:cs typeface="B Nazanin" panose="00000400000000000000" pitchFamily="2" charset="-78"/>
              </a:rPr>
              <a:t>بزرگ که از یک ماژول تشکیل شده است) توسط یک مهندس نرم افزار به راحتی قابل درک نیست. </a:t>
            </a:r>
            <a:endParaRPr lang="fa-IR" dirty="0" smtClean="0">
              <a:cs typeface="B Nazanin" panose="00000400000000000000" pitchFamily="2" charset="-78"/>
            </a:endParaRPr>
          </a:p>
          <a:p>
            <a:r>
              <a:rPr lang="fa-IR" dirty="0" smtClean="0">
                <a:cs typeface="B Nazanin" panose="00000400000000000000" pitchFamily="2" charset="-78"/>
              </a:rPr>
              <a:t>تعداد </a:t>
            </a:r>
            <a:r>
              <a:rPr lang="fa-IR" dirty="0">
                <a:cs typeface="B Nazanin" panose="00000400000000000000" pitchFamily="2" charset="-78"/>
              </a:rPr>
              <a:t>مسیرهای کنترل، گستره مرجع، تعداد متغیرها و پیچیدگی کلی درک را تقریباً غیرممکن می کند. </a:t>
            </a:r>
            <a:endParaRPr lang="fa-IR" dirty="0" smtClean="0">
              <a:cs typeface="B Nazanin" panose="00000400000000000000" pitchFamily="2" charset="-78"/>
            </a:endParaRPr>
          </a:p>
          <a:p>
            <a:r>
              <a:rPr lang="fa-IR" dirty="0" smtClean="0">
                <a:cs typeface="B Nazanin" panose="00000400000000000000" pitchFamily="2" charset="-78"/>
              </a:rPr>
              <a:t>تقریباً </a:t>
            </a:r>
            <a:r>
              <a:rPr lang="fa-IR" dirty="0">
                <a:cs typeface="B Nazanin" panose="00000400000000000000" pitchFamily="2" charset="-78"/>
              </a:rPr>
              <a:t>در همه موارد، شما باید طرح را به ماژول‌های زیادی تقسیم کنید، به این امید که درک آسان‌تر و در نتیجه کاهش هزینه‌های لازم برای ساخت نرم‌افزار را کاهش دهید.</a:t>
            </a:r>
            <a:endParaRPr lang="en-US" dirty="0">
              <a:cs typeface="B Nazanin" panose="00000400000000000000" pitchFamily="2" charset="-78"/>
            </a:endParaRPr>
          </a:p>
        </p:txBody>
      </p:sp>
    </p:spTree>
    <p:extLst>
      <p:ext uri="{BB962C8B-B14F-4D97-AF65-F5344CB8AC3E}">
        <p14:creationId xmlns:p14="http://schemas.microsoft.com/office/powerpoint/2010/main" val="389180184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4725144"/>
            <a:ext cx="7717904" cy="1456184"/>
          </a:xfrm>
        </p:spPr>
        <p:txBody>
          <a:bodyPr>
            <a:normAutofit fontScale="90000"/>
          </a:bodyPr>
          <a:lstStyle/>
          <a:p>
            <a:r>
              <a:rPr lang="fa-IR" dirty="0" smtClean="0">
                <a:cs typeface="B Nazanin" panose="00000400000000000000" pitchFamily="2" charset="-78"/>
              </a:rPr>
              <a:t>طراحی ماژولار و مخفی سازی اطلاعات</a:t>
            </a:r>
            <a:endParaRPr lang="en-US" dirty="0">
              <a:cs typeface="B Nazanin" panose="00000400000000000000" pitchFamily="2" charset="-78"/>
            </a:endParaRPr>
          </a:p>
        </p:txBody>
      </p:sp>
      <p:sp>
        <p:nvSpPr>
          <p:cNvPr id="3" name="Content Placeholder 2"/>
          <p:cNvSpPr>
            <a:spLocks noGrp="1"/>
          </p:cNvSpPr>
          <p:nvPr>
            <p:ph idx="1"/>
          </p:nvPr>
        </p:nvSpPr>
        <p:spPr>
          <a:xfrm>
            <a:off x="757767" y="620688"/>
            <a:ext cx="7543800" cy="2295128"/>
          </a:xfrm>
        </p:spPr>
        <p:txBody>
          <a:bodyPr/>
          <a:lstStyle/>
          <a:p>
            <a:pPr algn="just"/>
            <a:r>
              <a:rPr lang="fa-IR" dirty="0">
                <a:cs typeface="B Nazanin" panose="00000400000000000000" pitchFamily="2" charset="-78"/>
              </a:rPr>
              <a:t>پنهان کردن اطلاعات به این معنی است که هر ماژول باید یک تصمیم طراحی را از بقیه ماژول ها پنهان کند. این اغلب راز ماژول نامیده می شود. به ویژه، طراح باید انتخاب کند که در یک ماژول، جنبه ای از سیستم را که احتمالاً با تکامل برنامه تغییر می کند، پنهان کند.</a:t>
            </a:r>
            <a:endParaRPr lang="en-US" dirty="0">
              <a:cs typeface="B Nazanin" panose="00000400000000000000" pitchFamily="2" charset="-78"/>
            </a:endParaRPr>
          </a:p>
        </p:txBody>
      </p:sp>
      <p:pic>
        <p:nvPicPr>
          <p:cNvPr id="9218"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l="33027" t="17217" r="19703" b="46017"/>
          <a:stretch/>
        </p:blipFill>
        <p:spPr bwMode="auto">
          <a:xfrm>
            <a:off x="1403648" y="2420888"/>
            <a:ext cx="5603642" cy="3064092"/>
          </a:xfrm>
          <a:prstGeom prst="rect">
            <a:avLst/>
          </a:prstGeom>
          <a:ln>
            <a:noFill/>
          </a:ln>
          <a:effectLst>
            <a:softEdge rad="112500"/>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60719671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30" name="Picture 6" descr="C:\Users\e.alirezaei\Desktop\63f39b56ea65990666e60769_63e3a04399c762433940b5fa_BuymdVdiClfa8BYxB0NdlnFo1Qk9Qq-JlAaW0STGe61cfEABVmpd2824YJJ75a9udh4_Clid89-x8yQ-Wzqfr0y2_TiKLxq1RyxwITWdIlmbt3VppgpBch2Ztb0V2gIvJhrmLJOLXERB_8qFb2frBEU.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3912158"/>
            <a:ext cx="4283968" cy="2945842"/>
          </a:xfrm>
          <a:prstGeom prst="rect">
            <a:avLst/>
          </a:prstGeom>
          <a:ln>
            <a:noFill/>
          </a:ln>
          <a:effectLst>
            <a:softEdge rad="112500"/>
          </a:effectLst>
          <a:extLst>
            <a:ext uri="{909E8E84-426E-40DD-AFC4-6F175D3DCCD1}">
              <a14:hiddenFill xmlns:a14="http://schemas.microsoft.com/office/drawing/2010/main">
                <a:solidFill>
                  <a:srgbClr val="FFFFFF"/>
                </a:solidFill>
              </a14:hiddenFill>
            </a:ext>
          </a:extLst>
        </p:spPr>
      </p:pic>
      <p:sp>
        <p:nvSpPr>
          <p:cNvPr id="3" name="Content Placeholder 2"/>
          <p:cNvSpPr>
            <a:spLocks noGrp="1"/>
          </p:cNvSpPr>
          <p:nvPr>
            <p:ph idx="1"/>
          </p:nvPr>
        </p:nvSpPr>
        <p:spPr/>
        <p:txBody>
          <a:bodyPr>
            <a:normAutofit fontScale="92500" lnSpcReduction="20000"/>
          </a:bodyPr>
          <a:lstStyle/>
          <a:p>
            <a:pPr algn="just"/>
            <a:r>
              <a:rPr lang="fa-IR" dirty="0" smtClean="0">
                <a:cs typeface="B Nazanin" panose="00000400000000000000" pitchFamily="2" charset="-78"/>
              </a:rPr>
              <a:t>ریفکتورینگ یک فرآیند </a:t>
            </a:r>
            <a:r>
              <a:rPr lang="fa-IR" dirty="0">
                <a:cs typeface="B Nazanin" panose="00000400000000000000" pitchFamily="2" charset="-78"/>
              </a:rPr>
              <a:t>تغییر یک سیستم نرم افزاری است به گونه ای که رفتار خارجی کد [طراحی] را تغییر نمی دهد و در عین حال ساختار داخلی آن را بهبود می بخشد. </a:t>
            </a:r>
            <a:endParaRPr lang="fa-IR" dirty="0" smtClean="0">
              <a:cs typeface="B Nazanin" panose="00000400000000000000" pitchFamily="2" charset="-78"/>
            </a:endParaRPr>
          </a:p>
          <a:p>
            <a:pPr algn="just"/>
            <a:r>
              <a:rPr lang="fa-IR" dirty="0" smtClean="0">
                <a:cs typeface="B Nazanin" panose="00000400000000000000" pitchFamily="2" charset="-78"/>
              </a:rPr>
              <a:t>هنگامی </a:t>
            </a:r>
            <a:r>
              <a:rPr lang="fa-IR" dirty="0">
                <a:cs typeface="B Nazanin" panose="00000400000000000000" pitchFamily="2" charset="-78"/>
              </a:rPr>
              <a:t>که نرم افزار بازسازی می شود، طرح موجود مورد </a:t>
            </a:r>
            <a:r>
              <a:rPr lang="fa-IR" dirty="0" smtClean="0">
                <a:cs typeface="B Nazanin" panose="00000400000000000000" pitchFamily="2" charset="-78"/>
              </a:rPr>
              <a:t>برای وجود افزونگی، </a:t>
            </a:r>
            <a:r>
              <a:rPr lang="fa-IR" dirty="0">
                <a:cs typeface="B Nazanin" panose="00000400000000000000" pitchFamily="2" charset="-78"/>
              </a:rPr>
              <a:t>عناصر طراحی استفاده </a:t>
            </a:r>
            <a:r>
              <a:rPr lang="fa-IR" dirty="0" smtClean="0">
                <a:cs typeface="B Nazanin" panose="00000400000000000000" pitchFamily="2" charset="-78"/>
              </a:rPr>
              <a:t>نشده، </a:t>
            </a:r>
            <a:r>
              <a:rPr lang="fa-IR" dirty="0">
                <a:cs typeface="B Nazanin" panose="00000400000000000000" pitchFamily="2" charset="-78"/>
              </a:rPr>
              <a:t>الگوریتم های ناکارآمد یا غیر </a:t>
            </a:r>
            <a:r>
              <a:rPr lang="fa-IR" dirty="0" smtClean="0">
                <a:cs typeface="B Nazanin" panose="00000400000000000000" pitchFamily="2" charset="-78"/>
              </a:rPr>
              <a:t>ضروری، </a:t>
            </a:r>
            <a:r>
              <a:rPr lang="fa-IR" dirty="0">
                <a:cs typeface="B Nazanin" panose="00000400000000000000" pitchFamily="2" charset="-78"/>
              </a:rPr>
              <a:t>ساختارهای داده ضعیف یا نامناسب یا هر شکست طراحی دیگری که بتوان آن را اصلاح کرد تا طراحی بهتری به دست </a:t>
            </a:r>
            <a:r>
              <a:rPr lang="fa-IR" dirty="0" smtClean="0">
                <a:cs typeface="B Nazanin" panose="00000400000000000000" pitchFamily="2" charset="-78"/>
              </a:rPr>
              <a:t>آورد؛ مورد بررسی قرار می‌گیرد.</a:t>
            </a:r>
          </a:p>
          <a:p>
            <a:pPr algn="just"/>
            <a:r>
              <a:rPr lang="fa-IR" dirty="0" smtClean="0">
                <a:cs typeface="B Nazanin" panose="00000400000000000000" pitchFamily="2" charset="-78"/>
              </a:rPr>
              <a:t>ریفکتورینگ نوعی </a:t>
            </a:r>
            <a:r>
              <a:rPr lang="fa-IR" dirty="0">
                <a:cs typeface="B Nazanin" panose="00000400000000000000" pitchFamily="2" charset="-78"/>
              </a:rPr>
              <a:t>تعمیر و نگهداری نرم افزار است که هدف آن بهبود طراحی یا معماری یک سیستم موجود بدون تغییر کد منبع آن است</a:t>
            </a:r>
            <a:r>
              <a:rPr lang="fa-IR" dirty="0" smtClean="0">
                <a:cs typeface="B Nazanin" panose="00000400000000000000" pitchFamily="2" charset="-78"/>
              </a:rPr>
              <a:t>.</a:t>
            </a:r>
          </a:p>
          <a:p>
            <a:pPr marL="0" indent="0" algn="ctr">
              <a:buNone/>
            </a:pPr>
            <a:r>
              <a:rPr lang="fa-IR" dirty="0" smtClean="0">
                <a:solidFill>
                  <a:srgbClr val="FF0000"/>
                </a:solidFill>
                <a:cs typeface="B Nazanin" panose="00000400000000000000" pitchFamily="2" charset="-78"/>
              </a:rPr>
              <a:t>«ریفکتورینگ طراحی </a:t>
            </a:r>
            <a:r>
              <a:rPr lang="fa-IR" dirty="0">
                <a:solidFill>
                  <a:srgbClr val="FF0000"/>
                </a:solidFill>
                <a:cs typeface="B Nazanin" panose="00000400000000000000" pitchFamily="2" charset="-78"/>
              </a:rPr>
              <a:t>کد را تغییر می دهد، اما هرگز رفتار نرم افزار را تغییر نمی </a:t>
            </a:r>
            <a:r>
              <a:rPr lang="fa-IR" dirty="0" smtClean="0">
                <a:solidFill>
                  <a:srgbClr val="FF0000"/>
                </a:solidFill>
                <a:cs typeface="B Nazanin" panose="00000400000000000000" pitchFamily="2" charset="-78"/>
              </a:rPr>
              <a:t>دهد»</a:t>
            </a:r>
            <a:endParaRPr lang="en-US" dirty="0" smtClean="0">
              <a:solidFill>
                <a:srgbClr val="FF0000"/>
              </a:solidFill>
              <a:cs typeface="B Nazanin" panose="00000400000000000000" pitchFamily="2" charset="-78"/>
            </a:endParaRPr>
          </a:p>
          <a:p>
            <a:r>
              <a:rPr lang="fa-IR" dirty="0" smtClean="0">
                <a:solidFill>
                  <a:schemeClr val="tx1"/>
                </a:solidFill>
                <a:cs typeface="B Nazanin" panose="00000400000000000000" pitchFamily="2" charset="-78"/>
              </a:rPr>
              <a:t>انواع روش ریفکتورینگ: </a:t>
            </a:r>
          </a:p>
          <a:p>
            <a:pPr lvl="1"/>
            <a:r>
              <a:rPr lang="fa-IR" dirty="0">
                <a:cs typeface="B Nazanin" panose="00000400000000000000" pitchFamily="2" charset="-78"/>
              </a:rPr>
              <a:t>بازسازی </a:t>
            </a:r>
            <a:r>
              <a:rPr lang="fa-IR" dirty="0" smtClean="0">
                <a:cs typeface="B Nazanin" panose="00000400000000000000" pitchFamily="2" charset="-78"/>
              </a:rPr>
              <a:t>قرمز-سبز، </a:t>
            </a:r>
            <a:r>
              <a:rPr lang="fa-IR" dirty="0">
                <a:cs typeface="B Nazanin" panose="00000400000000000000" pitchFamily="2" charset="-78"/>
              </a:rPr>
              <a:t>روش </a:t>
            </a:r>
            <a:r>
              <a:rPr lang="fa-IR" dirty="0" smtClean="0">
                <a:cs typeface="B Nazanin" panose="00000400000000000000" pitchFamily="2" charset="-78"/>
              </a:rPr>
              <a:t>استخراج، </a:t>
            </a:r>
            <a:r>
              <a:rPr lang="fa-IR" dirty="0">
                <a:cs typeface="B Nazanin" panose="00000400000000000000" pitchFamily="2" charset="-78"/>
              </a:rPr>
              <a:t>روش های ساده </a:t>
            </a:r>
            <a:r>
              <a:rPr lang="fa-IR" dirty="0" smtClean="0">
                <a:cs typeface="B Nazanin" panose="00000400000000000000" pitchFamily="2" charset="-78"/>
              </a:rPr>
              <a:t>سازی، </a:t>
            </a:r>
            <a:r>
              <a:rPr lang="fa-IR" dirty="0">
                <a:cs typeface="B Nazanin" panose="00000400000000000000" pitchFamily="2" charset="-78"/>
              </a:rPr>
              <a:t>روش </a:t>
            </a:r>
            <a:r>
              <a:rPr lang="fa-IR" dirty="0" smtClean="0">
                <a:cs typeface="B Nazanin" panose="00000400000000000000" pitchFamily="2" charset="-78"/>
              </a:rPr>
              <a:t>ترکیب، انتزاع.</a:t>
            </a:r>
            <a:endParaRPr lang="fa-IR" dirty="0" smtClean="0">
              <a:solidFill>
                <a:schemeClr val="tx1"/>
              </a:solidFill>
              <a:cs typeface="B Nazanin" panose="00000400000000000000" pitchFamily="2" charset="-78"/>
            </a:endParaRPr>
          </a:p>
          <a:p>
            <a:pPr algn="just"/>
            <a:endParaRPr lang="en-US" dirty="0">
              <a:cs typeface="B Nazanin" panose="00000400000000000000" pitchFamily="2" charset="-78"/>
            </a:endParaRPr>
          </a:p>
        </p:txBody>
      </p:sp>
      <p:sp>
        <p:nvSpPr>
          <p:cNvPr id="4" name="AutoShape 2" descr="Code Refactoring"/>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 name="Title 1"/>
          <p:cNvSpPr>
            <a:spLocks noGrp="1"/>
          </p:cNvSpPr>
          <p:nvPr>
            <p:ph type="title"/>
          </p:nvPr>
        </p:nvSpPr>
        <p:spPr/>
        <p:txBody>
          <a:bodyPr/>
          <a:lstStyle/>
          <a:p>
            <a:r>
              <a:rPr lang="fa-IR" dirty="0" smtClean="0"/>
              <a:t>ریفکتورینگ</a:t>
            </a:r>
            <a:endParaRPr lang="en-US" dirty="0"/>
          </a:p>
        </p:txBody>
      </p:sp>
    </p:spTree>
    <p:extLst>
      <p:ext uri="{BB962C8B-B14F-4D97-AF65-F5344CB8AC3E}">
        <p14:creationId xmlns:p14="http://schemas.microsoft.com/office/powerpoint/2010/main" val="140565557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fa-IR" sz="4400" dirty="0" smtClean="0"/>
              <a:t>طراحی شیئ گرا</a:t>
            </a:r>
            <a:endParaRPr lang="en-US" sz="4400" dirty="0"/>
          </a:p>
        </p:txBody>
      </p:sp>
      <p:sp>
        <p:nvSpPr>
          <p:cNvPr id="3" name="Content Placeholder 2"/>
          <p:cNvSpPr>
            <a:spLocks noGrp="1"/>
          </p:cNvSpPr>
          <p:nvPr>
            <p:ph idx="1"/>
          </p:nvPr>
        </p:nvSpPr>
        <p:spPr>
          <a:xfrm>
            <a:off x="755576" y="1052736"/>
            <a:ext cx="7543800" cy="4615408"/>
          </a:xfrm>
        </p:spPr>
        <p:txBody>
          <a:bodyPr>
            <a:normAutofit fontScale="85000" lnSpcReduction="20000"/>
          </a:bodyPr>
          <a:lstStyle/>
          <a:p>
            <a:r>
              <a:rPr lang="fa-IR" dirty="0">
                <a:cs typeface="B Nazanin" panose="00000400000000000000" pitchFamily="2" charset="-78"/>
              </a:rPr>
              <a:t>طراحی شی گرا به جای توابع درگیر در سیستم نرم افزاری ، حول موجودیت و خصوصیات آن ها کار می </a:t>
            </a:r>
            <a:r>
              <a:rPr lang="fa-IR" dirty="0" smtClean="0">
                <a:cs typeface="B Nazanin" panose="00000400000000000000" pitchFamily="2" charset="-78"/>
              </a:rPr>
              <a:t>کند، </a:t>
            </a:r>
            <a:r>
              <a:rPr lang="fa-IR" dirty="0">
                <a:cs typeface="B Nazanin" panose="00000400000000000000" pitchFamily="2" charset="-78"/>
              </a:rPr>
              <a:t>مفاهیم مهم طراحی شیء گرا </a:t>
            </a:r>
            <a:r>
              <a:rPr lang="fa-IR" dirty="0" smtClean="0">
                <a:cs typeface="B Nazanin" panose="00000400000000000000" pitchFamily="2" charset="-78"/>
              </a:rPr>
              <a:t> عبارتند از :</a:t>
            </a:r>
          </a:p>
          <a:p>
            <a:pPr lvl="1"/>
            <a:r>
              <a:rPr lang="fa-IR" b="1" dirty="0">
                <a:cs typeface="B Nazanin" panose="00000400000000000000" pitchFamily="2" charset="-78"/>
              </a:rPr>
              <a:t>اشیاء</a:t>
            </a:r>
            <a:r>
              <a:rPr lang="fa-IR" dirty="0">
                <a:cs typeface="B Nazanin" panose="00000400000000000000" pitchFamily="2" charset="-78"/>
              </a:rPr>
              <a:t> </a:t>
            </a:r>
            <a:r>
              <a:rPr lang="en-US" b="1" dirty="0" smtClean="0">
                <a:cs typeface="B Nazanin" panose="00000400000000000000" pitchFamily="2" charset="-78"/>
              </a:rPr>
              <a:t>Objects</a:t>
            </a:r>
            <a:r>
              <a:rPr lang="en-US" dirty="0">
                <a:cs typeface="B Nazanin" panose="00000400000000000000" pitchFamily="2" charset="-78"/>
              </a:rPr>
              <a:t> – </a:t>
            </a:r>
            <a:r>
              <a:rPr lang="fa-IR" dirty="0" smtClean="0">
                <a:cs typeface="B Nazanin" panose="00000400000000000000" pitchFamily="2" charset="-78"/>
              </a:rPr>
              <a:t>: تمام </a:t>
            </a:r>
            <a:r>
              <a:rPr lang="fa-IR" dirty="0">
                <a:cs typeface="B Nazanin" panose="00000400000000000000" pitchFamily="2" charset="-78"/>
              </a:rPr>
              <a:t>موجودیت درگیر در طراحی راه حل به عنوان اشیاء یا آبجکت شناخته می شوند. به عنوان مثال ، شخص ، بانک ها ، شرکت و مشتریان به </a:t>
            </a:r>
            <a:r>
              <a:rPr lang="fa-IR" dirty="0" smtClean="0">
                <a:cs typeface="B Nazanin" panose="00000400000000000000" pitchFamily="2" charset="-78"/>
              </a:rPr>
              <a:t>عنوان اشیاء </a:t>
            </a:r>
            <a:r>
              <a:rPr lang="fa-IR" dirty="0">
                <a:cs typeface="B Nazanin" panose="00000400000000000000" pitchFamily="2" charset="-78"/>
              </a:rPr>
              <a:t>رفتار می شوند</a:t>
            </a:r>
            <a:r>
              <a:rPr lang="fa-IR" dirty="0" smtClean="0">
                <a:cs typeface="B Nazanin" panose="00000400000000000000" pitchFamily="2" charset="-78"/>
              </a:rPr>
              <a:t>.</a:t>
            </a:r>
          </a:p>
          <a:p>
            <a:pPr lvl="1"/>
            <a:r>
              <a:rPr lang="fa-IR" b="1" dirty="0">
                <a:cs typeface="B Nazanin" panose="00000400000000000000" pitchFamily="2" charset="-78"/>
              </a:rPr>
              <a:t>کلاس ها</a:t>
            </a:r>
            <a:r>
              <a:rPr lang="fa-IR" dirty="0">
                <a:cs typeface="B Nazanin" panose="00000400000000000000" pitchFamily="2" charset="-78"/>
              </a:rPr>
              <a:t> </a:t>
            </a:r>
            <a:r>
              <a:rPr lang="en-US" b="1" dirty="0" smtClean="0">
                <a:cs typeface="B Nazanin" panose="00000400000000000000" pitchFamily="2" charset="-78"/>
              </a:rPr>
              <a:t>Classes</a:t>
            </a:r>
            <a:r>
              <a:rPr lang="en-US" dirty="0">
                <a:cs typeface="B Nazanin" panose="00000400000000000000" pitchFamily="2" charset="-78"/>
              </a:rPr>
              <a:t> – </a:t>
            </a:r>
            <a:r>
              <a:rPr lang="fa-IR" dirty="0" smtClean="0">
                <a:cs typeface="B Nazanin" panose="00000400000000000000" pitchFamily="2" charset="-78"/>
              </a:rPr>
              <a:t>: کلاس </a:t>
            </a:r>
            <a:r>
              <a:rPr lang="fa-IR" dirty="0">
                <a:cs typeface="B Nazanin" panose="00000400000000000000" pitchFamily="2" charset="-78"/>
              </a:rPr>
              <a:t>توضیحات کلی از یک شیء است. یک شیء نمونه ای از یک کلاس است. کلاس، تمام خصوصیاتی را که یک شیء می تواند داشته باشد </a:t>
            </a:r>
            <a:r>
              <a:rPr lang="fa-IR" dirty="0" smtClean="0">
                <a:cs typeface="B Nazanin" panose="00000400000000000000" pitchFamily="2" charset="-78"/>
              </a:rPr>
              <a:t>و روش </a:t>
            </a:r>
            <a:r>
              <a:rPr lang="fa-IR" dirty="0">
                <a:cs typeface="B Nazanin" panose="00000400000000000000" pitchFamily="2" charset="-78"/>
              </a:rPr>
              <a:t>هایی را تعریف می کند ، که عملکرد شی را تعریف می کند.</a:t>
            </a:r>
          </a:p>
          <a:p>
            <a:pPr lvl="1"/>
            <a:r>
              <a:rPr lang="fa-IR" b="1" dirty="0" smtClean="0">
                <a:cs typeface="B Nazanin" panose="00000400000000000000" pitchFamily="2" charset="-78"/>
              </a:rPr>
              <a:t>کپسوله </a:t>
            </a:r>
            <a:r>
              <a:rPr lang="fa-IR" b="1" dirty="0">
                <a:cs typeface="B Nazanin" panose="00000400000000000000" pitchFamily="2" charset="-78"/>
              </a:rPr>
              <a:t>سازی </a:t>
            </a:r>
            <a:r>
              <a:rPr lang="en-US" b="1" dirty="0" smtClean="0">
                <a:cs typeface="B Nazanin" panose="00000400000000000000" pitchFamily="2" charset="-78"/>
              </a:rPr>
              <a:t>Encapsulation</a:t>
            </a:r>
            <a:r>
              <a:rPr lang="en-US" dirty="0">
                <a:cs typeface="B Nazanin" panose="00000400000000000000" pitchFamily="2" charset="-78"/>
              </a:rPr>
              <a:t> – </a:t>
            </a:r>
            <a:r>
              <a:rPr lang="fa-IR" dirty="0" smtClean="0">
                <a:cs typeface="B Nazanin" panose="00000400000000000000" pitchFamily="2" charset="-78"/>
              </a:rPr>
              <a:t>: در </a:t>
            </a:r>
            <a:r>
              <a:rPr lang="en-US" dirty="0">
                <a:cs typeface="B Nazanin" panose="00000400000000000000" pitchFamily="2" charset="-78"/>
              </a:rPr>
              <a:t>OOD ،  </a:t>
            </a:r>
            <a:r>
              <a:rPr lang="fa-IR" dirty="0">
                <a:cs typeface="B Nazanin" panose="00000400000000000000" pitchFamily="2" charset="-78"/>
              </a:rPr>
              <a:t>اتریبیوت ها (متغیرهای داده) و متدها (عملکرد روی داده ها) به همراه یکدیگر </a:t>
            </a:r>
            <a:r>
              <a:rPr lang="fa-IR" dirty="0" smtClean="0">
                <a:cs typeface="B Nazanin" panose="00000400000000000000" pitchFamily="2" charset="-78"/>
              </a:rPr>
              <a:t>مدیریت می </a:t>
            </a:r>
            <a:r>
              <a:rPr lang="fa-IR" dirty="0">
                <a:cs typeface="B Nazanin" panose="00000400000000000000" pitchFamily="2" charset="-78"/>
              </a:rPr>
              <a:t>شوند که کپسوله ساری </a:t>
            </a:r>
            <a:r>
              <a:rPr lang="fa-IR" dirty="0" smtClean="0">
                <a:cs typeface="B Nazanin" panose="00000400000000000000" pitchFamily="2" charset="-78"/>
              </a:rPr>
              <a:t>نامیده می شود. کپسوله </a:t>
            </a:r>
            <a:r>
              <a:rPr lang="fa-IR" dirty="0">
                <a:cs typeface="B Nazanin" panose="00000400000000000000" pitchFamily="2" charset="-78"/>
              </a:rPr>
              <a:t>سازی </a:t>
            </a:r>
            <a:r>
              <a:rPr lang="fa-IR" dirty="0" smtClean="0">
                <a:cs typeface="B Nazanin" panose="00000400000000000000" pitchFamily="2" charset="-78"/>
              </a:rPr>
              <a:t>دسترسی </a:t>
            </a:r>
            <a:r>
              <a:rPr lang="fa-IR" dirty="0">
                <a:cs typeface="B Nazanin" panose="00000400000000000000" pitchFamily="2" charset="-78"/>
              </a:rPr>
              <a:t>داده ها و متد ها را از دنیای خارج نیز محدود می کند. </a:t>
            </a:r>
            <a:endParaRPr lang="fa-IR" dirty="0" smtClean="0">
              <a:cs typeface="B Nazanin" panose="00000400000000000000" pitchFamily="2" charset="-78"/>
            </a:endParaRPr>
          </a:p>
          <a:p>
            <a:pPr lvl="1"/>
            <a:r>
              <a:rPr lang="fa-IR" b="1" dirty="0" smtClean="0">
                <a:cs typeface="B Nazanin" panose="00000400000000000000" pitchFamily="2" charset="-78"/>
              </a:rPr>
              <a:t>وراثت</a:t>
            </a:r>
            <a:r>
              <a:rPr lang="fa-IR" b="1" dirty="0">
                <a:cs typeface="B Nazanin" panose="00000400000000000000" pitchFamily="2" charset="-78"/>
              </a:rPr>
              <a:t> </a:t>
            </a:r>
            <a:r>
              <a:rPr lang="fa-IR" dirty="0" smtClean="0">
                <a:cs typeface="B Nazanin" panose="00000400000000000000" pitchFamily="2" charset="-78"/>
              </a:rPr>
              <a:t>– به </a:t>
            </a:r>
            <a:r>
              <a:rPr lang="fa-IR" dirty="0">
                <a:cs typeface="B Nazanin" panose="00000400000000000000" pitchFamily="2" charset="-78"/>
              </a:rPr>
              <a:t>کلاس های مشابه اجازه می دهد تا به صورت سلسله مراتبی جمع شوند که طبقه های پایین یا زیر کلاس ها بتوانند، اجرا و استفاده </a:t>
            </a:r>
            <a:r>
              <a:rPr lang="fa-IR" dirty="0" smtClean="0">
                <a:cs typeface="B Nazanin" panose="00000400000000000000" pitchFamily="2" charset="-78"/>
              </a:rPr>
              <a:t>ی مجدد </a:t>
            </a:r>
            <a:r>
              <a:rPr lang="fa-IR" dirty="0">
                <a:cs typeface="B Nazanin" panose="00000400000000000000" pitchFamily="2" charset="-78"/>
              </a:rPr>
              <a:t>از متغیرها و متد های مجاز را از سوپر کلاس هایشان ایمپورت کنند.</a:t>
            </a:r>
          </a:p>
          <a:p>
            <a:pPr lvl="1"/>
            <a:r>
              <a:rPr lang="fa-IR" b="1" dirty="0" smtClean="0">
                <a:cs typeface="B Nazanin" panose="00000400000000000000" pitchFamily="2" charset="-78"/>
              </a:rPr>
              <a:t>چند </a:t>
            </a:r>
            <a:r>
              <a:rPr lang="fa-IR" b="1" dirty="0">
                <a:cs typeface="B Nazanin" panose="00000400000000000000" pitchFamily="2" charset="-78"/>
              </a:rPr>
              <a:t>ریختی </a:t>
            </a:r>
            <a:r>
              <a:rPr lang="en-US" b="1" dirty="0" smtClean="0">
                <a:cs typeface="B Nazanin" panose="00000400000000000000" pitchFamily="2" charset="-78"/>
              </a:rPr>
              <a:t>Polymorphism</a:t>
            </a:r>
            <a:r>
              <a:rPr lang="en-US" dirty="0">
                <a:cs typeface="B Nazanin" panose="00000400000000000000" pitchFamily="2" charset="-78"/>
              </a:rPr>
              <a:t> </a:t>
            </a:r>
            <a:r>
              <a:rPr lang="en-US" dirty="0" smtClean="0">
                <a:cs typeface="B Nazanin" panose="00000400000000000000" pitchFamily="2" charset="-78"/>
              </a:rPr>
              <a:t>–</a:t>
            </a:r>
            <a:r>
              <a:rPr lang="fa-IR" dirty="0" smtClean="0">
                <a:cs typeface="B Nazanin" panose="00000400000000000000" pitchFamily="2" charset="-78"/>
              </a:rPr>
              <a:t>: در </a:t>
            </a:r>
            <a:r>
              <a:rPr lang="fa-IR" dirty="0">
                <a:cs typeface="B Nazanin" panose="00000400000000000000" pitchFamily="2" charset="-78"/>
              </a:rPr>
              <a:t>آن متد ها می توانند وظایف مشابهی را انجام دهند اما در </a:t>
            </a:r>
            <a:r>
              <a:rPr lang="fa-IR" dirty="0" smtClean="0">
                <a:cs typeface="B Nazanin" panose="00000400000000000000" pitchFamily="2" charset="-78"/>
              </a:rPr>
              <a:t>رفتار و متدها </a:t>
            </a:r>
            <a:r>
              <a:rPr lang="fa-IR" dirty="0">
                <a:cs typeface="B Nazanin" panose="00000400000000000000" pitchFamily="2" charset="-78"/>
              </a:rPr>
              <a:t>متفاوت باشند </a:t>
            </a:r>
            <a:r>
              <a:rPr lang="fa-IR" dirty="0" smtClean="0">
                <a:cs typeface="B Nazanin" panose="00000400000000000000" pitchFamily="2" charset="-78"/>
              </a:rPr>
              <a:t>، که </a:t>
            </a:r>
            <a:r>
              <a:rPr lang="fa-IR" dirty="0">
                <a:cs typeface="B Nazanin" panose="00000400000000000000" pitchFamily="2" charset="-78"/>
              </a:rPr>
              <a:t>اجازه می دهد تا یک رابط کاربری واحد وظایف را برای انواع مختلف انجام دهد. بسته </a:t>
            </a:r>
            <a:r>
              <a:rPr lang="fa-IR" dirty="0" smtClean="0">
                <a:cs typeface="B Nazanin" panose="00000400000000000000" pitchFamily="2" charset="-78"/>
              </a:rPr>
              <a:t>به نحوه </a:t>
            </a:r>
            <a:r>
              <a:rPr lang="fa-IR" dirty="0">
                <a:cs typeface="B Nazanin" panose="00000400000000000000" pitchFamily="2" charset="-78"/>
              </a:rPr>
              <a:t>استناد تابع ، همان قسمت از کد اجرا می شود.</a:t>
            </a:r>
          </a:p>
          <a:p>
            <a:endParaRPr lang="fa-IR" dirty="0"/>
          </a:p>
          <a:p>
            <a:pPr lvl="1"/>
            <a:endParaRPr lang="fa-IR" dirty="0" smtClean="0"/>
          </a:p>
          <a:p>
            <a:pPr lvl="1"/>
            <a:endParaRPr lang="en-US" dirty="0"/>
          </a:p>
        </p:txBody>
      </p:sp>
    </p:spTree>
    <p:extLst>
      <p:ext uri="{BB962C8B-B14F-4D97-AF65-F5344CB8AC3E}">
        <p14:creationId xmlns:p14="http://schemas.microsoft.com/office/powerpoint/2010/main" val="363454548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a-IR" dirty="0" smtClean="0"/>
              <a:t>انواع اشیاء</a:t>
            </a:r>
            <a:endParaRPr lang="en-US" dirty="0"/>
          </a:p>
        </p:txBody>
      </p:sp>
      <p:sp>
        <p:nvSpPr>
          <p:cNvPr id="3" name="Content Placeholder 2"/>
          <p:cNvSpPr>
            <a:spLocks noGrp="1"/>
          </p:cNvSpPr>
          <p:nvPr>
            <p:ph idx="1"/>
          </p:nvPr>
        </p:nvSpPr>
        <p:spPr/>
        <p:txBody>
          <a:bodyPr>
            <a:normAutofit fontScale="92500" lnSpcReduction="10000"/>
          </a:bodyPr>
          <a:lstStyle/>
          <a:p>
            <a:pPr marL="457200" indent="-457200">
              <a:buAutoNum type="arabicPeriod"/>
            </a:pPr>
            <a:r>
              <a:rPr lang="fa-IR" dirty="0" smtClean="0">
                <a:cs typeface="B Nazanin" panose="00000400000000000000" pitchFamily="2" charset="-78"/>
              </a:rPr>
              <a:t>شیئ موجودیت : این </a:t>
            </a:r>
            <a:r>
              <a:rPr lang="fa-IR" dirty="0">
                <a:cs typeface="B Nazanin" panose="00000400000000000000" pitchFamily="2" charset="-78"/>
              </a:rPr>
              <a:t>شی به طور کلی با برخی از موجودیت های دنیای واقعی در فضای مشکل مطابقت دارد. فرض کنید در حال ساخت یک بازی نقش آفرینی </a:t>
            </a:r>
            <a:r>
              <a:rPr lang="fa-IR" dirty="0" smtClean="0">
                <a:cs typeface="B Nazanin" panose="00000400000000000000" pitchFamily="2" charset="-78"/>
              </a:rPr>
              <a:t>هستیم</a:t>
            </a:r>
            <a:r>
              <a:rPr lang="fa-IR" dirty="0">
                <a:cs typeface="B Nazanin" panose="00000400000000000000" pitchFamily="2" charset="-78"/>
              </a:rPr>
              <a:t>، یک شیء موجودیت کلاس </a:t>
            </a:r>
            <a:r>
              <a:rPr lang="en-US" dirty="0">
                <a:cs typeface="B Nazanin" panose="00000400000000000000" pitchFamily="2" charset="-78"/>
              </a:rPr>
              <a:t>Hero </a:t>
            </a:r>
            <a:r>
              <a:rPr lang="fa-IR" dirty="0">
                <a:cs typeface="B Nazanin" panose="00000400000000000000" pitchFamily="2" charset="-78"/>
              </a:rPr>
              <a:t>ساده ما خواهد </a:t>
            </a:r>
            <a:r>
              <a:rPr lang="fa-IR" dirty="0" smtClean="0">
                <a:cs typeface="B Nazanin" panose="00000400000000000000" pitchFamily="2" charset="-78"/>
              </a:rPr>
              <a:t>بود.</a:t>
            </a:r>
          </a:p>
          <a:p>
            <a:pPr marL="457200" indent="-457200">
              <a:buAutoNum type="arabicPeriod"/>
            </a:pPr>
            <a:r>
              <a:rPr lang="fa-IR" dirty="0" smtClean="0">
                <a:cs typeface="B Nazanin" panose="00000400000000000000" pitchFamily="2" charset="-78"/>
              </a:rPr>
              <a:t>شیئ کنترل:  </a:t>
            </a:r>
            <a:r>
              <a:rPr lang="fa-IR" dirty="0">
                <a:cs typeface="B Nazanin" panose="00000400000000000000" pitchFamily="2" charset="-78"/>
              </a:rPr>
              <a:t>اشیاء کنترلی (گاهی اوقات اشیاء مدیر نیز نامیده می شوند) مسئول هماهنگی سایر اشیاء هستند. اینها اشیایی هستند که اشیاء دیگر را کنترل کرده و از آنها استفاده می کنند. یک مثال عالی در قیاس </a:t>
            </a:r>
            <a:r>
              <a:rPr lang="en-US" dirty="0">
                <a:cs typeface="B Nazanin" panose="00000400000000000000" pitchFamily="2" charset="-78"/>
              </a:rPr>
              <a:t>RPG </a:t>
            </a:r>
            <a:r>
              <a:rPr lang="fa-IR" dirty="0">
                <a:cs typeface="B Nazanin" panose="00000400000000000000" pitchFamily="2" charset="-78"/>
              </a:rPr>
              <a:t>ما، کلاس </a:t>
            </a:r>
            <a:r>
              <a:rPr lang="en-US" dirty="0">
                <a:cs typeface="B Nazanin" panose="00000400000000000000" pitchFamily="2" charset="-78"/>
              </a:rPr>
              <a:t>Fight </a:t>
            </a:r>
            <a:r>
              <a:rPr lang="fa-IR" dirty="0">
                <a:cs typeface="B Nazanin" panose="00000400000000000000" pitchFamily="2" charset="-78"/>
              </a:rPr>
              <a:t>است که دو قهرمان را کنترل می کند و آنها را وادار به مبارزه می کند</a:t>
            </a:r>
            <a:r>
              <a:rPr lang="fa-IR" dirty="0" smtClean="0">
                <a:cs typeface="B Nazanin" panose="00000400000000000000" pitchFamily="2" charset="-78"/>
              </a:rPr>
              <a:t>.</a:t>
            </a:r>
          </a:p>
          <a:p>
            <a:pPr marL="457200" indent="-457200">
              <a:buAutoNum type="arabicPeriod"/>
            </a:pPr>
            <a:r>
              <a:rPr lang="fa-IR" dirty="0">
                <a:cs typeface="B Nazanin" panose="00000400000000000000" pitchFamily="2" charset="-78"/>
              </a:rPr>
              <a:t>شیء </a:t>
            </a:r>
            <a:r>
              <a:rPr lang="fa-IR" dirty="0" smtClean="0">
                <a:cs typeface="B Nazanin" panose="00000400000000000000" pitchFamily="2" charset="-78"/>
              </a:rPr>
              <a:t>مرزی:  </a:t>
            </a:r>
            <a:r>
              <a:rPr lang="fa-IR" dirty="0">
                <a:cs typeface="B Nazanin" panose="00000400000000000000" pitchFamily="2" charset="-78"/>
              </a:rPr>
              <a:t>اینها اشیایی هستند که در مرز سیستم شما قرار دارند. هر شیئی که ورودی را از سیستم دیگری می گیرد یا خروجی آن را تولید می کند - صرف نظر از اینکه آن سیستم کاربر، اینترنت یا پایگاه داده باشد - می تواند به عنوان یک شی مرزی طبقه بندی شود.</a:t>
            </a:r>
            <a:endParaRPr lang="fa-IR" dirty="0" smtClean="0">
              <a:cs typeface="B Nazanin" panose="00000400000000000000" pitchFamily="2" charset="-78"/>
            </a:endParaRPr>
          </a:p>
          <a:p>
            <a:pPr marL="457200" indent="-457200">
              <a:buAutoNum type="arabicPeriod"/>
            </a:pPr>
            <a:endParaRPr lang="en-US" dirty="0"/>
          </a:p>
        </p:txBody>
      </p:sp>
    </p:spTree>
    <p:extLst>
      <p:ext uri="{BB962C8B-B14F-4D97-AF65-F5344CB8AC3E}">
        <p14:creationId xmlns:p14="http://schemas.microsoft.com/office/powerpoint/2010/main" val="352771885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fa-IR" dirty="0" smtClean="0"/>
              <a:t>نمونه دیدگاه یک معماری</a:t>
            </a:r>
            <a:endParaRPr lang="en-US" dirty="0"/>
          </a:p>
        </p:txBody>
      </p:sp>
      <p:sp>
        <p:nvSpPr>
          <p:cNvPr id="3" name="Content Placeholder 2"/>
          <p:cNvSpPr>
            <a:spLocks noGrp="1"/>
          </p:cNvSpPr>
          <p:nvPr>
            <p:ph idx="1"/>
          </p:nvPr>
        </p:nvSpPr>
        <p:spPr/>
        <p:txBody>
          <a:bodyPr/>
          <a:lstStyle/>
          <a:p>
            <a:endParaRPr lang="en-US"/>
          </a:p>
        </p:txBody>
      </p:sp>
      <p:pic>
        <p:nvPicPr>
          <p:cNvPr id="2050" name="Picture 2" descr="C:\Users\e.alirezaei\Desktop\1_etyn_SN7_v4zqGDbeazJVA.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0620" y="836712"/>
            <a:ext cx="8499682" cy="4536504"/>
          </a:xfrm>
          <a:prstGeom prst="rect">
            <a:avLst/>
          </a:prstGeom>
          <a:ln>
            <a:noFill/>
          </a:ln>
          <a:effectLst>
            <a:softEdge rad="112500"/>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28639288"/>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NewsPrint">
  <a:themeElements>
    <a:clrScheme name="NewsPrint">
      <a:dk1>
        <a:sysClr val="windowText" lastClr="000000"/>
      </a:dk1>
      <a:lt1>
        <a:sysClr val="window" lastClr="FFFFFF"/>
      </a:lt1>
      <a:dk2>
        <a:srgbClr val="303030"/>
      </a:dk2>
      <a:lt2>
        <a:srgbClr val="DEDEE0"/>
      </a:lt2>
      <a:accent1>
        <a:srgbClr val="AD0101"/>
      </a:accent1>
      <a:accent2>
        <a:srgbClr val="726056"/>
      </a:accent2>
      <a:accent3>
        <a:srgbClr val="AC956E"/>
      </a:accent3>
      <a:accent4>
        <a:srgbClr val="808DA9"/>
      </a:accent4>
      <a:accent5>
        <a:srgbClr val="424E5B"/>
      </a:accent5>
      <a:accent6>
        <a:srgbClr val="730E00"/>
      </a:accent6>
      <a:hlink>
        <a:srgbClr val="D26900"/>
      </a:hlink>
      <a:folHlink>
        <a:srgbClr val="D89243"/>
      </a:folHlink>
    </a:clrScheme>
    <a:fontScheme name="NewsPrint">
      <a:majorFont>
        <a:latin typeface="Impact"/>
        <a:ea typeface=""/>
        <a:cs typeface=""/>
        <a:font script="Jpan" typeface="HGP創英角ｺﾞｼｯｸUB"/>
        <a:font script="Hang" typeface="HY견고딕"/>
        <a:font script="Hans" typeface="微软雅黑"/>
        <a:font script="Hant" typeface="微軟正黑體"/>
        <a:font script="Arab" typeface="Tahoma"/>
        <a:font script="Hebr" typeface="Tohoma"/>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imes New Roman"/>
        <a:ea typeface=""/>
        <a:cs typeface=""/>
        <a:font script="Jpan" typeface="ＭＳ Ｐ明朝"/>
        <a:font script="Hang" typeface="바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NewsPrint">
      <a:fillStyleLst>
        <a:solidFill>
          <a:schemeClr val="phClr"/>
        </a:solidFill>
        <a:gradFill rotWithShape="1">
          <a:gsLst>
            <a:gs pos="0">
              <a:schemeClr val="phClr">
                <a:tint val="37000"/>
                <a:hueMod val="100000"/>
                <a:satMod val="200000"/>
                <a:lumMod val="88000"/>
              </a:schemeClr>
            </a:gs>
            <a:gs pos="100000">
              <a:schemeClr val="phClr">
                <a:tint val="53000"/>
                <a:shade val="100000"/>
                <a:hueMod val="100000"/>
                <a:satMod val="350000"/>
                <a:lumMod val="79000"/>
              </a:schemeClr>
            </a:gs>
          </a:gsLst>
          <a:lin ang="5400000" scaled="1"/>
        </a:gradFill>
        <a:gradFill rotWithShape="1">
          <a:gsLst>
            <a:gs pos="0">
              <a:schemeClr val="phClr">
                <a:tint val="83000"/>
                <a:shade val="100000"/>
                <a:alpha val="100000"/>
                <a:hueMod val="100000"/>
                <a:satMod val="220000"/>
                <a:lumMod val="90000"/>
              </a:schemeClr>
            </a:gs>
            <a:gs pos="76000">
              <a:schemeClr val="phClr">
                <a:shade val="100000"/>
              </a:schemeClr>
            </a:gs>
            <a:gs pos="100000">
              <a:schemeClr val="phClr">
                <a:shade val="93000"/>
                <a:alpha val="100000"/>
                <a:satMod val="100000"/>
                <a:lumMod val="93000"/>
              </a:schemeClr>
            </a:gs>
          </a:gsLst>
          <a:path path="circle">
            <a:fillToRect l="15000" t="15000" r="100000" b="100000"/>
          </a:path>
        </a:gradFill>
      </a:fillStyleLst>
      <a:lnStyleLst>
        <a:ln w="15875" cap="flat" cmpd="sng" algn="ctr">
          <a:solidFill>
            <a:schemeClr val="phClr"/>
          </a:solidFill>
          <a:prstDash val="solid"/>
        </a:ln>
        <a:ln w="22225" cap="flat" cmpd="sng" algn="ctr">
          <a:solidFill>
            <a:schemeClr val="phClr"/>
          </a:solidFill>
          <a:prstDash val="solid"/>
        </a:ln>
        <a:ln w="34925" cap="flat" cmpd="sng" algn="ctr">
          <a:solidFill>
            <a:schemeClr val="phClr"/>
          </a:solidFill>
          <a:prstDash val="solid"/>
        </a:ln>
      </a:lnStyleLst>
      <a:effectStyleLst>
        <a:effectStyle>
          <a:effectLst>
            <a:outerShdw blurRad="50800" dist="12700" dir="5280000" rotWithShape="0">
              <a:srgbClr val="000000">
                <a:alpha val="40000"/>
              </a:srgbClr>
            </a:outerShdw>
          </a:effectLst>
        </a:effectStyle>
        <a:effectStyle>
          <a:effectLst>
            <a:outerShdw blurRad="38100" dist="38100" dir="5400000" rotWithShape="0">
              <a:srgbClr val="000000">
                <a:alpha val="35000"/>
              </a:srgbClr>
            </a:outerShdw>
          </a:effectLst>
        </a:effectStyle>
        <a:effectStyle>
          <a:effectLst>
            <a:outerShdw blurRad="38100" dist="38100" dir="5400000" rotWithShape="0">
              <a:srgbClr val="000000">
                <a:alpha val="35000"/>
              </a:srgbClr>
            </a:outerShdw>
          </a:effectLst>
          <a:scene3d>
            <a:camera prst="orthographicFront">
              <a:rot lat="0" lon="0" rev="0"/>
            </a:camera>
            <a:lightRig rig="brightRoom" dir="tl"/>
          </a:scene3d>
          <a:sp3d contourW="12700">
            <a:bevelT w="31750" h="12700"/>
            <a:contourClr>
              <a:schemeClr val="phClr"/>
            </a:contourClr>
          </a:sp3d>
        </a:effectStyle>
      </a:effectStyleLst>
      <a:bgFillStyleLst>
        <a:solidFill>
          <a:schemeClr val="phClr"/>
        </a:solidFill>
        <a:gradFill rotWithShape="1">
          <a:gsLst>
            <a:gs pos="0">
              <a:schemeClr val="phClr">
                <a:tint val="93000"/>
              </a:schemeClr>
            </a:gs>
            <a:gs pos="100000">
              <a:schemeClr val="phClr">
                <a:shade val="55000"/>
              </a:schemeClr>
            </a:gs>
          </a:gsLst>
          <a:lin ang="5400000" scaled="1"/>
        </a:gradFill>
        <a:blipFill rotWithShape="1">
          <a:blip xmlns:r="http://schemas.openxmlformats.org/officeDocument/2006/relationships" r:embed="rId1">
            <a:duotone>
              <a:schemeClr val="phClr">
                <a:shade val="20000"/>
                <a:satMod val="350000"/>
                <a:lumMod val="125000"/>
              </a:schemeClr>
              <a:schemeClr val="phClr">
                <a:tint val="90000"/>
                <a:satMod val="250000"/>
              </a:schemeClr>
            </a:duotone>
          </a:blip>
          <a:stretch/>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Newsprint</Template>
  <TotalTime>398</TotalTime>
  <Words>1688</Words>
  <Application>Microsoft Office PowerPoint</Application>
  <PresentationFormat>On-screen Show (4:3)</PresentationFormat>
  <Paragraphs>126</Paragraphs>
  <Slides>21</Slides>
  <Notes>1</Notes>
  <HiddenSlides>0</HiddenSlides>
  <MMClips>0</MMClips>
  <ScaleCrop>false</ScaleCrop>
  <HeadingPairs>
    <vt:vector size="4" baseType="variant">
      <vt:variant>
        <vt:lpstr>Theme</vt:lpstr>
      </vt:variant>
      <vt:variant>
        <vt:i4>1</vt:i4>
      </vt:variant>
      <vt:variant>
        <vt:lpstr>Slide Titles</vt:lpstr>
      </vt:variant>
      <vt:variant>
        <vt:i4>21</vt:i4>
      </vt:variant>
    </vt:vector>
  </HeadingPairs>
  <TitlesOfParts>
    <vt:vector size="22" baseType="lpstr">
      <vt:lpstr>NewsPrint</vt:lpstr>
      <vt:lpstr>اصول طراحی نرم افزار</vt:lpstr>
      <vt:lpstr>تعریف طراحی</vt:lpstr>
      <vt:lpstr>طراحی نرم افزار</vt:lpstr>
      <vt:lpstr>انتقال از مدل تحلیل به طراحی</vt:lpstr>
      <vt:lpstr>طراحی و کیفیت</vt:lpstr>
      <vt:lpstr>خصوصيات كيفي طراحي</vt:lpstr>
      <vt:lpstr>اصول طراحی</vt:lpstr>
      <vt:lpstr>اصول طراحی</vt:lpstr>
      <vt:lpstr>مفاهیم</vt:lpstr>
      <vt:lpstr>انتزاع (Abstraction)</vt:lpstr>
      <vt:lpstr>روش‌های طراحی</vt:lpstr>
      <vt:lpstr>الگوهای طراحی</vt:lpstr>
      <vt:lpstr>الگوهای طراحی</vt:lpstr>
      <vt:lpstr>الگوهای طراحی</vt:lpstr>
      <vt:lpstr>ماژول و مولفه نرم افزاری</vt:lpstr>
      <vt:lpstr>ماژولار بودن</vt:lpstr>
      <vt:lpstr>طراحی ماژولار و مخفی سازی اطلاعات</vt:lpstr>
      <vt:lpstr>ریفکتورینگ</vt:lpstr>
      <vt:lpstr>طراحی شیئ گرا</vt:lpstr>
      <vt:lpstr>انواع اشیاء</vt:lpstr>
      <vt:lpstr>نمونه دیدگاه یک معماری</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e.alirezaei</dc:creator>
  <cp:lastModifiedBy>e.alirezaei</cp:lastModifiedBy>
  <cp:revision>32</cp:revision>
  <dcterms:created xsi:type="dcterms:W3CDTF">2023-04-24T05:50:26Z</dcterms:created>
  <dcterms:modified xsi:type="dcterms:W3CDTF">2023-04-29T11:14:00Z</dcterms:modified>
</cp:coreProperties>
</file>